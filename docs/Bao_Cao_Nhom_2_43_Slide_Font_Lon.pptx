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4" r:id="rId45"/>
    <p:sldId id="295" r:id="rId46"/>
    <p:sldId id="296" r:id="rId47"/>
    <p:sldId id="297" r:id="rId48"/>
    <p:sldId id="298" r:id="rId49"/>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jpg"/><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jpg"/><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jpg"/><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731520" y="502920"/>
            <a:ext cx="3291840" cy="1124712"/>
          </a:xfrm>
          <a:prstGeom prst="rect">
            <a:avLst/>
          </a:prstGeom>
        </p:spPr>
      </p:pic>
      <p:sp>
        <p:nvSpPr>
          <p:cNvPr id="4" name="TextBox 3"/>
          <p:cNvSpPr txBox="1"/>
          <p:nvPr/>
        </p:nvSpPr>
        <p:spPr>
          <a:xfrm>
            <a:off x="4297680" y="594360"/>
            <a:ext cx="7132320" cy="1005840"/>
          </a:xfrm>
          <a:prstGeom prst="rect">
            <a:avLst/>
          </a:prstGeom>
          <a:noFill/>
        </p:spPr>
        <p:txBody>
          <a:bodyPr wrap="square" tIns="91440" bIns="91440">
            <a:spAutoFit/>
          </a:bodyPr>
          <a:lstStyle/>
          <a:p>
            <a:pPr>
              <a:defRPr sz="1550" b="1">
                <a:solidFill>
                  <a:srgbClr val="1B365D"/>
                </a:solidFill>
                <a:latin typeface="Arial"/>
              </a:defRPr>
            </a:pPr>
            <a:r>
              <a:t>TRƯỜNG ĐẠI HỌC GIA ĐỊNH (GIA DINH UNIVERSITY)</a:t>
            </a:r>
          </a:p>
          <a:p>
            <a:pPr>
              <a:defRPr sz="1250" b="1">
                <a:solidFill>
                  <a:srgbClr val="646464"/>
                </a:solidFill>
                <a:latin typeface="Arial"/>
              </a:defRPr>
            </a:pPr>
            <a:r>
              <a:t>KHOA CÔNG NGHỆ THÔNG TIN • BỘ MÔN KỸ THUẬT MẠNG &amp; IOT</a:t>
            </a:r>
          </a:p>
        </p:txBody>
      </p:sp>
      <p:sp>
        <p:nvSpPr>
          <p:cNvPr id="5" name="Rectangle 4"/>
          <p:cNvSpPr/>
          <p:nvPr/>
        </p:nvSpPr>
        <p:spPr>
          <a:xfrm>
            <a:off x="731520" y="1783080"/>
            <a:ext cx="10725912"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10725912" cy="1920240"/>
          </a:xfrm>
          <a:prstGeom prst="rect">
            <a:avLst/>
          </a:prstGeom>
          <a:noFill/>
        </p:spPr>
        <p:txBody>
          <a:bodyPr wrap="square" tIns="91440" bIns="91440">
            <a:spAutoFit/>
          </a:bodyPr>
          <a:lstStyle/>
          <a:p>
            <a:pPr>
              <a:defRPr sz="1700" b="1">
                <a:solidFill>
                  <a:srgbClr val="C0392B"/>
                </a:solidFill>
                <a:latin typeface="Arial"/>
              </a:defRPr>
            </a:pPr>
            <a:r>
              <a:t>BÁO CÁO TIỂU LUẬN BÀI TẬP NHÓM</a:t>
            </a:r>
          </a:p>
          <a:p>
            <a:pPr>
              <a:defRPr sz="2800" b="1">
                <a:solidFill>
                  <a:srgbClr val="1B365D"/>
                </a:solidFill>
                <a:latin typeface="Arial"/>
              </a:defRPr>
            </a:pPr>
            <a:r>
              <a:t>CHƯƠNG 2: CÁC LOẠI CẢM BIẾN THÔNG DỤNG</a:t>
            </a:r>
          </a:p>
          <a:p>
            <a:pPr>
              <a:defRPr sz="1600" b="1">
                <a:solidFill>
                  <a:srgbClr val="005691"/>
                </a:solidFill>
                <a:latin typeface="Arial"/>
              </a:defRPr>
            </a:pPr>
            <a:r>
              <a:t>(SENSORS IN IOT AND EMBEDDED SYSTEMS)</a:t>
            </a:r>
          </a:p>
        </p:txBody>
      </p:sp>
      <p:sp>
        <p:nvSpPr>
          <p:cNvPr id="7" name="Rounded Rectangle 6"/>
          <p:cNvSpPr/>
          <p:nvPr/>
        </p:nvSpPr>
        <p:spPr>
          <a:xfrm>
            <a:off x="731520" y="3977639"/>
            <a:ext cx="10725912" cy="2286000"/>
          </a:xfrm>
          <a:prstGeom prst="roundRect">
            <a:avLst/>
          </a:prstGeom>
          <a:solidFill>
            <a:srgbClr val="EBF3FB"/>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114800"/>
            <a:ext cx="10177272" cy="2011680"/>
          </a:xfrm>
          <a:prstGeom prst="rect">
            <a:avLst/>
          </a:prstGeom>
          <a:noFill/>
        </p:spPr>
        <p:txBody>
          <a:bodyPr wrap="square" tIns="91440" bIns="91440">
            <a:spAutoFit/>
          </a:bodyPr>
          <a:lstStyle/>
          <a:p>
            <a:pPr>
              <a:defRPr sz="1450" b="1">
                <a:solidFill>
                  <a:srgbClr val="1B365D"/>
                </a:solidFill>
                <a:latin typeface="Arial"/>
              </a:defRPr>
            </a:pPr>
            <a:r>
              <a:t>ĐƠN VỊ THỰC HIỆN: BÀI TẬP NHÓM 2</a:t>
            </a:r>
          </a:p>
          <a:p>
            <a:pPr>
              <a:defRPr sz="1300" b="1">
                <a:solidFill>
                  <a:srgbClr val="222222"/>
                </a:solidFill>
                <a:latin typeface="Arial"/>
              </a:defRPr>
            </a:pPr>
            <a:r>
              <a:t>Thành viên: Nguyễn Hữu Phước • Hoàng Hiệp • Minh Huy • Phan Công Đồng • Võ Trần Công Doanh</a:t>
            </a:r>
          </a:p>
          <a:p>
            <a:pPr>
              <a:defRPr sz="1250">
                <a:solidFill>
                  <a:srgbClr val="222222"/>
                </a:solidFill>
                <a:latin typeface="Calibri"/>
              </a:defRPr>
            </a:pPr>
            <a:r>
              <a:t>Học phần: Cảm biến và Cơ cấu chấp hành  |  Mã lớp học phần: 15113087</a:t>
            </a:r>
          </a:p>
          <a:p>
            <a:pPr>
              <a:defRPr sz="1400" b="1">
                <a:solidFill>
                  <a:srgbClr val="C0392B"/>
                </a:solidFill>
                <a:latin typeface="Arial"/>
              </a:defRPr>
            </a:pPr>
            <a:r>
              <a:t>GIẢNG VIÊN HƯỚNG DẪN: ThS. NGUYỄN LÊ TUẤN VŨ</a:t>
            </a:r>
          </a:p>
          <a:p>
            <a:pPr>
              <a:defRPr sz="1200" i="1">
                <a:solidFill>
                  <a:srgbClr val="646464"/>
                </a:solidFill>
                <a:latin typeface="Calibri"/>
              </a:defRPr>
            </a:pPr>
            <a:r>
              <a:t>TP. HỒ CHÍ MINH — NĂM HỌC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TỔNG QUAN NHÓM</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DANH SÁCH THÀNH VIÊN NHÓM 2</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2/43</a:t>
            </a:r>
          </a:p>
        </p:txBody>
      </p:sp>
      <p:sp>
        <p:nvSpPr>
          <p:cNvPr id="8" name="Rounded Rectangle 7"/>
          <p:cNvSpPr/>
          <p:nvPr/>
        </p:nvSpPr>
        <p:spPr>
          <a:xfrm>
            <a:off x="731520" y="1417320"/>
            <a:ext cx="10725912"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005840" y="1645920"/>
          <a:ext cx="10177272" cy="3291840"/>
        </p:xfrm>
        <a:graphic>
          <a:graphicData uri="http://schemas.openxmlformats.org/drawingml/2006/table">
            <a:tbl>
              <a:tblPr firstRow="1" bandRow="1">
                <a:tableStyleId>{5C22544A-7EE6-4342-B048-85BDC9FD1C3A}</a:tableStyleId>
              </a:tblPr>
              <a:tblGrid>
                <a:gridCol w="914400"/>
                <a:gridCol w="2926080"/>
                <a:gridCol w="4114800"/>
                <a:gridCol w="2221992"/>
              </a:tblGrid>
              <a:tr h="548640">
                <a:tc>
                  <a:txBody>
                    <a:bodyPr/>
                    <a:lstStyle/>
                    <a:p>
                      <a:pPr algn="ctr">
                        <a:defRPr sz="1300" b="1">
                          <a:solidFill>
                            <a:srgbClr val="FFFFFF"/>
                          </a:solidFill>
                          <a:latin typeface="Arial"/>
                        </a:defRPr>
                      </a:pPr>
                      <a:r>
                        <a:t>STT</a:t>
                      </a:r>
                    </a:p>
                  </a:txBody>
                  <a:tcPr>
                    <a:solidFill>
                      <a:srgbClr val="1B365D"/>
                    </a:solidFill>
                  </a:tcPr>
                </a:tc>
                <a:tc>
                  <a:txBody>
                    <a:bodyPr/>
                    <a:lstStyle/>
                    <a:p>
                      <a:pPr>
                        <a:defRPr sz="1300" b="1">
                          <a:solidFill>
                            <a:srgbClr val="FFFFFF"/>
                          </a:solidFill>
                          <a:latin typeface="Arial"/>
                        </a:defRPr>
                      </a:pPr>
                      <a:r>
                        <a:t>Họ và Tên</a:t>
                      </a:r>
                    </a:p>
                  </a:txBody>
                  <a:tcPr>
                    <a:solidFill>
                      <a:srgbClr val="1B365D"/>
                    </a:solidFill>
                  </a:tcPr>
                </a:tc>
                <a:tc>
                  <a:txBody>
                    <a:bodyPr/>
                    <a:lstStyle/>
                    <a:p>
                      <a:pPr>
                        <a:defRPr sz="1300" b="1">
                          <a:solidFill>
                            <a:srgbClr val="FFFFFF"/>
                          </a:solidFill>
                          <a:latin typeface="Arial"/>
                        </a:defRPr>
                      </a:pPr>
                      <a:r>
                        <a:t>Trường / Đơn vị đào tạo</a:t>
                      </a:r>
                    </a:p>
                  </a:txBody>
                  <a:tcPr>
                    <a:solidFill>
                      <a:srgbClr val="1B365D"/>
                    </a:solidFill>
                  </a:tcPr>
                </a:tc>
                <a:tc>
                  <a:txBody>
                    <a:bodyPr/>
                    <a:lstStyle/>
                    <a:p>
                      <a:pPr algn="ctr">
                        <a:defRPr sz="1300" b="1">
                          <a:solidFill>
                            <a:srgbClr val="FFFFFF"/>
                          </a:solidFill>
                          <a:latin typeface="Arial"/>
                        </a:defRPr>
                      </a:pPr>
                      <a:r>
                        <a:t>Tập thể thực hiện</a:t>
                      </a:r>
                    </a:p>
                  </a:txBody>
                  <a:tcPr>
                    <a:solidFill>
                      <a:srgbClr val="1B365D"/>
                    </a:solidFill>
                  </a:tcPr>
                </a:tc>
              </a:tr>
              <a:tr h="548640">
                <a:tc>
                  <a:txBody>
                    <a:bodyPr/>
                    <a:lstStyle/>
                    <a:p>
                      <a:pPr algn="ctr">
                        <a:defRPr sz="1300" b="1">
                          <a:solidFill>
                            <a:srgbClr val="222222"/>
                          </a:solidFill>
                          <a:latin typeface="Calibri"/>
                        </a:defRPr>
                      </a:pPr>
                      <a:r>
                        <a:t>1</a:t>
                      </a:r>
                    </a:p>
                  </a:txBody>
                  <a:tcPr>
                    <a:solidFill>
                      <a:srgbClr val="FFFFFF"/>
                    </a:solidFill>
                  </a:tcPr>
                </a:tc>
                <a:tc>
                  <a:txBody>
                    <a:bodyPr/>
                    <a:lstStyle/>
                    <a:p>
                      <a:pPr>
                        <a:defRPr sz="1300" b="1">
                          <a:solidFill>
                            <a:srgbClr val="1B365D"/>
                          </a:solidFill>
                          <a:latin typeface="Arial"/>
                        </a:defRPr>
                      </a:pPr>
                      <a:r>
                        <a:t>Nguyễn Hữu Phước</a:t>
                      </a:r>
                    </a:p>
                  </a:txBody>
                  <a:tcPr>
                    <a:solidFill>
                      <a:srgbClr val="FFFFFF"/>
                    </a:solidFill>
                  </a:tcPr>
                </a:tc>
                <a:tc>
                  <a:txBody>
                    <a:bodyPr/>
                    <a:lstStyle/>
                    <a:p>
                      <a:pPr>
                        <a:defRPr sz="1300">
                          <a:solidFill>
                            <a:srgbClr val="222222"/>
                          </a:solidFill>
                          <a:latin typeface="Calibri"/>
                        </a:defRPr>
                      </a:pPr>
                      <a:r>
                        <a:t>Trường Đại học Gia Định (Gia Dinh University - GDU)</a:t>
                      </a:r>
                    </a:p>
                  </a:txBody>
                  <a:tcPr>
                    <a:solidFill>
                      <a:srgbClr val="FFFFFF"/>
                    </a:solidFill>
                  </a:tcPr>
                </a:tc>
                <a:tc>
                  <a:txBody>
                    <a:bodyPr/>
                    <a:lstStyle/>
                    <a:p>
                      <a:pPr algn="ctr">
                        <a:defRPr sz="1300" b="1">
                          <a:solidFill>
                            <a:srgbClr val="005691"/>
                          </a:solidFill>
                          <a:latin typeface="Calibri"/>
                        </a:defRPr>
                      </a:pPr>
                      <a:r>
                        <a:t>Thành viên Nhóm 2</a:t>
                      </a:r>
                    </a:p>
                  </a:txBody>
                  <a:tcPr>
                    <a:solidFill>
                      <a:srgbClr val="FFFFFF"/>
                    </a:solidFill>
                  </a:tcPr>
                </a:tc>
              </a:tr>
              <a:tr h="548640">
                <a:tc>
                  <a:txBody>
                    <a:bodyPr/>
                    <a:lstStyle/>
                    <a:p>
                      <a:pPr algn="ctr">
                        <a:defRPr sz="1300" b="1">
                          <a:solidFill>
                            <a:srgbClr val="222222"/>
                          </a:solidFill>
                          <a:latin typeface="Calibri"/>
                        </a:defRPr>
                      </a:pPr>
                      <a:r>
                        <a:t>2</a:t>
                      </a:r>
                    </a:p>
                  </a:txBody>
                  <a:tcPr>
                    <a:solidFill>
                      <a:srgbClr val="F0F4FA"/>
                    </a:solidFill>
                  </a:tcPr>
                </a:tc>
                <a:tc>
                  <a:txBody>
                    <a:bodyPr/>
                    <a:lstStyle/>
                    <a:p>
                      <a:pPr>
                        <a:defRPr sz="1300" b="1">
                          <a:solidFill>
                            <a:srgbClr val="1B365D"/>
                          </a:solidFill>
                          <a:latin typeface="Arial"/>
                        </a:defRPr>
                      </a:pPr>
                      <a:r>
                        <a:t>Hoàng Hiệp</a:t>
                      </a:r>
                    </a:p>
                  </a:txBody>
                  <a:tcPr>
                    <a:solidFill>
                      <a:srgbClr val="F0F4FA"/>
                    </a:solidFill>
                  </a:tcPr>
                </a:tc>
                <a:tc>
                  <a:txBody>
                    <a:bodyPr/>
                    <a:lstStyle/>
                    <a:p>
                      <a:pPr>
                        <a:defRPr sz="1300">
                          <a:solidFill>
                            <a:srgbClr val="222222"/>
                          </a:solidFill>
                          <a:latin typeface="Calibri"/>
                        </a:defRPr>
                      </a:pPr>
                      <a:r>
                        <a:t>Trường Đại học Gia Định (Gia Dinh University - GDU)</a:t>
                      </a:r>
                    </a:p>
                  </a:txBody>
                  <a:tcPr>
                    <a:solidFill>
                      <a:srgbClr val="F0F4FA"/>
                    </a:solidFill>
                  </a:tcPr>
                </a:tc>
                <a:tc>
                  <a:txBody>
                    <a:bodyPr/>
                    <a:lstStyle/>
                    <a:p>
                      <a:pPr algn="ctr">
                        <a:defRPr sz="1300" b="1">
                          <a:solidFill>
                            <a:srgbClr val="005691"/>
                          </a:solidFill>
                          <a:latin typeface="Calibri"/>
                        </a:defRPr>
                      </a:pPr>
                      <a:r>
                        <a:t>Thành viên Nhóm 2</a:t>
                      </a:r>
                    </a:p>
                  </a:txBody>
                  <a:tcPr>
                    <a:solidFill>
                      <a:srgbClr val="F0F4FA"/>
                    </a:solidFill>
                  </a:tcPr>
                </a:tc>
              </a:tr>
              <a:tr h="548640">
                <a:tc>
                  <a:txBody>
                    <a:bodyPr/>
                    <a:lstStyle/>
                    <a:p>
                      <a:pPr algn="ctr">
                        <a:defRPr sz="1300" b="1">
                          <a:solidFill>
                            <a:srgbClr val="222222"/>
                          </a:solidFill>
                          <a:latin typeface="Calibri"/>
                        </a:defRPr>
                      </a:pPr>
                      <a:r>
                        <a:t>3</a:t>
                      </a:r>
                    </a:p>
                  </a:txBody>
                  <a:tcPr>
                    <a:solidFill>
                      <a:srgbClr val="FFFFFF"/>
                    </a:solidFill>
                  </a:tcPr>
                </a:tc>
                <a:tc>
                  <a:txBody>
                    <a:bodyPr/>
                    <a:lstStyle/>
                    <a:p>
                      <a:pPr>
                        <a:defRPr sz="1300" b="1">
                          <a:solidFill>
                            <a:srgbClr val="1B365D"/>
                          </a:solidFill>
                          <a:latin typeface="Arial"/>
                        </a:defRPr>
                      </a:pPr>
                      <a:r>
                        <a:t>Minh Huy</a:t>
                      </a:r>
                    </a:p>
                  </a:txBody>
                  <a:tcPr>
                    <a:solidFill>
                      <a:srgbClr val="FFFFFF"/>
                    </a:solidFill>
                  </a:tcPr>
                </a:tc>
                <a:tc>
                  <a:txBody>
                    <a:bodyPr/>
                    <a:lstStyle/>
                    <a:p>
                      <a:pPr>
                        <a:defRPr sz="1300">
                          <a:solidFill>
                            <a:srgbClr val="222222"/>
                          </a:solidFill>
                          <a:latin typeface="Calibri"/>
                        </a:defRPr>
                      </a:pPr>
                      <a:r>
                        <a:t>Trường Đại học Gia Định (Gia Dinh University - GDU)</a:t>
                      </a:r>
                    </a:p>
                  </a:txBody>
                  <a:tcPr>
                    <a:solidFill>
                      <a:srgbClr val="FFFFFF"/>
                    </a:solidFill>
                  </a:tcPr>
                </a:tc>
                <a:tc>
                  <a:txBody>
                    <a:bodyPr/>
                    <a:lstStyle/>
                    <a:p>
                      <a:pPr algn="ctr">
                        <a:defRPr sz="1300" b="1">
                          <a:solidFill>
                            <a:srgbClr val="005691"/>
                          </a:solidFill>
                          <a:latin typeface="Calibri"/>
                        </a:defRPr>
                      </a:pPr>
                      <a:r>
                        <a:t>Thành viên Nhóm 2</a:t>
                      </a:r>
                    </a:p>
                  </a:txBody>
                  <a:tcPr>
                    <a:solidFill>
                      <a:srgbClr val="FFFFFF"/>
                    </a:solidFill>
                  </a:tcPr>
                </a:tc>
              </a:tr>
              <a:tr h="548640">
                <a:tc>
                  <a:txBody>
                    <a:bodyPr/>
                    <a:lstStyle/>
                    <a:p>
                      <a:pPr algn="ctr">
                        <a:defRPr sz="1300" b="1">
                          <a:solidFill>
                            <a:srgbClr val="222222"/>
                          </a:solidFill>
                          <a:latin typeface="Calibri"/>
                        </a:defRPr>
                      </a:pPr>
                      <a:r>
                        <a:t>4</a:t>
                      </a:r>
                    </a:p>
                  </a:txBody>
                  <a:tcPr>
                    <a:solidFill>
                      <a:srgbClr val="F0F4FA"/>
                    </a:solidFill>
                  </a:tcPr>
                </a:tc>
                <a:tc>
                  <a:txBody>
                    <a:bodyPr/>
                    <a:lstStyle/>
                    <a:p>
                      <a:pPr>
                        <a:defRPr sz="1300" b="1">
                          <a:solidFill>
                            <a:srgbClr val="1B365D"/>
                          </a:solidFill>
                          <a:latin typeface="Arial"/>
                        </a:defRPr>
                      </a:pPr>
                      <a:r>
                        <a:t>Phan Công Đồng</a:t>
                      </a:r>
                    </a:p>
                  </a:txBody>
                  <a:tcPr>
                    <a:solidFill>
                      <a:srgbClr val="F0F4FA"/>
                    </a:solidFill>
                  </a:tcPr>
                </a:tc>
                <a:tc>
                  <a:txBody>
                    <a:bodyPr/>
                    <a:lstStyle/>
                    <a:p>
                      <a:pPr>
                        <a:defRPr sz="1300">
                          <a:solidFill>
                            <a:srgbClr val="222222"/>
                          </a:solidFill>
                          <a:latin typeface="Calibri"/>
                        </a:defRPr>
                      </a:pPr>
                      <a:r>
                        <a:t>Trường Đại học Gia Định (Gia Dinh University - GDU)</a:t>
                      </a:r>
                    </a:p>
                  </a:txBody>
                  <a:tcPr>
                    <a:solidFill>
                      <a:srgbClr val="F0F4FA"/>
                    </a:solidFill>
                  </a:tcPr>
                </a:tc>
                <a:tc>
                  <a:txBody>
                    <a:bodyPr/>
                    <a:lstStyle/>
                    <a:p>
                      <a:pPr algn="ctr">
                        <a:defRPr sz="1300" b="1">
                          <a:solidFill>
                            <a:srgbClr val="005691"/>
                          </a:solidFill>
                          <a:latin typeface="Calibri"/>
                        </a:defRPr>
                      </a:pPr>
                      <a:r>
                        <a:t>Thành viên Nhóm 2</a:t>
                      </a:r>
                    </a:p>
                  </a:txBody>
                  <a:tcPr>
                    <a:solidFill>
                      <a:srgbClr val="F0F4FA"/>
                    </a:solidFill>
                  </a:tcPr>
                </a:tc>
              </a:tr>
              <a:tr h="548640">
                <a:tc>
                  <a:txBody>
                    <a:bodyPr/>
                    <a:lstStyle/>
                    <a:p>
                      <a:pPr algn="ctr">
                        <a:defRPr sz="1300" b="1">
                          <a:solidFill>
                            <a:srgbClr val="222222"/>
                          </a:solidFill>
                          <a:latin typeface="Calibri"/>
                        </a:defRPr>
                      </a:pPr>
                      <a:r>
                        <a:t>5</a:t>
                      </a:r>
                    </a:p>
                  </a:txBody>
                  <a:tcPr>
                    <a:solidFill>
                      <a:srgbClr val="FFFFFF"/>
                    </a:solidFill>
                  </a:tcPr>
                </a:tc>
                <a:tc>
                  <a:txBody>
                    <a:bodyPr/>
                    <a:lstStyle/>
                    <a:p>
                      <a:pPr>
                        <a:defRPr sz="1300" b="1">
                          <a:solidFill>
                            <a:srgbClr val="1B365D"/>
                          </a:solidFill>
                          <a:latin typeface="Arial"/>
                        </a:defRPr>
                      </a:pPr>
                      <a:r>
                        <a:t>Võ Trần Công Doanh</a:t>
                      </a:r>
                    </a:p>
                  </a:txBody>
                  <a:tcPr>
                    <a:solidFill>
                      <a:srgbClr val="FFFFFF"/>
                    </a:solidFill>
                  </a:tcPr>
                </a:tc>
                <a:tc>
                  <a:txBody>
                    <a:bodyPr/>
                    <a:lstStyle/>
                    <a:p>
                      <a:pPr>
                        <a:defRPr sz="1300">
                          <a:solidFill>
                            <a:srgbClr val="222222"/>
                          </a:solidFill>
                          <a:latin typeface="Calibri"/>
                        </a:defRPr>
                      </a:pPr>
                      <a:r>
                        <a:t>Trường Đại học Gia Định (Gia Dinh University - GDU)</a:t>
                      </a:r>
                    </a:p>
                  </a:txBody>
                  <a:tcPr>
                    <a:solidFill>
                      <a:srgbClr val="FFFFFF"/>
                    </a:solidFill>
                  </a:tcPr>
                </a:tc>
                <a:tc>
                  <a:txBody>
                    <a:bodyPr/>
                    <a:lstStyle/>
                    <a:p>
                      <a:pPr algn="ctr">
                        <a:defRPr sz="1300" b="1">
                          <a:solidFill>
                            <a:srgbClr val="005691"/>
                          </a:solidFill>
                          <a:latin typeface="Calibri"/>
                        </a:defRPr>
                      </a:pPr>
                      <a:r>
                        <a:t>Thành viên Nhóm 2</a:t>
                      </a:r>
                    </a:p>
                  </a:txBody>
                  <a:tcPr>
                    <a:solidFill>
                      <a:srgbClr val="FFFFFF"/>
                    </a:solidFill>
                  </a:tcPr>
                </a:tc>
              </a:tr>
            </a:tbl>
          </a:graphicData>
        </a:graphic>
      </p:graphicFrame>
      <p:sp>
        <p:nvSpPr>
          <p:cNvPr id="10" name="TextBox 9"/>
          <p:cNvSpPr txBox="1"/>
          <p:nvPr/>
        </p:nvSpPr>
        <p:spPr>
          <a:xfrm>
            <a:off x="1005840" y="5166360"/>
            <a:ext cx="10177272" cy="1005840"/>
          </a:xfrm>
          <a:prstGeom prst="rect">
            <a:avLst/>
          </a:prstGeom>
          <a:noFill/>
        </p:spPr>
        <p:txBody>
          <a:bodyPr wrap="square" tIns="91440" bIns="91440">
            <a:spAutoFit/>
          </a:bodyPr>
          <a:lstStyle/>
          <a:p>
            <a:pPr>
              <a:defRPr sz="1300" b="1">
                <a:solidFill>
                  <a:srgbClr val="C0392B"/>
                </a:solidFill>
                <a:latin typeface="Arial"/>
              </a:defRPr>
            </a:pPr>
            <a:r>
              <a:t>✓ GHI CHÚ PHỐI HỢP THỰC HIỆN:</a:t>
            </a:r>
          </a:p>
          <a:p>
            <a:pPr>
              <a:defRPr sz="1250">
                <a:solidFill>
                  <a:srgbClr val="222222"/>
                </a:solidFill>
                <a:latin typeface="Calibri"/>
              </a:defRPr>
            </a:pPr>
            <a:r>
              <a:t>• Toàn bộ 5 thành viên Nhóm 2 cùng tham gia thảo luận chuyên môn, khảo sát tài liệu lý thuyết, thực hành đấu nối phần cứng với vi điều khiển Arduino Uno và phối hợp hoàn thiện báo cáo chuyên đề đồng bộ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CẤU TRÚC BÁO CÁO</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MỤC LỤC NỘI DUNG CHUYÊN ĐỀ CHƯƠNG 2</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3/43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PHẦN A: NỘI DUNG LÝ THUYẾT &amp; ỨNG DỤNG</a:t>
            </a:r>
          </a:p>
          <a:p>
            <a:pPr>
              <a:spcAft>
                <a:spcPts val="1000"/>
              </a:spcAft>
            </a:pPr>
            <a:r>
              <a:rPr sz="1350" b="1">
                <a:solidFill>
                  <a:srgbClr val="1B365D"/>
                </a:solidFill>
                <a:latin typeface="Arial"/>
              </a:rPr>
              <a:t>1. Nhóm Cảm biến Môi trường: </a:t>
            </a:r>
            <a:r>
              <a:rPr sz="1350">
                <a:solidFill>
                  <a:srgbClr val="222222"/>
                </a:solidFill>
                <a:latin typeface="Calibri"/>
              </a:rPr>
              <a:t>Nhiệt ẩm DHT11/22, SHT30, Áp suất BMP180, BME280, Quang trở LDR và Cảm biến ánh sáng BH1750 (kèm sơ đồ &amp; ứng dụng).</a:t>
            </a:r>
          </a:p>
          <a:p>
            <a:pPr>
              <a:spcAft>
                <a:spcPts val="1000"/>
              </a:spcAft>
            </a:pPr>
            <a:r>
              <a:rPr sz="1350" b="1">
                <a:solidFill>
                  <a:srgbClr val="1B365D"/>
                </a:solidFill>
                <a:latin typeface="Arial"/>
              </a:rPr>
              <a:t>2. Nhóm Cảm biến Khoảng cách: </a:t>
            </a:r>
            <a:r>
              <a:rPr sz="1350">
                <a:solidFill>
                  <a:srgbClr val="222222"/>
                </a:solidFill>
                <a:latin typeface="Calibri"/>
              </a:rPr>
              <a:t>Siêu âm HC-SR04, Hồng ngoại phản xạ IR FC-51, Cảm biến chuyển động PIR (kèm sơ đồ &amp; ứng dụng thực tế).</a:t>
            </a:r>
          </a:p>
          <a:p>
            <a:pPr>
              <a:spcAft>
                <a:spcPts val="1000"/>
              </a:spcAft>
            </a:pPr>
            <a:r>
              <a:rPr sz="1350" b="1">
                <a:solidFill>
                  <a:srgbClr val="1B365D"/>
                </a:solidFill>
                <a:latin typeface="Arial"/>
              </a:rPr>
              <a:t>3. Nhóm Cảm biến Vị trí &amp; Chuyển động: </a:t>
            </a:r>
            <a:r>
              <a:rPr sz="1350">
                <a:solidFill>
                  <a:srgbClr val="222222"/>
                </a:solidFill>
                <a:latin typeface="Calibri"/>
              </a:rPr>
              <a:t>Chuyên đề 6 slide về IMU 6-DoF MPU-6050 (Thông số, nguyên lý Coriolis, sơ đồ Fritzing Uno &amp; ứng dụng Segway/Drone).</a:t>
            </a:r>
          </a:p>
          <a:p>
            <a:pPr>
              <a:spcAft>
                <a:spcPts val="1000"/>
              </a:spcAft>
            </a:pPr>
            <a:r>
              <a:rPr sz="1350" b="1">
                <a:solidFill>
                  <a:srgbClr val="1B365D"/>
                </a:solidFill>
                <a:latin typeface="Arial"/>
              </a:rPr>
              <a:t>4. Nhóm Cảm biến An toàn &amp; Công nghiệp: </a:t>
            </a:r>
            <a:r>
              <a:rPr sz="1350">
                <a:solidFill>
                  <a:srgbClr val="222222"/>
                </a:solidFill>
                <a:latin typeface="Calibri"/>
              </a:rPr>
              <a:t>Khí gas/khói MQ-2, Dòng điện ACS712, Công tắc hành trình Limit Switch (kèm hướng dẫn nối dây &amp; thực hành).</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PHẦN B: THỰC NGHIỆM &amp; CÂU HỎI THẢO LUẬN</a:t>
            </a:r>
          </a:p>
          <a:p>
            <a:pPr>
              <a:spcAft>
                <a:spcPts val="800"/>
              </a:spcAft>
            </a:pPr>
            <a:r>
              <a:rPr sz="1300" b="1">
                <a:solidFill>
                  <a:srgbClr val="1B365D"/>
                </a:solidFill>
                <a:latin typeface="Arial"/>
              </a:rPr>
              <a:t>Bài tập 1 (DHT11): </a:t>
            </a:r>
            <a:r>
              <a:rPr sz="1300">
                <a:solidFill>
                  <a:srgbClr val="222222"/>
                </a:solidFill>
                <a:latin typeface="Calibri"/>
              </a:rPr>
              <a:t>Đấu nối, code đọc Serial Monitor và bản chất khi cắm chân Data vào chân Analog A0 thay vì Digital.</a:t>
            </a:r>
          </a:p>
          <a:p>
            <a:pPr>
              <a:spcAft>
                <a:spcPts val="800"/>
              </a:spcAft>
            </a:pPr>
            <a:r>
              <a:rPr sz="1300" b="1">
                <a:solidFill>
                  <a:srgbClr val="1B365D"/>
                </a:solidFill>
                <a:latin typeface="Arial"/>
              </a:rPr>
              <a:t>Bài tập 2 (HC-SR04): </a:t>
            </a:r>
            <a:r>
              <a:rPr sz="1300">
                <a:solidFill>
                  <a:srgbClr val="222222"/>
                </a:solidFill>
                <a:latin typeface="Calibri"/>
              </a:rPr>
              <a:t>Mã nguồn đo khoảng cách Time-of-Flight và hiện tượng khi lấy tay bịt chặt ống thu 'R'.</a:t>
            </a:r>
          </a:p>
          <a:p>
            <a:pPr>
              <a:spcAft>
                <a:spcPts val="800"/>
              </a:spcAft>
            </a:pPr>
            <a:r>
              <a:rPr sz="1300" b="1">
                <a:solidFill>
                  <a:srgbClr val="1B365D"/>
                </a:solidFill>
                <a:latin typeface="Arial"/>
              </a:rPr>
              <a:t>Bài tập 3 (IR FC-51): </a:t>
            </a:r>
            <a:r>
              <a:rPr sz="1300">
                <a:solidFill>
                  <a:srgbClr val="222222"/>
                </a:solidFill>
                <a:latin typeface="Calibri"/>
              </a:rPr>
              <a:t>Thực nghiệm quét dò line: Phân biệt bề mặt Giấy trắng phản xạ vs Băng keo đen hấp thụ tia hồng ngoại.</a:t>
            </a:r>
          </a:p>
          <a:p>
            <a:pPr>
              <a:spcAft>
                <a:spcPts val="800"/>
              </a:spcAft>
            </a:pPr>
            <a:r>
              <a:rPr sz="1300" b="1">
                <a:solidFill>
                  <a:srgbClr val="1B365D"/>
                </a:solidFill>
                <a:latin typeface="Arial"/>
              </a:rPr>
              <a:t>Bài tập 4 (MQ-2): </a:t>
            </a:r>
            <a:r>
              <a:rPr sz="1300">
                <a:solidFill>
                  <a:srgbClr val="222222"/>
                </a:solidFill>
                <a:latin typeface="Calibri"/>
              </a:rPr>
              <a:t>Hiện tượng khi xì gas từ bật lửa và tác dụng thực tế của việc vặn biến trở chỉnh ngưỡng.</a:t>
            </a:r>
          </a:p>
          <a:p>
            <a:pPr>
              <a:spcAft>
                <a:spcPts val="800"/>
              </a:spcAft>
            </a:pPr>
            <a:r>
              <a:rPr sz="1300" b="1">
                <a:solidFill>
                  <a:srgbClr val="1B365D"/>
                </a:solidFill>
                <a:latin typeface="Arial"/>
              </a:rPr>
              <a:t>Thảo luận chuyên sâu môn học: </a:t>
            </a:r>
            <a:r>
              <a:rPr sz="1300">
                <a:solidFill>
                  <a:srgbClr val="222222"/>
                </a:solidFill>
                <a:latin typeface="Calibri"/>
              </a:rPr>
              <a:t>Giải thích cơ chế PIR sau kính thủy tinh và nguyên nhân sóng siêu âm HC-SR04 kém hiệu quả với vật liệu xốp.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- 1. CẢM BIẾN MÔI TRƯỜNG</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NHIỆT ĐỘ &amp; ĐỘ ẨM: DHT11 VS DHT22</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4/43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CẢM BIẾN DHT11 (CHUẨN CƠ BẢN)</a:t>
            </a:r>
          </a:p>
          <a:p>
            <a:pPr>
              <a:spcAft>
                <a:spcPts val="1000"/>
              </a:spcAft>
            </a:pPr>
            <a:r>
              <a:rPr sz="1450" b="1">
                <a:solidFill>
                  <a:srgbClr val="1B365D"/>
                </a:solidFill>
                <a:latin typeface="Arial"/>
              </a:rPr>
              <a:t>• Dải đo nhiệt độ: </a:t>
            </a:r>
            <a:r>
              <a:rPr sz="1450">
                <a:solidFill>
                  <a:srgbClr val="222222"/>
                </a:solidFill>
                <a:latin typeface="Calibri"/>
              </a:rPr>
              <a:t>Từ 0°C đến 50°C với sai số ±2°C.</a:t>
            </a:r>
          </a:p>
          <a:p>
            <a:pPr>
              <a:spcAft>
                <a:spcPts val="1000"/>
              </a:spcAft>
            </a:pPr>
            <a:r>
              <a:rPr sz="1450" b="1">
                <a:solidFill>
                  <a:srgbClr val="1B365D"/>
                </a:solidFill>
                <a:latin typeface="Arial"/>
              </a:rPr>
              <a:t>• Dải đo độ ẩm: </a:t>
            </a:r>
            <a:r>
              <a:rPr sz="1450">
                <a:solidFill>
                  <a:srgbClr val="222222"/>
                </a:solidFill>
                <a:latin typeface="Calibri"/>
              </a:rPr>
              <a:t>Từ 20% đến 90% RH với sai số ±5% RH.</a:t>
            </a:r>
          </a:p>
          <a:p>
            <a:pPr>
              <a:spcAft>
                <a:spcPts val="1000"/>
              </a:spcAft>
            </a:pPr>
            <a:r>
              <a:rPr sz="1450" b="1">
                <a:solidFill>
                  <a:srgbClr val="1B365D"/>
                </a:solidFill>
                <a:latin typeface="Arial"/>
              </a:rPr>
              <a:t>• Tần số lấy mẫu: </a:t>
            </a:r>
            <a:r>
              <a:rPr sz="1450">
                <a:solidFill>
                  <a:srgbClr val="222222"/>
                </a:solidFill>
                <a:latin typeface="Calibri"/>
              </a:rPr>
              <a:t>1 Hz (Tối đa 1 lần đọc mỗi 1 giây).</a:t>
            </a:r>
          </a:p>
          <a:p>
            <a:pPr>
              <a:spcAft>
                <a:spcPts val="1000"/>
              </a:spcAft>
            </a:pPr>
            <a:r>
              <a:rPr sz="1450" b="1">
                <a:solidFill>
                  <a:srgbClr val="1B365D"/>
                </a:solidFill>
                <a:latin typeface="Arial"/>
              </a:rPr>
              <a:t>• Giao thức truyền thông: </a:t>
            </a:r>
            <a:r>
              <a:rPr sz="1450">
                <a:solidFill>
                  <a:srgbClr val="222222"/>
                </a:solidFill>
                <a:latin typeface="Calibri"/>
              </a:rPr>
              <a:t>1-Wire độc quyền (Gói dữ liệu 40-bit gồm: 16-bit độ ẩm + 16-bit nhiệt độ + 8-bit Checksum).</a:t>
            </a:r>
          </a:p>
          <a:p>
            <a:pPr>
              <a:spcAft>
                <a:spcPts val="1000"/>
              </a:spcAft>
            </a:pPr>
            <a:r>
              <a:rPr sz="1450" b="1">
                <a:solidFill>
                  <a:srgbClr val="1B365D"/>
                </a:solidFill>
                <a:latin typeface="Arial"/>
              </a:rPr>
              <a:t>• Ứng dụng &amp; Đánh giá: </a:t>
            </a:r>
            <a:r>
              <a:rPr sz="1450">
                <a:solidFill>
                  <a:srgbClr val="222222"/>
                </a:solidFill>
                <a:latin typeface="Calibri"/>
              </a:rPr>
              <a:t>Giá thành siêu rẻ, độ trễ khá cao, phù hợp cho học tập và đồ án cơ bản.</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CẢM BIẾN DHT22 / AM2302 (BẢN NÂNG CẤP)</a:t>
            </a:r>
          </a:p>
          <a:p>
            <a:pPr>
              <a:spcAft>
                <a:spcPts val="1000"/>
              </a:spcAft>
            </a:pPr>
            <a:r>
              <a:rPr sz="1450" b="1">
                <a:solidFill>
                  <a:srgbClr val="1B365D"/>
                </a:solidFill>
                <a:latin typeface="Arial"/>
              </a:rPr>
              <a:t>• Dải đo nhiệt độ cực rộng: </a:t>
            </a:r>
            <a:r>
              <a:rPr sz="1450">
                <a:solidFill>
                  <a:srgbClr val="222222"/>
                </a:solidFill>
                <a:latin typeface="Calibri"/>
              </a:rPr>
              <a:t>Từ -40°C đến 80°C với sai số cực nhỏ ±0.5°C.</a:t>
            </a:r>
          </a:p>
          <a:p>
            <a:pPr>
              <a:spcAft>
                <a:spcPts val="1000"/>
              </a:spcAft>
            </a:pPr>
            <a:r>
              <a:rPr sz="1450" b="1">
                <a:solidFill>
                  <a:srgbClr val="1B365D"/>
                </a:solidFill>
                <a:latin typeface="Arial"/>
              </a:rPr>
              <a:t>• Dải đo độ ẩm toàn dải: </a:t>
            </a:r>
            <a:r>
              <a:rPr sz="1450">
                <a:solidFill>
                  <a:srgbClr val="222222"/>
                </a:solidFill>
                <a:latin typeface="Calibri"/>
              </a:rPr>
              <a:t>Từ 0% đến 100% RH với sai số chỉ ±2% RH.</a:t>
            </a:r>
          </a:p>
          <a:p>
            <a:pPr>
              <a:spcAft>
                <a:spcPts val="1000"/>
              </a:spcAft>
            </a:pPr>
            <a:r>
              <a:rPr sz="1450" b="1">
                <a:solidFill>
                  <a:srgbClr val="1B365D"/>
                </a:solidFill>
                <a:latin typeface="Arial"/>
              </a:rPr>
              <a:t>• Tần số lấy mẫu: </a:t>
            </a:r>
            <a:r>
              <a:rPr sz="1450">
                <a:solidFill>
                  <a:srgbClr val="222222"/>
                </a:solidFill>
                <a:latin typeface="Calibri"/>
              </a:rPr>
              <a:t>0.5 Hz (Đọc ổn định mỗi 2 giây một lần).</a:t>
            </a:r>
          </a:p>
          <a:p>
            <a:pPr>
              <a:spcAft>
                <a:spcPts val="1000"/>
              </a:spcAft>
            </a:pPr>
            <a:r>
              <a:rPr sz="1450" b="1">
                <a:solidFill>
                  <a:srgbClr val="1B365D"/>
                </a:solidFill>
                <a:latin typeface="Arial"/>
              </a:rPr>
              <a:t>• Độ phân giải phần cứng: </a:t>
            </a:r>
            <a:r>
              <a:rPr sz="1450">
                <a:solidFill>
                  <a:srgbClr val="222222"/>
                </a:solidFill>
                <a:latin typeface="Calibri"/>
              </a:rPr>
              <a:t>Xuất số thực có 1 chữ số thập phân (0.1°C / 0.1% RH) so với số nguyên của DHT11.</a:t>
            </a:r>
          </a:p>
          <a:p>
            <a:pPr>
              <a:spcAft>
                <a:spcPts val="1000"/>
              </a:spcAft>
            </a:pPr>
            <a:r>
              <a:rPr sz="1450" b="1">
                <a:solidFill>
                  <a:srgbClr val="1B365D"/>
                </a:solidFill>
                <a:latin typeface="Arial"/>
              </a:rPr>
              <a:t>• Đánh giá kỹ thuật: </a:t>
            </a:r>
            <a:r>
              <a:rPr sz="1450">
                <a:solidFill>
                  <a:srgbClr val="222222"/>
                </a:solidFill>
                <a:latin typeface="Calibri"/>
              </a:rPr>
              <a:t>Vượt trội về độ bền và độ chính xác trong môi trường công nghiệp.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- 1. CẢM BIẾN MÔI TRƯỜNG</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CÔNG NGHIỆP: SHT30 / SHT31 (CHUẨN I2C)</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5/43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THÔNG SỐ VƯỢT TRỘI CỦA SHT30</a:t>
            </a:r>
          </a:p>
          <a:p>
            <a:pPr>
              <a:spcAft>
                <a:spcPts val="1000"/>
              </a:spcAft>
            </a:pPr>
            <a:r>
              <a:rPr sz="1450" b="1">
                <a:solidFill>
                  <a:srgbClr val="1B365D"/>
                </a:solidFill>
                <a:latin typeface="Arial"/>
              </a:rPr>
              <a:t>• Dải đo nhiệt độ chuyên dụng: </a:t>
            </a:r>
            <a:r>
              <a:rPr sz="1450">
                <a:solidFill>
                  <a:srgbClr val="222222"/>
                </a:solidFill>
                <a:latin typeface="Calibri"/>
              </a:rPr>
              <a:t>Từ -40°C đến 125°C (Sai số chỉ ±0.3°C).</a:t>
            </a:r>
          </a:p>
          <a:p>
            <a:pPr>
              <a:spcAft>
                <a:spcPts val="1000"/>
              </a:spcAft>
            </a:pPr>
            <a:r>
              <a:rPr sz="1450" b="1">
                <a:solidFill>
                  <a:srgbClr val="1B365D"/>
                </a:solidFill>
                <a:latin typeface="Arial"/>
              </a:rPr>
              <a:t>• Dải đo độ ẩm chuẩn: </a:t>
            </a:r>
            <a:r>
              <a:rPr sz="1450">
                <a:solidFill>
                  <a:srgbClr val="222222"/>
                </a:solidFill>
                <a:latin typeface="Calibri"/>
              </a:rPr>
              <a:t>0% đến 100% RH (Sai số siêu chính xác ±2%).</a:t>
            </a:r>
          </a:p>
          <a:p>
            <a:pPr>
              <a:spcAft>
                <a:spcPts val="1000"/>
              </a:spcAft>
            </a:pPr>
            <a:r>
              <a:rPr sz="1450" b="1">
                <a:solidFill>
                  <a:srgbClr val="1B365D"/>
                </a:solidFill>
                <a:latin typeface="Arial"/>
              </a:rPr>
              <a:t>• Tần số lấy mẫu siêu tốc: </a:t>
            </a:r>
            <a:r>
              <a:rPr sz="1450">
                <a:solidFill>
                  <a:srgbClr val="222222"/>
                </a:solidFill>
                <a:latin typeface="Calibri"/>
              </a:rPr>
              <a:t>Lên đến 10 Hz (10 lần/giây), đáp ứng thời gian thực tức thì.</a:t>
            </a:r>
          </a:p>
          <a:p>
            <a:pPr>
              <a:spcAft>
                <a:spcPts val="1000"/>
              </a:spcAft>
            </a:pPr>
            <a:r>
              <a:rPr sz="1450" b="1">
                <a:solidFill>
                  <a:srgbClr val="1B365D"/>
                </a:solidFill>
                <a:latin typeface="Arial"/>
              </a:rPr>
              <a:t>• Giao tiếp chuẩn I2C: </a:t>
            </a:r>
            <a:r>
              <a:rPr sz="1450">
                <a:solidFill>
                  <a:srgbClr val="222222"/>
                </a:solidFill>
                <a:latin typeface="Calibri"/>
              </a:rPr>
              <a:t>Hỗ trợ xung nhịp Fast Mode 100 kHz - 1 MHz, chỉ cần 2 dây tín hiệu SDA và SCL.</a:t>
            </a:r>
          </a:p>
          <a:p>
            <a:pPr>
              <a:spcAft>
                <a:spcPts val="1000"/>
              </a:spcAft>
            </a:pPr>
            <a:r>
              <a:rPr sz="1450" b="1">
                <a:solidFill>
                  <a:srgbClr val="1B365D"/>
                </a:solidFill>
                <a:latin typeface="Arial"/>
              </a:rPr>
              <a:t>• Tích hợp cuộn sấy màng ẩm: </a:t>
            </a:r>
            <a:r>
              <a:rPr sz="1450">
                <a:solidFill>
                  <a:srgbClr val="222222"/>
                </a:solidFill>
                <a:latin typeface="Calibri"/>
              </a:rPr>
              <a:t>Tự động sấy khô bề mặt cảm biến khi bị ngưng tụ hơi sương ẩm ướt.</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SO SÁNH DHT11/22 VS SHT30</a:t>
            </a:r>
          </a:p>
          <a:p>
            <a:pPr>
              <a:spcAft>
                <a:spcPts val="1200"/>
              </a:spcAft>
            </a:pPr>
            <a:r>
              <a:rPr sz="1450" b="1">
                <a:solidFill>
                  <a:srgbClr val="1B365D"/>
                </a:solidFill>
                <a:latin typeface="Arial"/>
              </a:rPr>
              <a:t>• Về giao thức truyền thông: </a:t>
            </a:r>
            <a:r>
              <a:rPr sz="1450">
                <a:solidFill>
                  <a:srgbClr val="222222"/>
                </a:solidFill>
                <a:latin typeface="Calibri"/>
              </a:rPr>
              <a:t>DHT dùng 1-Wire chiếm giữ CPU vi điều khiển khi đọc bit; SHT30 dùng chuẩn I2C công nghiệp phần cứng, truyền dữ liệu mượt mà.</a:t>
            </a:r>
          </a:p>
          <a:p>
            <a:pPr>
              <a:spcAft>
                <a:spcPts val="1200"/>
              </a:spcAft>
            </a:pPr>
            <a:r>
              <a:rPr sz="1450" b="1">
                <a:solidFill>
                  <a:srgbClr val="1B365D"/>
                </a:solidFill>
                <a:latin typeface="Arial"/>
              </a:rPr>
              <a:t>• Khả năng chống nhiễu: </a:t>
            </a:r>
            <a:r>
              <a:rPr sz="1450">
                <a:solidFill>
                  <a:srgbClr val="222222"/>
                </a:solidFill>
                <a:latin typeface="Calibri"/>
              </a:rPr>
              <a:t>SHT30 có vỏ bọc bảo vệ màng PTFE chống bụi và chống nước ngưng tụ, bền bỉ trong môi trường khắc nghiệt ngoài trời.</a:t>
            </a:r>
          </a:p>
          <a:p>
            <a:pPr>
              <a:spcAft>
                <a:spcPts val="1200"/>
              </a:spcAft>
            </a:pPr>
            <a:r>
              <a:rPr sz="1450" b="1">
                <a:solidFill>
                  <a:srgbClr val="1B365D"/>
                </a:solidFill>
                <a:latin typeface="Arial"/>
              </a:rPr>
              <a:t>• Lĩnh vực ứng dụng thực tế: </a:t>
            </a:r>
            <a:r>
              <a:rPr sz="1450">
                <a:solidFill>
                  <a:srgbClr val="222222"/>
                </a:solidFill>
                <a:latin typeface="Calibri"/>
              </a:rPr>
              <a:t>Nhà kính thông minh, kho lạnh y tế bảo quản vắc-xin, trạm khí tượng thủy văn tự động.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- 1. CẢM BIẾN MÔI TRƯỜNG</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SƠ ĐỒ ĐẤU NỐI DHT11/22 &amp; ỨNG DỤNG MÁY LẠNH DAIKIN</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6/43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SƠ ĐỒ MẠCH KẾT NỐI DHT11 VỚI ARDUINO</a:t>
            </a:r>
          </a:p>
        </p:txBody>
      </p:sp>
      <p:pic>
        <p:nvPicPr>
          <p:cNvPr id="10" name="Picture 9" descr="1790689876481_7974748581949991756_g8865705790836825326_4da22a593ecca9d58cb8752dd70f01af.jpg"/>
          <p:cNvPicPr>
            <a:picLocks noChangeAspect="1"/>
          </p:cNvPicPr>
          <p:nvPr/>
        </p:nvPicPr>
        <p:blipFill>
          <a:blip r:embed="rId3"/>
          <a:stretch>
            <a:fillRect/>
          </a:stretch>
        </p:blipFill>
        <p:spPr>
          <a:xfrm>
            <a:off x="914400" y="2028564"/>
            <a:ext cx="4846320" cy="2343670"/>
          </a:xfrm>
          <a:prstGeom prst="rect">
            <a:avLst/>
          </a:prstGeom>
        </p:spPr>
      </p:pic>
      <p:sp>
        <p:nvSpPr>
          <p:cNvPr id="11" name="TextBox 10"/>
          <p:cNvSpPr txBox="1"/>
          <p:nvPr/>
        </p:nvSpPr>
        <p:spPr>
          <a:xfrm>
            <a:off x="9144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Sơ đồ phân chân: </a:t>
            </a:r>
            <a:r>
              <a:rPr sz="1350">
                <a:solidFill>
                  <a:srgbClr val="222222"/>
                </a:solidFill>
                <a:latin typeface="Calibri"/>
              </a:rPr>
              <a:t>Chân VCC nối 5V, GND nối đất, chân Data nối chân Digital D4 của Arduino Uno.</a:t>
            </a:r>
          </a:p>
          <a:p>
            <a:pPr>
              <a:spcAft>
                <a:spcPts val="600"/>
              </a:spcAft>
            </a:pPr>
            <a:r>
              <a:rPr sz="1350" b="1">
                <a:solidFill>
                  <a:srgbClr val="1B365D"/>
                </a:solidFill>
                <a:latin typeface="Arial"/>
              </a:rPr>
              <a:t>• Điện trở kéo lên (Pull-up): </a:t>
            </a:r>
            <a:r>
              <a:rPr sz="1350">
                <a:solidFill>
                  <a:srgbClr val="222222"/>
                </a:solidFill>
                <a:latin typeface="Calibri"/>
              </a:rPr>
              <a:t>Cần điện trở 4.7kΩ - 10kΩ giữa chân VCC và Data để duy trì điện áp đường truyền 1-Wire ổn định.</a:t>
            </a:r>
          </a:p>
        </p:txBody>
      </p:sp>
      <p:sp>
        <p:nvSpPr>
          <p:cNvPr id="12" name="Rounded Rectangle 11"/>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08760"/>
            <a:ext cx="4846320" cy="411480"/>
          </a:xfrm>
          <a:prstGeom prst="rect">
            <a:avLst/>
          </a:prstGeom>
          <a:noFill/>
        </p:spPr>
        <p:txBody>
          <a:bodyPr wrap="square" tIns="91440" bIns="91440">
            <a:spAutoFit/>
          </a:bodyPr>
          <a:lstStyle/>
          <a:p>
            <a:pPr>
              <a:defRPr sz="1500" b="1">
                <a:solidFill>
                  <a:srgbClr val="C0392B"/>
                </a:solidFill>
                <a:latin typeface="Arial"/>
              </a:defRPr>
            </a:pPr>
            <a:r>
              <a:t>ỨNG DỤNG ĐIỀU HÒA DAIKIN INVERTER</a:t>
            </a:r>
          </a:p>
        </p:txBody>
      </p:sp>
      <p:pic>
        <p:nvPicPr>
          <p:cNvPr id="14" name="Picture 13" descr="1790689881762_7974748581949991756_g8865705790836825326_98bb0eb8afe921a5b1ef1d50c2356e12.jpg"/>
          <p:cNvPicPr>
            <a:picLocks noChangeAspect="1"/>
          </p:cNvPicPr>
          <p:nvPr/>
        </p:nvPicPr>
        <p:blipFill>
          <a:blip r:embed="rId4"/>
          <a:stretch>
            <a:fillRect/>
          </a:stretch>
        </p:blipFill>
        <p:spPr>
          <a:xfrm>
            <a:off x="7589520" y="1965960"/>
            <a:ext cx="2468880" cy="2468880"/>
          </a:xfrm>
          <a:prstGeom prst="rect">
            <a:avLst/>
          </a:prstGeom>
        </p:spPr>
      </p:pic>
      <p:sp>
        <p:nvSpPr>
          <p:cNvPr id="15" name="TextBox 14"/>
          <p:cNvSpPr txBox="1"/>
          <p:nvPr/>
        </p:nvSpPr>
        <p:spPr>
          <a:xfrm>
            <a:off x="64008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Cảm biến vi khí hậu phòng: </a:t>
            </a:r>
            <a:r>
              <a:rPr sz="1350">
                <a:solidFill>
                  <a:srgbClr val="222222"/>
                </a:solidFill>
                <a:latin typeface="Calibri"/>
              </a:rPr>
              <a:t>Cảm biến nhiệt ẩm liên tục đo nhiệt độ phòng và độ ẩm tương đối của không khí.</a:t>
            </a:r>
          </a:p>
          <a:p>
            <a:pPr>
              <a:spcAft>
                <a:spcPts val="600"/>
              </a:spcAft>
            </a:pPr>
            <a:r>
              <a:rPr sz="1350" b="1">
                <a:solidFill>
                  <a:srgbClr val="1B365D"/>
                </a:solidFill>
                <a:latin typeface="Arial"/>
              </a:rPr>
              <a:t>• Điều khiển biến tần thông minh: </a:t>
            </a:r>
            <a:r>
              <a:rPr sz="1350">
                <a:solidFill>
                  <a:srgbClr val="222222"/>
                </a:solidFill>
                <a:latin typeface="Calibri"/>
              </a:rPr>
              <a:t>Vi xử lý điều hòa tự động tăng/giảm tần số máy nén Inverter, làm lạnh êm ái, tối ưu điện năng và bảo vệ sức khỏe người dùng.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- 1. CẢM BIẾN MÔI TRƯỜNG</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SƠ ĐỒ ĐẤU NỐI SHT30 &amp; NHÀ KÍNH NÔNG NGHIỆP THÔNG MINH</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7/43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SƠ ĐỒ GIAO TIẾP I2C CỦA MODULE SHT30</a:t>
            </a:r>
          </a:p>
        </p:txBody>
      </p:sp>
      <p:pic>
        <p:nvPicPr>
          <p:cNvPr id="10" name="Picture 9" descr="1790690356279_7974748581949991756_g8865705790836825326_74f306c9ae991aa98cfcd5e07b608c58.jpg"/>
          <p:cNvPicPr>
            <a:picLocks noChangeAspect="1"/>
          </p:cNvPicPr>
          <p:nvPr/>
        </p:nvPicPr>
        <p:blipFill>
          <a:blip r:embed="rId3"/>
          <a:stretch>
            <a:fillRect/>
          </a:stretch>
        </p:blipFill>
        <p:spPr>
          <a:xfrm>
            <a:off x="1640826" y="1965960"/>
            <a:ext cx="3393467" cy="2468880"/>
          </a:xfrm>
          <a:prstGeom prst="rect">
            <a:avLst/>
          </a:prstGeom>
        </p:spPr>
      </p:pic>
      <p:sp>
        <p:nvSpPr>
          <p:cNvPr id="11" name="TextBox 10"/>
          <p:cNvSpPr txBox="1"/>
          <p:nvPr/>
        </p:nvSpPr>
        <p:spPr>
          <a:xfrm>
            <a:off x="9144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Đấu nối 4 chân chuẩn I2C: </a:t>
            </a:r>
            <a:r>
              <a:rPr sz="1350">
                <a:solidFill>
                  <a:srgbClr val="222222"/>
                </a:solidFill>
                <a:latin typeface="Calibri"/>
              </a:rPr>
              <a:t>VCC (3.3V/5V), GND (0V), chân SCL nối Analog A5 Uno, chân SDA nối Analog A4 Uno.</a:t>
            </a:r>
          </a:p>
          <a:p>
            <a:pPr>
              <a:spcAft>
                <a:spcPts val="600"/>
              </a:spcAft>
            </a:pPr>
            <a:r>
              <a:rPr sz="1350" b="1">
                <a:solidFill>
                  <a:srgbClr val="1B365D"/>
                </a:solidFill>
                <a:latin typeface="Arial"/>
              </a:rPr>
              <a:t>• Chân cấu hình địa chỉ ADDR: </a:t>
            </a:r>
            <a:r>
              <a:rPr sz="1350">
                <a:solidFill>
                  <a:srgbClr val="222222"/>
                </a:solidFill>
                <a:latin typeface="Calibri"/>
              </a:rPr>
              <a:t>Nối GND chọn địa chỉ 0x44; nối VCC chọn địa chỉ 0x45, cho phép gắn nhiều cảm biến trên cùng 1 bus.</a:t>
            </a:r>
          </a:p>
        </p:txBody>
      </p:sp>
      <p:sp>
        <p:nvSpPr>
          <p:cNvPr id="12" name="Rounded Rectangle 11"/>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08760"/>
            <a:ext cx="4846320" cy="411480"/>
          </a:xfrm>
          <a:prstGeom prst="rect">
            <a:avLst/>
          </a:prstGeom>
          <a:noFill/>
        </p:spPr>
        <p:txBody>
          <a:bodyPr wrap="square" tIns="91440" bIns="91440">
            <a:spAutoFit/>
          </a:bodyPr>
          <a:lstStyle/>
          <a:p>
            <a:pPr>
              <a:defRPr sz="1500" b="1">
                <a:solidFill>
                  <a:srgbClr val="C0392B"/>
                </a:solidFill>
                <a:latin typeface="Arial"/>
              </a:defRPr>
            </a:pPr>
            <a:r>
              <a:t>ỨNG DỤNG NHÀ KÍNH NÔNG NGHIỆP CÔNG NGHỆ CAO</a:t>
            </a:r>
          </a:p>
        </p:txBody>
      </p:sp>
      <p:pic>
        <p:nvPicPr>
          <p:cNvPr id="14" name="Picture 13" descr="1790690407662_7974748581949991756_g8865705790836825326_86206e9d70595d2ac4ccba2f7e3a6e28.jpg"/>
          <p:cNvPicPr>
            <a:picLocks noChangeAspect="1"/>
          </p:cNvPicPr>
          <p:nvPr/>
        </p:nvPicPr>
        <p:blipFill>
          <a:blip r:embed="rId4"/>
          <a:stretch>
            <a:fillRect/>
          </a:stretch>
        </p:blipFill>
        <p:spPr>
          <a:xfrm>
            <a:off x="7589520" y="1965960"/>
            <a:ext cx="2468880" cy="2468880"/>
          </a:xfrm>
          <a:prstGeom prst="rect">
            <a:avLst/>
          </a:prstGeom>
        </p:spPr>
      </p:pic>
      <p:sp>
        <p:nvSpPr>
          <p:cNvPr id="15" name="TextBox 14"/>
          <p:cNvSpPr txBox="1"/>
          <p:nvPr/>
        </p:nvSpPr>
        <p:spPr>
          <a:xfrm>
            <a:off x="64008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Tự động hóa vi khí hậu: </a:t>
            </a:r>
            <a:r>
              <a:rPr sz="1350">
                <a:solidFill>
                  <a:srgbClr val="222222"/>
                </a:solidFill>
                <a:latin typeface="Calibri"/>
              </a:rPr>
              <a:t>SHT30 thu thập độ ẩm và nhiệt độ không khí nhà kính theo thời gian thực.</a:t>
            </a:r>
          </a:p>
          <a:p>
            <a:pPr>
              <a:spcAft>
                <a:spcPts val="600"/>
              </a:spcAft>
            </a:pPr>
            <a:r>
              <a:rPr sz="1350" b="1">
                <a:solidFill>
                  <a:srgbClr val="1B365D"/>
                </a:solidFill>
                <a:latin typeface="Arial"/>
              </a:rPr>
              <a:t>• Điều khiển cơ cấu chấp hành: </a:t>
            </a:r>
            <a:r>
              <a:rPr sz="1350">
                <a:solidFill>
                  <a:srgbClr val="222222"/>
                </a:solidFill>
                <a:latin typeface="Calibri"/>
              </a:rPr>
              <a:t>Kích hoạt quạt thông gió, hệ thống rèm che nắng tự động và vòi phun sương khi trời hanh khô, đảm bảo cây trồng tăng trưởng tốt nhất.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- 1. CẢM BIẾN MÔI TRƯỜNG</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ÁP SUẤT KHÍ QUYỂN: BMP180 VS BME280</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8/43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CẢM BIẾN ÁP SUẤT BMP180</a:t>
            </a:r>
          </a:p>
          <a:p>
            <a:pPr>
              <a:spcAft>
                <a:spcPts val="1000"/>
              </a:spcAft>
            </a:pPr>
            <a:r>
              <a:rPr sz="1450" b="1">
                <a:solidFill>
                  <a:srgbClr val="1B365D"/>
                </a:solidFill>
                <a:latin typeface="Arial"/>
              </a:rPr>
              <a:t>• Dải đo áp suất khí quyển: </a:t>
            </a:r>
            <a:r>
              <a:rPr sz="1450">
                <a:solidFill>
                  <a:srgbClr val="222222"/>
                </a:solidFill>
                <a:latin typeface="Calibri"/>
              </a:rPr>
              <a:t>300 hPa đến 1100 hPa (tương đương từ +9000m đến -500m so với mực nước biển).</a:t>
            </a:r>
          </a:p>
          <a:p>
            <a:pPr>
              <a:spcAft>
                <a:spcPts val="1000"/>
              </a:spcAft>
            </a:pPr>
            <a:r>
              <a:rPr sz="1450" b="1">
                <a:solidFill>
                  <a:srgbClr val="1B365D"/>
                </a:solidFill>
                <a:latin typeface="Arial"/>
              </a:rPr>
              <a:t>• Đo nhiệt độ tích hợp: </a:t>
            </a:r>
            <a:r>
              <a:rPr sz="1450">
                <a:solidFill>
                  <a:srgbClr val="222222"/>
                </a:solidFill>
                <a:latin typeface="Calibri"/>
              </a:rPr>
              <a:t>Từ 0°C đến 65°C với sai số ±1.0°C dùng để bù nhiệt.</a:t>
            </a:r>
          </a:p>
          <a:p>
            <a:pPr>
              <a:spcAft>
                <a:spcPts val="1000"/>
              </a:spcAft>
            </a:pPr>
            <a:r>
              <a:rPr sz="1450" b="1">
                <a:solidFill>
                  <a:srgbClr val="1B365D"/>
                </a:solidFill>
                <a:latin typeface="Arial"/>
              </a:rPr>
              <a:t>• Công thức Altimeter: </a:t>
            </a:r>
            <a:r>
              <a:rPr sz="1450">
                <a:solidFill>
                  <a:srgbClr val="222222"/>
                </a:solidFill>
                <a:latin typeface="Calibri"/>
              </a:rPr>
              <a:t>Tính toán độ cao tương đối cực kỳ chính xác dựa trên sự suy giảm khí áp theo độ cao.</a:t>
            </a:r>
          </a:p>
          <a:p>
            <a:pPr>
              <a:spcAft>
                <a:spcPts val="1000"/>
              </a:spcAft>
            </a:pPr>
            <a:r>
              <a:rPr sz="1450" b="1">
                <a:solidFill>
                  <a:srgbClr val="1B365D"/>
                </a:solidFill>
                <a:latin typeface="Arial"/>
              </a:rPr>
              <a:t>• Giao tiếp: </a:t>
            </a:r>
            <a:r>
              <a:rPr sz="1450">
                <a:solidFill>
                  <a:srgbClr val="222222"/>
                </a:solidFill>
                <a:latin typeface="Calibri"/>
              </a:rPr>
              <a:t>Chuẩn I2C với địa chỉ cố định 0x77.</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CẢM BIẾN ĐA NĂNG BME280 (3 TRONG 1)</a:t>
            </a:r>
          </a:p>
          <a:p>
            <a:pPr>
              <a:spcAft>
                <a:spcPts val="1000"/>
              </a:spcAft>
            </a:pPr>
            <a:r>
              <a:rPr sz="1450" b="1">
                <a:solidFill>
                  <a:srgbClr val="1B365D"/>
                </a:solidFill>
                <a:latin typeface="Arial"/>
              </a:rPr>
              <a:t>• Tích hợp 3 cảm biến: </a:t>
            </a:r>
            <a:r>
              <a:rPr sz="1450">
                <a:solidFill>
                  <a:srgbClr val="222222"/>
                </a:solidFill>
                <a:latin typeface="Calibri"/>
              </a:rPr>
              <a:t>Đo đồng thời 3 thông số môi trường cốt lõi: Áp suất khí quyển + Độ ẩm tương đối + Nhiệt độ chính xác cao.</a:t>
            </a:r>
          </a:p>
          <a:p>
            <a:pPr>
              <a:spcAft>
                <a:spcPts val="1000"/>
              </a:spcAft>
            </a:pPr>
            <a:r>
              <a:rPr sz="1450" b="1">
                <a:solidFill>
                  <a:srgbClr val="1B365D"/>
                </a:solidFill>
                <a:latin typeface="Arial"/>
              </a:rPr>
              <a:t>• Độ phân giải cực cao: </a:t>
            </a:r>
            <a:r>
              <a:rPr sz="1450">
                <a:solidFill>
                  <a:srgbClr val="222222"/>
                </a:solidFill>
                <a:latin typeface="Calibri"/>
              </a:rPr>
              <a:t>Độ chính xác đo khí áp ±1 hPa (tương đương độ cao chênh lệch chỉ ±1 mét).</a:t>
            </a:r>
          </a:p>
          <a:p>
            <a:pPr>
              <a:spcAft>
                <a:spcPts val="1000"/>
              </a:spcAft>
            </a:pPr>
            <a:r>
              <a:rPr sz="1450" b="1">
                <a:solidFill>
                  <a:srgbClr val="1B365D"/>
                </a:solidFill>
                <a:latin typeface="Arial"/>
              </a:rPr>
              <a:t>• Hỗ trợ 2 giao tiếp: </a:t>
            </a:r>
            <a:r>
              <a:rPr sz="1450">
                <a:solidFill>
                  <a:srgbClr val="222222"/>
                </a:solidFill>
                <a:latin typeface="Calibri"/>
              </a:rPr>
              <a:t>Vừa hỗ trợ chuẩn I2C vừa hỗ trợ SPI tốc độ cao lên tới 10 MHz.</a:t>
            </a:r>
          </a:p>
          <a:p>
            <a:pPr>
              <a:spcAft>
                <a:spcPts val="1000"/>
              </a:spcAft>
            </a:pPr>
            <a:r>
              <a:rPr sz="1450" b="1">
                <a:solidFill>
                  <a:srgbClr val="1B365D"/>
                </a:solidFill>
                <a:latin typeface="Arial"/>
              </a:rPr>
              <a:t>• Kích thước siêu nhỏ MEMS: </a:t>
            </a:r>
            <a:r>
              <a:rPr sz="1450">
                <a:solidFill>
                  <a:srgbClr val="222222"/>
                </a:solidFill>
                <a:latin typeface="Calibri"/>
              </a:rPr>
              <a:t>Lý tưởng cho thiết bị di động, smartwatch và drone.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- 1. CẢM BIẾN MÔI TRƯỜNG</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ÁNH SÁNG: QUANG TRỞ (LDR) VS BH1750</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9/43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QUANG TRỞ LDR (ANALOG ĐỊNH TÍNH)</a:t>
            </a:r>
          </a:p>
          <a:p>
            <a:pPr>
              <a:spcAft>
                <a:spcPts val="1000"/>
              </a:spcAft>
            </a:pPr>
            <a:r>
              <a:rPr sz="1450" b="1">
                <a:solidFill>
                  <a:srgbClr val="1B365D"/>
                </a:solidFill>
                <a:latin typeface="Arial"/>
              </a:rPr>
              <a:t>• Nguyên lý quang dẫn: </a:t>
            </a:r>
            <a:r>
              <a:rPr sz="1450">
                <a:solidFill>
                  <a:srgbClr val="222222"/>
                </a:solidFill>
                <a:latin typeface="Calibri"/>
              </a:rPr>
              <a:t>Chế tạo từ chất bán dẫn Cadmium Sulfide (CdS). Khi ánh sáng chiếu vào, các electron được giải phóng làm điện trở giảm mạnh từ hàng Mega-Ohm xuống vài trăm Ohm.</a:t>
            </a:r>
          </a:p>
          <a:p>
            <a:pPr>
              <a:spcAft>
                <a:spcPts val="1000"/>
              </a:spcAft>
            </a:pPr>
            <a:r>
              <a:rPr sz="1450" b="1">
                <a:solidFill>
                  <a:srgbClr val="1B365D"/>
                </a:solidFill>
                <a:latin typeface="Arial"/>
              </a:rPr>
              <a:t>• Mạch cầu phân áp: </a:t>
            </a:r>
            <a:r>
              <a:rPr sz="1450">
                <a:solidFill>
                  <a:srgbClr val="222222"/>
                </a:solidFill>
                <a:latin typeface="Calibri"/>
              </a:rPr>
              <a:t>Cần mắc nối tiếp với điện trở 10kΩ để chuyển biến thiên điện trở thành điện áp Analog đưa vào chân A0 Arduino.</a:t>
            </a:r>
          </a:p>
          <a:p>
            <a:pPr>
              <a:spcAft>
                <a:spcPts val="1000"/>
              </a:spcAft>
            </a:pPr>
            <a:r>
              <a:rPr sz="1450" b="1">
                <a:solidFill>
                  <a:srgbClr val="1B365D"/>
                </a:solidFill>
                <a:latin typeface="Arial"/>
              </a:rPr>
              <a:t>• Đánh giá kỹ thuật: </a:t>
            </a:r>
            <a:r>
              <a:rPr sz="1450">
                <a:solidFill>
                  <a:srgbClr val="222222"/>
                </a:solidFill>
                <a:latin typeface="Calibri"/>
              </a:rPr>
              <a:t>Giá cực rẻ, chỉ dùng nhận biết trời Sáng / Tối định tính, không cho đơn vị đo chuẩn xác.</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CẢM BIẾN KỸ THUẬT SỐ BH1750 (ĐỊNH LƯỢNG)</a:t>
            </a:r>
          </a:p>
          <a:p>
            <a:pPr>
              <a:spcAft>
                <a:spcPts val="1000"/>
              </a:spcAft>
            </a:pPr>
            <a:r>
              <a:rPr sz="1450" b="1">
                <a:solidFill>
                  <a:srgbClr val="1B365D"/>
                </a:solidFill>
                <a:latin typeface="Arial"/>
              </a:rPr>
              <a:t>• Cảm biến quang số cao cấp: </a:t>
            </a:r>
            <a:r>
              <a:rPr sz="1450">
                <a:solidFill>
                  <a:srgbClr val="222222"/>
                </a:solidFill>
                <a:latin typeface="Calibri"/>
              </a:rPr>
              <a:t>Tích hợp sẵn Photodiode, bộ khuếch đại op-amp và bộ chuyển đổi ADC 16-bit độc lập bên trong chip vi mạch.</a:t>
            </a:r>
          </a:p>
          <a:p>
            <a:pPr>
              <a:spcAft>
                <a:spcPts val="1000"/>
              </a:spcAft>
            </a:pPr>
            <a:r>
              <a:rPr sz="1450" b="1">
                <a:solidFill>
                  <a:srgbClr val="1B365D"/>
                </a:solidFill>
                <a:latin typeface="Arial"/>
              </a:rPr>
              <a:t>• Đo trực tiếp đơn vị Lux: </a:t>
            </a:r>
            <a:r>
              <a:rPr sz="1450">
                <a:solidFill>
                  <a:srgbClr val="222222"/>
                </a:solidFill>
                <a:latin typeface="Calibri"/>
              </a:rPr>
              <a:t>Dải đo từ 1 Lux đến 65,535 Lux. Đáp ứng quang phổ mô phỏng gần như trùng khớp hoàn toàn với mắt người.</a:t>
            </a:r>
          </a:p>
          <a:p>
            <a:pPr>
              <a:spcAft>
                <a:spcPts val="1000"/>
              </a:spcAft>
            </a:pPr>
            <a:r>
              <a:rPr sz="1450" b="1">
                <a:solidFill>
                  <a:srgbClr val="1B365D"/>
                </a:solidFill>
                <a:latin typeface="Arial"/>
              </a:rPr>
              <a:t>• Giao tiếp I2C tiện lợi: </a:t>
            </a:r>
            <a:r>
              <a:rPr sz="1450">
                <a:solidFill>
                  <a:srgbClr val="222222"/>
                </a:solidFill>
                <a:latin typeface="Calibri"/>
              </a:rPr>
              <a:t>Truyền trực tiếp con số Lux đo được về vi điều khiển, không bị suy hao hay trôi sai số theo nhiệt độ môi trường.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- 1. CẢM BIẾN MÔI TRƯỜNG</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SƠ ĐỒ ĐẤU NỐI &amp; ỨNG DỤNG: BMP180 &amp; BME280</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10/43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BMP180 &amp; TRẠM KHÍ TƯỢNG THÔNG MINH</a:t>
            </a:r>
          </a:p>
        </p:txBody>
      </p:sp>
      <p:pic>
        <p:nvPicPr>
          <p:cNvPr id="10" name="Picture 9" descr="1790690439594_7974748581949991756_g8865705790836825326_2e50d1847fcdae6bcae472054f1e2256.jpg"/>
          <p:cNvPicPr>
            <a:picLocks noChangeAspect="1"/>
          </p:cNvPicPr>
          <p:nvPr/>
        </p:nvPicPr>
        <p:blipFill>
          <a:blip r:embed="rId3"/>
          <a:stretch>
            <a:fillRect/>
          </a:stretch>
        </p:blipFill>
        <p:spPr>
          <a:xfrm>
            <a:off x="914400" y="2181837"/>
            <a:ext cx="2377440" cy="1671365"/>
          </a:xfrm>
          <a:prstGeom prst="rect">
            <a:avLst/>
          </a:prstGeom>
        </p:spPr>
      </p:pic>
      <p:pic>
        <p:nvPicPr>
          <p:cNvPr id="11" name="Picture 10" descr="1790690463783_7974748581949991756_g8865705790836825326_d50853b2d7ea652a28240a941e3c4eeb.jpg"/>
          <p:cNvPicPr>
            <a:picLocks noChangeAspect="1"/>
          </p:cNvPicPr>
          <p:nvPr/>
        </p:nvPicPr>
        <p:blipFill>
          <a:blip r:embed="rId4"/>
          <a:stretch>
            <a:fillRect/>
          </a:stretch>
        </p:blipFill>
        <p:spPr>
          <a:xfrm>
            <a:off x="3544521" y="1965960"/>
            <a:ext cx="2054956" cy="2103120"/>
          </a:xfrm>
          <a:prstGeom prst="rect">
            <a:avLst/>
          </a:prstGeom>
        </p:spPr>
      </p:pic>
      <p:sp>
        <p:nvSpPr>
          <p:cNvPr id="12" name="TextBox 11"/>
          <p:cNvSpPr txBox="1"/>
          <p:nvPr/>
        </p:nvSpPr>
        <p:spPr>
          <a:xfrm>
            <a:off x="914400" y="4251960"/>
            <a:ext cx="4846320" cy="1965960"/>
          </a:xfrm>
          <a:prstGeom prst="rect">
            <a:avLst/>
          </a:prstGeom>
          <a:noFill/>
        </p:spPr>
        <p:txBody>
          <a:bodyPr wrap="square" tIns="91440" bIns="91440">
            <a:spAutoFit/>
          </a:bodyPr>
          <a:lstStyle/>
          <a:p/>
          <a:p>
            <a:pPr>
              <a:spcAft>
                <a:spcPts val="600"/>
              </a:spcAft>
            </a:pPr>
            <a:r>
              <a:rPr sz="1350" b="1">
                <a:solidFill>
                  <a:srgbClr val="1B365D"/>
                </a:solidFill>
                <a:latin typeface="Arial"/>
              </a:rPr>
              <a:t>• Đấu nối phần cứng I2C: </a:t>
            </a:r>
            <a:r>
              <a:rPr sz="1350">
                <a:solidFill>
                  <a:srgbClr val="222222"/>
                </a:solidFill>
                <a:latin typeface="Calibri"/>
              </a:rPr>
              <a:t>Chân SCL nối A5, SDA nối A4 của Arduino Uno. Module hoạt động ở mức 3.3V hoặc 5V.</a:t>
            </a:r>
          </a:p>
          <a:p>
            <a:pPr>
              <a:spcAft>
                <a:spcPts val="600"/>
              </a:spcAft>
            </a:pPr>
            <a:r>
              <a:rPr sz="1350" b="1">
                <a:solidFill>
                  <a:srgbClr val="1B365D"/>
                </a:solidFill>
                <a:latin typeface="Arial"/>
              </a:rPr>
              <a:t>• Ứng dụng trạm khí tượng: </a:t>
            </a:r>
            <a:r>
              <a:rPr sz="1350">
                <a:solidFill>
                  <a:srgbClr val="222222"/>
                </a:solidFill>
                <a:latin typeface="Calibri"/>
              </a:rPr>
              <a:t>Theo dõi diễn biến áp suất khí quyển để dự báo sớm giông bão, áp thấp nhiệt đới và đo độ cao địa hình.</a:t>
            </a:r>
          </a:p>
        </p:txBody>
      </p:sp>
      <p:sp>
        <p:nvSpPr>
          <p:cNvPr id="13" name="Rounded Rectangle 12"/>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08760"/>
            <a:ext cx="4846320" cy="411480"/>
          </a:xfrm>
          <a:prstGeom prst="rect">
            <a:avLst/>
          </a:prstGeom>
          <a:noFill/>
        </p:spPr>
        <p:txBody>
          <a:bodyPr wrap="square" tIns="91440" bIns="91440">
            <a:spAutoFit/>
          </a:bodyPr>
          <a:lstStyle/>
          <a:p>
            <a:pPr>
              <a:defRPr sz="1500" b="1">
                <a:solidFill>
                  <a:srgbClr val="C0392B"/>
                </a:solidFill>
                <a:latin typeface="Arial"/>
              </a:defRPr>
            </a:pPr>
            <a:r>
              <a:t>BME280 &amp; ĐỒNG HỒ SMARTWATCH LEO NÚI</a:t>
            </a:r>
          </a:p>
        </p:txBody>
      </p:sp>
      <p:pic>
        <p:nvPicPr>
          <p:cNvPr id="15" name="Picture 14" descr="1790690503245_7974748581949991756_g8865705790836825326_09aec0de18f33035a86f122e8e6224d3.jpg"/>
          <p:cNvPicPr>
            <a:picLocks noChangeAspect="1"/>
          </p:cNvPicPr>
          <p:nvPr/>
        </p:nvPicPr>
        <p:blipFill>
          <a:blip r:embed="rId5"/>
          <a:stretch>
            <a:fillRect/>
          </a:stretch>
        </p:blipFill>
        <p:spPr>
          <a:xfrm>
            <a:off x="6400800" y="2172208"/>
            <a:ext cx="2377440" cy="1690624"/>
          </a:xfrm>
          <a:prstGeom prst="rect">
            <a:avLst/>
          </a:prstGeom>
        </p:spPr>
      </p:pic>
      <p:pic>
        <p:nvPicPr>
          <p:cNvPr id="16" name="Picture 15" descr="1790690543213_7974748581949991756_g8865705790836825326_1d9e885642568ab2b8fa769f976427a8.jpg"/>
          <p:cNvPicPr>
            <a:picLocks noChangeAspect="1"/>
          </p:cNvPicPr>
          <p:nvPr/>
        </p:nvPicPr>
        <p:blipFill>
          <a:blip r:embed="rId6"/>
          <a:stretch>
            <a:fillRect/>
          </a:stretch>
        </p:blipFill>
        <p:spPr>
          <a:xfrm>
            <a:off x="8869680" y="2348865"/>
            <a:ext cx="2377440" cy="1337310"/>
          </a:xfrm>
          <a:prstGeom prst="rect">
            <a:avLst/>
          </a:prstGeom>
        </p:spPr>
      </p:pic>
      <p:sp>
        <p:nvSpPr>
          <p:cNvPr id="17" name="TextBox 16"/>
          <p:cNvSpPr txBox="1"/>
          <p:nvPr/>
        </p:nvSpPr>
        <p:spPr>
          <a:xfrm>
            <a:off x="6400800" y="4251960"/>
            <a:ext cx="4846320" cy="1965960"/>
          </a:xfrm>
          <a:prstGeom prst="rect">
            <a:avLst/>
          </a:prstGeom>
          <a:noFill/>
        </p:spPr>
        <p:txBody>
          <a:bodyPr wrap="square" tIns="91440" bIns="91440">
            <a:spAutoFit/>
          </a:bodyPr>
          <a:lstStyle/>
          <a:p/>
          <a:p>
            <a:pPr>
              <a:spcAft>
                <a:spcPts val="600"/>
              </a:spcAft>
            </a:pPr>
            <a:r>
              <a:rPr sz="1350" b="1">
                <a:solidFill>
                  <a:srgbClr val="1B365D"/>
                </a:solidFill>
                <a:latin typeface="Arial"/>
              </a:rPr>
              <a:t>• Tích hợp '3 trong 1' siêu nhỏ: </a:t>
            </a:r>
            <a:r>
              <a:rPr sz="1350">
                <a:solidFill>
                  <a:srgbClr val="222222"/>
                </a:solidFill>
                <a:latin typeface="Calibri"/>
              </a:rPr>
              <a:t>Đo cùng lúc Áp suất + Độ ẩm + Nhiệt độ chỉ trong 1 linh kiện kích thước 2.5 x 2.5 mm.</a:t>
            </a:r>
          </a:p>
          <a:p>
            <a:pPr>
              <a:spcAft>
                <a:spcPts val="600"/>
              </a:spcAft>
            </a:pPr>
            <a:r>
              <a:rPr sz="1350" b="1">
                <a:solidFill>
                  <a:srgbClr val="1B365D"/>
                </a:solidFill>
                <a:latin typeface="Arial"/>
              </a:rPr>
              <a:t>• Ứng dụng smartwatch thể thao: </a:t>
            </a:r>
            <a:r>
              <a:rPr sz="1350">
                <a:solidFill>
                  <a:srgbClr val="222222"/>
                </a:solidFill>
                <a:latin typeface="Calibri"/>
              </a:rPr>
              <a:t>Đo chính xác độ cao vận động viên leo núi, đếm số bậc cầu thang đã leo và cảnh báo thời tiết xấu.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- 1. CẢM BIẾN MÔI TRƯỜNG</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SƠ ĐỒ ĐẤU NỐI &amp; ỨNG DỤNG: QUANG TRỞ LDR &amp; BH1750</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11/43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QUANG TRỞ LDR &amp; HỆ THỐNG ĐÈN ĐƯỜNG</a:t>
            </a:r>
          </a:p>
        </p:txBody>
      </p:sp>
      <p:pic>
        <p:nvPicPr>
          <p:cNvPr id="10" name="Picture 9" descr="1790690577809_7974748581949991756_g8865705790836825326_531c25894a9357b76706a9d668525cd0.jpg"/>
          <p:cNvPicPr>
            <a:picLocks noChangeAspect="1"/>
          </p:cNvPicPr>
          <p:nvPr/>
        </p:nvPicPr>
        <p:blipFill>
          <a:blip r:embed="rId3"/>
          <a:stretch>
            <a:fillRect/>
          </a:stretch>
        </p:blipFill>
        <p:spPr>
          <a:xfrm>
            <a:off x="914400" y="2230230"/>
            <a:ext cx="2377440" cy="1574578"/>
          </a:xfrm>
          <a:prstGeom prst="rect">
            <a:avLst/>
          </a:prstGeom>
        </p:spPr>
      </p:pic>
      <p:pic>
        <p:nvPicPr>
          <p:cNvPr id="11" name="Picture 10" descr="1790690583700_7974748581949991756_g8865705790836825326_1310cbeb25f3ba9b5ed69e3c2dfa580d.jpg"/>
          <p:cNvPicPr>
            <a:picLocks noChangeAspect="1"/>
          </p:cNvPicPr>
          <p:nvPr/>
        </p:nvPicPr>
        <p:blipFill>
          <a:blip r:embed="rId4"/>
          <a:stretch>
            <a:fillRect/>
          </a:stretch>
        </p:blipFill>
        <p:spPr>
          <a:xfrm>
            <a:off x="3383280" y="2018048"/>
            <a:ext cx="2377440" cy="1998942"/>
          </a:xfrm>
          <a:prstGeom prst="rect">
            <a:avLst/>
          </a:prstGeom>
        </p:spPr>
      </p:pic>
      <p:sp>
        <p:nvSpPr>
          <p:cNvPr id="12" name="TextBox 11"/>
          <p:cNvSpPr txBox="1"/>
          <p:nvPr/>
        </p:nvSpPr>
        <p:spPr>
          <a:xfrm>
            <a:off x="914400" y="4251960"/>
            <a:ext cx="4846320" cy="1965960"/>
          </a:xfrm>
          <a:prstGeom prst="rect">
            <a:avLst/>
          </a:prstGeom>
          <a:noFill/>
        </p:spPr>
        <p:txBody>
          <a:bodyPr wrap="square" tIns="91440" bIns="91440">
            <a:spAutoFit/>
          </a:bodyPr>
          <a:lstStyle/>
          <a:p/>
          <a:p>
            <a:pPr>
              <a:spcAft>
                <a:spcPts val="600"/>
              </a:spcAft>
            </a:pPr>
            <a:r>
              <a:rPr sz="1350" b="1">
                <a:solidFill>
                  <a:srgbClr val="1B365D"/>
                </a:solidFill>
                <a:latin typeface="Arial"/>
              </a:rPr>
              <a:t>• Mạch cầu phân áp + Relay: </a:t>
            </a:r>
            <a:r>
              <a:rPr sz="1350">
                <a:solidFill>
                  <a:srgbClr val="222222"/>
                </a:solidFill>
                <a:latin typeface="Calibri"/>
              </a:rPr>
              <a:t>Tín hiệu điện áp qua quang trở LDR được đưa vào chân Analog hoặc so sánh qua LM393 để kích đóng ngắt Relay.</a:t>
            </a:r>
          </a:p>
          <a:p>
            <a:pPr>
              <a:spcAft>
                <a:spcPts val="600"/>
              </a:spcAft>
            </a:pPr>
            <a:r>
              <a:rPr sz="1350" b="1">
                <a:solidFill>
                  <a:srgbClr val="1B365D"/>
                </a:solidFill>
                <a:latin typeface="Arial"/>
              </a:rPr>
              <a:t>• Ứng dụng thực tế: </a:t>
            </a:r>
            <a:r>
              <a:rPr sz="1350">
                <a:solidFill>
                  <a:srgbClr val="222222"/>
                </a:solidFill>
                <a:latin typeface="Calibri"/>
              </a:rPr>
              <a:t>Đèn đường công cộng tự động bật sáng khi trời chập tối và tự động tắt khi trời sáng, tiết kiệm năng lượng quốc gia.</a:t>
            </a:r>
          </a:p>
        </p:txBody>
      </p:sp>
      <p:sp>
        <p:nvSpPr>
          <p:cNvPr id="13" name="Rounded Rectangle 12"/>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08760"/>
            <a:ext cx="4846320" cy="411480"/>
          </a:xfrm>
          <a:prstGeom prst="rect">
            <a:avLst/>
          </a:prstGeom>
          <a:noFill/>
        </p:spPr>
        <p:txBody>
          <a:bodyPr wrap="square" tIns="91440" bIns="91440">
            <a:spAutoFit/>
          </a:bodyPr>
          <a:lstStyle/>
          <a:p>
            <a:pPr>
              <a:defRPr sz="1500" b="1">
                <a:solidFill>
                  <a:srgbClr val="C0392B"/>
                </a:solidFill>
                <a:latin typeface="Arial"/>
              </a:defRPr>
            </a:pPr>
            <a:r>
              <a:t>BH1750 &amp; TỰ ĐỘNG CHỈNH ĐỘ SÁNG MÀN HÌNH</a:t>
            </a:r>
          </a:p>
        </p:txBody>
      </p:sp>
      <p:pic>
        <p:nvPicPr>
          <p:cNvPr id="15" name="Picture 14" descr="1790690625412_7974748581949991756_g8865705790836825326_50635683e1f30dc71fcde532d432d168.jpg"/>
          <p:cNvPicPr>
            <a:picLocks noChangeAspect="1"/>
          </p:cNvPicPr>
          <p:nvPr/>
        </p:nvPicPr>
        <p:blipFill>
          <a:blip r:embed="rId5"/>
          <a:stretch>
            <a:fillRect/>
          </a:stretch>
        </p:blipFill>
        <p:spPr>
          <a:xfrm>
            <a:off x="6559867" y="1965960"/>
            <a:ext cx="2059305" cy="2103120"/>
          </a:xfrm>
          <a:prstGeom prst="rect">
            <a:avLst/>
          </a:prstGeom>
        </p:spPr>
      </p:pic>
      <p:pic>
        <p:nvPicPr>
          <p:cNvPr id="16" name="Picture 15" descr="1790690644170_7974748581949991756_g8865705790836825326_b168dc4309b2bfdd0e74f313e9d93a5e.jpg"/>
          <p:cNvPicPr>
            <a:picLocks noChangeAspect="1"/>
          </p:cNvPicPr>
          <p:nvPr/>
        </p:nvPicPr>
        <p:blipFill>
          <a:blip r:embed="rId6"/>
          <a:stretch>
            <a:fillRect/>
          </a:stretch>
        </p:blipFill>
        <p:spPr>
          <a:xfrm>
            <a:off x="8869680" y="2274570"/>
            <a:ext cx="2377440" cy="1485900"/>
          </a:xfrm>
          <a:prstGeom prst="rect">
            <a:avLst/>
          </a:prstGeom>
        </p:spPr>
      </p:pic>
      <p:sp>
        <p:nvSpPr>
          <p:cNvPr id="17" name="TextBox 16"/>
          <p:cNvSpPr txBox="1"/>
          <p:nvPr/>
        </p:nvSpPr>
        <p:spPr>
          <a:xfrm>
            <a:off x="6400800" y="4251960"/>
            <a:ext cx="4846320" cy="1965960"/>
          </a:xfrm>
          <a:prstGeom prst="rect">
            <a:avLst/>
          </a:prstGeom>
          <a:noFill/>
        </p:spPr>
        <p:txBody>
          <a:bodyPr wrap="square" tIns="91440" bIns="91440">
            <a:spAutoFit/>
          </a:bodyPr>
          <a:lstStyle/>
          <a:p/>
          <a:p>
            <a:pPr>
              <a:spcAft>
                <a:spcPts val="600"/>
              </a:spcAft>
            </a:pPr>
            <a:r>
              <a:rPr sz="1350" b="1">
                <a:solidFill>
                  <a:srgbClr val="1B365D"/>
                </a:solidFill>
                <a:latin typeface="Arial"/>
              </a:rPr>
              <a:t>• Cảm biến số chuẩn Lux: </a:t>
            </a:r>
            <a:r>
              <a:rPr sz="1350">
                <a:solidFill>
                  <a:srgbClr val="222222"/>
                </a:solidFill>
                <a:latin typeface="Calibri"/>
              </a:rPr>
              <a:t>Đo chính xác cường độ chiếu sáng môi trường từ 1 đến 65,535 Lux qua giao tiếp I2C không dây nhiễu.</a:t>
            </a:r>
          </a:p>
          <a:p>
            <a:pPr>
              <a:spcAft>
                <a:spcPts val="600"/>
              </a:spcAft>
            </a:pPr>
            <a:r>
              <a:rPr sz="1350" b="1">
                <a:solidFill>
                  <a:srgbClr val="1B365D"/>
                </a:solidFill>
                <a:latin typeface="Arial"/>
              </a:rPr>
              <a:t>• Ứng dụng Auto-Brightness: </a:t>
            </a:r>
            <a:r>
              <a:rPr sz="1350">
                <a:solidFill>
                  <a:srgbClr val="222222"/>
                </a:solidFill>
                <a:latin typeface="Calibri"/>
              </a:rPr>
              <a:t>Tự động điều chỉnh độ sáng đèn nền màn hình smartphone, tivi, laptop giúp chống lóa ban ngày và bảo vệ mắt ban đêm.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- 2. CẢM BIẾN KHOẢNG CÁCH</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SIÊU ÂM HC-SR04: NGUYÊN LÝ TIME-OF-FLIGHT</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12/43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NGUYÊN LÝ HOẠT ĐỘNG TIME-OF-FLIGHT</a:t>
            </a:r>
          </a:p>
          <a:p>
            <a:pPr>
              <a:spcAft>
                <a:spcPts val="1200"/>
              </a:spcAft>
            </a:pPr>
            <a:r>
              <a:rPr sz="1450" b="1">
                <a:solidFill>
                  <a:srgbClr val="1B365D"/>
                </a:solidFill>
                <a:latin typeface="Arial"/>
              </a:rPr>
              <a:t>• Cơ chế phát sóng siêu âm: </a:t>
            </a:r>
            <a:r>
              <a:rPr sz="1450">
                <a:solidFill>
                  <a:srgbClr val="222222"/>
                </a:solidFill>
                <a:latin typeface="Calibri"/>
              </a:rPr>
              <a:t>Khi vi điều khiển kích một xung mức HIGH có độ rộng ít nhất 10 µs vào chân Trig, module sẽ tự động phát ra một chùm 8 xung siêu âm tần số 40 kHz từ mắt phát (T).</a:t>
            </a:r>
          </a:p>
          <a:p>
            <a:pPr>
              <a:spcAft>
                <a:spcPts val="1200"/>
              </a:spcAft>
            </a:pPr>
            <a:r>
              <a:rPr sz="1450" b="1">
                <a:solidFill>
                  <a:srgbClr val="1B365D"/>
                </a:solidFill>
                <a:latin typeface="Arial"/>
              </a:rPr>
              <a:t>• Cơ chế thu nhận phản xạ: </a:t>
            </a:r>
            <a:r>
              <a:rPr sz="1450">
                <a:solidFill>
                  <a:srgbClr val="222222"/>
                </a:solidFill>
                <a:latin typeface="Calibri"/>
              </a:rPr>
              <a:t>Sóng âm lan truyền trong không khí chạm vào vật cản sẽ dội ngược về mắt thu (R). Chân Echo sẽ xuất mức HIGH với thời gian đúng bằng thời gian sóng bay đi và dội về.</a:t>
            </a:r>
          </a:p>
          <a:p>
            <a:pPr>
              <a:spcAft>
                <a:spcPts val="1200"/>
              </a:spcAft>
            </a:pPr>
            <a:r>
              <a:rPr sz="1450" b="1">
                <a:solidFill>
                  <a:srgbClr val="1B365D"/>
                </a:solidFill>
                <a:latin typeface="Arial"/>
              </a:rPr>
              <a:t>• Công thức vật lý tính khoảng cách: </a:t>
            </a:r>
            <a:r>
              <a:rPr sz="1450">
                <a:solidFill>
                  <a:srgbClr val="222222"/>
                </a:solidFill>
                <a:latin typeface="Calibri"/>
              </a:rPr>
              <a:t>$d = (t \times v) / 2 = (t \times 0.0343) / 2$ (cm), với vận tốc âm thanh trong không khí $v \approx 343$ m/s.</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THÔNG SỐ VÀ ĐẶC TÍNH KỸ THUẬT</a:t>
            </a:r>
          </a:p>
          <a:p>
            <a:pPr>
              <a:spcAft>
                <a:spcPts val="1000"/>
              </a:spcAft>
            </a:pPr>
            <a:r>
              <a:rPr sz="1450" b="1">
                <a:solidFill>
                  <a:srgbClr val="1B365D"/>
                </a:solidFill>
                <a:latin typeface="Arial"/>
              </a:rPr>
              <a:t>• Dải đo khoảng cách hiệu dụng: </a:t>
            </a:r>
            <a:r>
              <a:rPr sz="1450">
                <a:solidFill>
                  <a:srgbClr val="222222"/>
                </a:solidFill>
                <a:latin typeface="Calibri"/>
              </a:rPr>
              <a:t>Từ 2 cm đến 400 cm (Độ phân giải đọc đạt ±3 mm).</a:t>
            </a:r>
          </a:p>
          <a:p>
            <a:pPr>
              <a:spcAft>
                <a:spcPts val="1000"/>
              </a:spcAft>
            </a:pPr>
            <a:r>
              <a:rPr sz="1450" b="1">
                <a:solidFill>
                  <a:srgbClr val="1B365D"/>
                </a:solidFill>
                <a:latin typeface="Arial"/>
              </a:rPr>
              <a:t>• Góc quét đo lường: </a:t>
            </a:r>
            <a:r>
              <a:rPr sz="1450">
                <a:solidFill>
                  <a:srgbClr val="222222"/>
                </a:solidFill>
                <a:latin typeface="Calibri"/>
              </a:rPr>
              <a:t>Góc hình nón khoảng 15° (đo tốt nhất khi vật cản đặt trực diện vuông góc với cảm biến).</a:t>
            </a:r>
          </a:p>
          <a:p>
            <a:pPr>
              <a:spcAft>
                <a:spcPts val="1000"/>
              </a:spcAft>
            </a:pPr>
            <a:r>
              <a:rPr sz="1450" b="1">
                <a:solidFill>
                  <a:srgbClr val="1B365D"/>
                </a:solidFill>
                <a:latin typeface="Arial"/>
              </a:rPr>
              <a:t>• Điện áp &amp; Dòng tiêu thụ: </a:t>
            </a:r>
            <a:r>
              <a:rPr sz="1450">
                <a:solidFill>
                  <a:srgbClr val="222222"/>
                </a:solidFill>
                <a:latin typeface="Calibri"/>
              </a:rPr>
              <a:t>Nguồn cấp 5V DC, dòng điện làm việc tĩnh &lt; 2 mA, khi phát xung khoảng 15 mA.</a:t>
            </a:r>
          </a:p>
          <a:p>
            <a:pPr>
              <a:spcAft>
                <a:spcPts val="1000"/>
              </a:spcAft>
            </a:pPr>
            <a:r>
              <a:rPr sz="1450" b="1">
                <a:solidFill>
                  <a:srgbClr val="1B365D"/>
                </a:solidFill>
                <a:latin typeface="Arial"/>
              </a:rPr>
              <a:t>• Ưu điểm vượt trội: </a:t>
            </a:r>
            <a:r>
              <a:rPr sz="1450">
                <a:solidFill>
                  <a:srgbClr val="222222"/>
                </a:solidFill>
                <a:latin typeface="Calibri"/>
              </a:rPr>
              <a:t>Hoàn toàn không bị ảnh hưởng bởi màu sắc vật thể hay độ sáng tối của môi trường xung quanh.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- 2. CẢM BIẾN KHOẢNG CÁCH</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HỒNG NGOẠI PHẢN XẠ IR FC-51</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13/43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NGUYÊN LÝ PHÁT - THU HỒNG NGOẠI</a:t>
            </a:r>
          </a:p>
          <a:p>
            <a:pPr>
              <a:spcAft>
                <a:spcPts val="1200"/>
              </a:spcAft>
            </a:pPr>
            <a:r>
              <a:rPr sz="1450" b="1">
                <a:solidFill>
                  <a:srgbClr val="1B365D"/>
                </a:solidFill>
                <a:latin typeface="Arial"/>
              </a:rPr>
              <a:t>• Cặp LED phát - thu quang học: </a:t>
            </a:r>
            <a:r>
              <a:rPr sz="1450">
                <a:solidFill>
                  <a:srgbClr val="222222"/>
                </a:solidFill>
                <a:latin typeface="Calibri"/>
              </a:rPr>
              <a:t>LED phát hồng ngoại (màu trắng trong) liên tục phát chùm tia hồng ngoại không nhìn thấy được. Photodiode thu (màu đen) có nhiệm vụ cảm nhận cường độ bức xạ phản xạ dội ngược lại.</a:t>
            </a:r>
          </a:p>
          <a:p>
            <a:pPr>
              <a:spcAft>
                <a:spcPts val="1200"/>
              </a:spcAft>
            </a:pPr>
            <a:r>
              <a:rPr sz="1450" b="1">
                <a:solidFill>
                  <a:srgbClr val="1B365D"/>
                </a:solidFill>
                <a:latin typeface="Arial"/>
              </a:rPr>
              <a:t>• Vi mạch so sánh LM393: </a:t>
            </a:r>
            <a:r>
              <a:rPr sz="1450">
                <a:solidFill>
                  <a:srgbClr val="222222"/>
                </a:solidFill>
                <a:latin typeface="Calibri"/>
              </a:rPr>
              <a:t>Điện áp từ photodiode được đưa vào mạch op-amp so sánh với điện áp ngưỡng do biến trở thiết lập.</a:t>
            </a:r>
          </a:p>
          <a:p>
            <a:pPr>
              <a:spcAft>
                <a:spcPts val="1200"/>
              </a:spcAft>
            </a:pPr>
            <a:r>
              <a:rPr sz="1450" b="1">
                <a:solidFill>
                  <a:srgbClr val="1B365D"/>
                </a:solidFill>
                <a:latin typeface="Arial"/>
              </a:rPr>
              <a:t>• Tín hiệu logic ngõ ra (OUT): </a:t>
            </a:r>
            <a:r>
              <a:rPr sz="1450">
                <a:solidFill>
                  <a:srgbClr val="222222"/>
                </a:solidFill>
                <a:latin typeface="Calibri"/>
              </a:rPr>
              <a:t>Mức LOW (0V) khi có vật cản phản xạ tia hồng ngoại; Mức HIGH (5V) khi không có vật cản phía trước.</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THÔNG SỐ VÀ ĐẶC TÍNH HOẠT ĐỘNG</a:t>
            </a:r>
          </a:p>
          <a:p>
            <a:pPr>
              <a:spcAft>
                <a:spcPts val="1000"/>
              </a:spcAft>
            </a:pPr>
            <a:r>
              <a:rPr sz="1450" b="1">
                <a:solidFill>
                  <a:srgbClr val="1B365D"/>
                </a:solidFill>
                <a:latin typeface="Arial"/>
              </a:rPr>
              <a:t>• Cự ly phát hiện làm việc: </a:t>
            </a:r>
            <a:r>
              <a:rPr sz="1450">
                <a:solidFill>
                  <a:srgbClr val="222222"/>
                </a:solidFill>
                <a:latin typeface="Calibri"/>
              </a:rPr>
              <a:t>Từ 2 cm đến 30 cm (Tùy chỉnh linh hoạt bằng biến trở xoay trên bo mạch).</a:t>
            </a:r>
          </a:p>
          <a:p>
            <a:pPr>
              <a:spcAft>
                <a:spcPts val="1000"/>
              </a:spcAft>
            </a:pPr>
            <a:r>
              <a:rPr sz="1450" b="1">
                <a:solidFill>
                  <a:srgbClr val="1B365D"/>
                </a:solidFill>
                <a:latin typeface="Arial"/>
              </a:rPr>
              <a:t>• Góc nhận diện: </a:t>
            </a:r>
            <a:r>
              <a:rPr sz="1450">
                <a:solidFill>
                  <a:srgbClr val="222222"/>
                </a:solidFill>
                <a:latin typeface="Calibri"/>
              </a:rPr>
              <a:t>Góc mở hẹp khoảng 35°, giúp định vị vật thể trực diện cực tốt.</a:t>
            </a:r>
          </a:p>
          <a:p>
            <a:pPr>
              <a:spcAft>
                <a:spcPts val="1000"/>
              </a:spcAft>
            </a:pPr>
            <a:r>
              <a:rPr sz="1450" b="1">
                <a:solidFill>
                  <a:srgbClr val="1B365D"/>
                </a:solidFill>
                <a:latin typeface="Arial"/>
              </a:rPr>
              <a:t>• Độ phụ thuộc bề mặt phản xạ: </a:t>
            </a:r>
            <a:r>
              <a:rPr sz="1450">
                <a:solidFill>
                  <a:srgbClr val="222222"/>
                </a:solidFill>
                <a:latin typeface="Calibri"/>
              </a:rPr>
              <a:t>Vật thể màu trắng hoặc sáng phản xạ hồng ngoại mạnh (cự ly xa); bề mặt màu đen hấp thụ tia hồng ngoại mạnh (cự ly cực ngắn).</a:t>
            </a:r>
          </a:p>
          <a:p>
            <a:pPr>
              <a:spcAft>
                <a:spcPts val="1000"/>
              </a:spcAft>
            </a:pPr>
            <a:r>
              <a:rPr sz="1450" b="1">
                <a:solidFill>
                  <a:srgbClr val="1B365D"/>
                </a:solidFill>
                <a:latin typeface="Arial"/>
              </a:rPr>
              <a:t>• Ứng dụng phổ biến: </a:t>
            </a:r>
            <a:r>
              <a:rPr sz="1450">
                <a:solidFill>
                  <a:srgbClr val="222222"/>
                </a:solidFill>
                <a:latin typeface="Calibri"/>
              </a:rPr>
              <a:t>Robot dò line chạy theo đường vạch, đếm sản phẩm chạy trên băng tải nhà máy, cảm biến tiệm cận chống va chạm.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- 2. CẢM BIẾN KHOẢNG CÁCH</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CHUYỂN ĐỘNG THÂN NHIỆT PIR HC-SR501</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14/43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NGUYÊN LÝ BỨC XẠ THÂN NHIỆT PIR</a:t>
            </a:r>
          </a:p>
          <a:p>
            <a:pPr>
              <a:spcAft>
                <a:spcPts val="1000"/>
              </a:spcAft>
            </a:pPr>
            <a:r>
              <a:rPr sz="1450" b="1">
                <a:solidFill>
                  <a:srgbClr val="1B365D"/>
                </a:solidFill>
                <a:latin typeface="Arial"/>
              </a:rPr>
              <a:t>• Thụ động (Passive Infrared): </a:t>
            </a:r>
            <a:r>
              <a:rPr sz="1450">
                <a:solidFill>
                  <a:srgbClr val="222222"/>
                </a:solidFill>
                <a:latin typeface="Calibri"/>
              </a:rPr>
              <a:t>Cảm biến hoàn toàn không tự phát ra bất kỳ tia nào, mà chỉ thụ động hấp thụ bức xạ hồng ngoại phát ra từ cơ thể người và động vật có thân nhiệt (bước sóng xấp xỉ 9.4 µm).</a:t>
            </a:r>
          </a:p>
          <a:p>
            <a:pPr>
              <a:spcAft>
                <a:spcPts val="1000"/>
              </a:spcAft>
            </a:pPr>
            <a:r>
              <a:rPr sz="1450" b="1">
                <a:solidFill>
                  <a:srgbClr val="1B365D"/>
                </a:solidFill>
                <a:latin typeface="Arial"/>
              </a:rPr>
              <a:t>• Màng tinh thể nhiệt điện (Pyroelectric): </a:t>
            </a:r>
            <a:r>
              <a:rPr sz="1450">
                <a:solidFill>
                  <a:srgbClr val="222222"/>
                </a:solidFill>
                <a:latin typeface="Calibri"/>
              </a:rPr>
              <a:t>Tạo ra điện tích vi mô khi năng lượng hồng ngoại tác động làm thay đổi nhiệt độ bề mặt màng.</a:t>
            </a:r>
          </a:p>
          <a:p>
            <a:pPr>
              <a:spcAft>
                <a:spcPts val="1000"/>
              </a:spcAft>
            </a:pPr>
            <a:r>
              <a:rPr sz="1450" b="1">
                <a:solidFill>
                  <a:srgbClr val="1B365D"/>
                </a:solidFill>
                <a:latin typeface="Arial"/>
              </a:rPr>
              <a:t>• Thấu kính vòm Fresnel: </a:t>
            </a:r>
            <a:r>
              <a:rPr sz="1450">
                <a:solidFill>
                  <a:srgbClr val="222222"/>
                </a:solidFill>
                <a:latin typeface="Calibri"/>
              </a:rPr>
              <a:t>Tập trung và phân tách không gian quét thành nhiều vùng quang học xen kẽ, biến chuyển động cắt ngang thành xung điện áp giao động liên tục.</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THÔNG SỐ VÀ CÁC CHẾ ĐỘ KÍCH HOẠT</a:t>
            </a:r>
          </a:p>
          <a:p>
            <a:pPr>
              <a:spcAft>
                <a:spcPts val="1000"/>
              </a:spcAft>
            </a:pPr>
            <a:r>
              <a:rPr sz="1450" b="1">
                <a:solidFill>
                  <a:srgbClr val="1B365D"/>
                </a:solidFill>
                <a:latin typeface="Arial"/>
              </a:rPr>
              <a:t>• Góc quét &amp; Khoảng cách: </a:t>
            </a:r>
            <a:r>
              <a:rPr sz="1450">
                <a:solidFill>
                  <a:srgbClr val="222222"/>
                </a:solidFill>
                <a:latin typeface="Calibri"/>
              </a:rPr>
              <a:t>Góc quét hình nón 110° - 120°, tầm xa phát hiện lên tới 7 mét.</a:t>
            </a:r>
          </a:p>
          <a:p>
            <a:pPr>
              <a:spcAft>
                <a:spcPts val="1000"/>
              </a:spcAft>
            </a:pPr>
            <a:r>
              <a:rPr sz="1450" b="1">
                <a:solidFill>
                  <a:srgbClr val="1B365D"/>
                </a:solidFill>
                <a:latin typeface="Arial"/>
              </a:rPr>
              <a:t>• 2 biến trở tinh chỉnh tích hợp: </a:t>
            </a:r>
            <a:r>
              <a:rPr sz="1450">
                <a:solidFill>
                  <a:srgbClr val="222222"/>
                </a:solidFill>
                <a:latin typeface="Calibri"/>
              </a:rPr>
              <a:t>1 biến trở chỉnh cự ly nhạy (Sensitivity: 3m - 7m) và 1 biến trở chỉnh thời gian trễ duy trì xung (Time delay: 3s - 300s).</a:t>
            </a:r>
          </a:p>
          <a:p>
            <a:pPr>
              <a:spcAft>
                <a:spcPts val="1000"/>
              </a:spcAft>
            </a:pPr>
            <a:r>
              <a:rPr sz="1450" b="1">
                <a:solidFill>
                  <a:srgbClr val="1B365D"/>
                </a:solidFill>
                <a:latin typeface="Arial"/>
              </a:rPr>
              <a:t>• Chế độ kích hoạt Jumper: </a:t>
            </a:r>
            <a:r>
              <a:rPr sz="1450">
                <a:solidFill>
                  <a:srgbClr val="222222"/>
                </a:solidFill>
                <a:latin typeface="Calibri"/>
              </a:rPr>
              <a:t>H (Repeat Trigger): Giữ mức HIGH liên tục khi có người di chuyển liên tục trong phòng; L (Single Trigger): Xuất xung HIGH rồi trở về LOW dù người vẫn còn đó.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- 2. CẢM BIẾN KHOẢNG CÁCH</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SƠ ĐỒ ĐẤU NỐI HC-SR04 &amp; ỨNG DỤNG XE TỰ HÀNH</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15/43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SƠ ĐỒ ĐẤU NỐI HC-SR04 VỚI ARDUINO UNO</a:t>
            </a:r>
          </a:p>
        </p:txBody>
      </p:sp>
      <p:pic>
        <p:nvPicPr>
          <p:cNvPr id="10" name="Picture 9" descr="1790689116898_1553325153923347817_g8865705790836825326_e9bb98e8732974b984b6659b3d9cb674.jpg"/>
          <p:cNvPicPr>
            <a:picLocks noChangeAspect="1"/>
          </p:cNvPicPr>
          <p:nvPr/>
        </p:nvPicPr>
        <p:blipFill>
          <a:blip r:embed="rId3"/>
          <a:stretch>
            <a:fillRect/>
          </a:stretch>
        </p:blipFill>
        <p:spPr>
          <a:xfrm>
            <a:off x="2103120" y="1965960"/>
            <a:ext cx="2468880" cy="2468880"/>
          </a:xfrm>
          <a:prstGeom prst="rect">
            <a:avLst/>
          </a:prstGeom>
        </p:spPr>
      </p:pic>
      <p:sp>
        <p:nvSpPr>
          <p:cNvPr id="11" name="TextBox 10"/>
          <p:cNvSpPr txBox="1"/>
          <p:nvPr/>
        </p:nvSpPr>
        <p:spPr>
          <a:xfrm>
            <a:off x="9144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Bảng phân chân kết nối: </a:t>
            </a:r>
            <a:r>
              <a:rPr sz="1350">
                <a:solidFill>
                  <a:srgbClr val="222222"/>
                </a:solidFill>
                <a:latin typeface="Calibri"/>
              </a:rPr>
              <a:t>VCC nối 5V, GND nối đất, chân Trig nối Digital D9 (kích xung phát), chân Echo nối Digital D10 (thu xung phản xạ).</a:t>
            </a:r>
          </a:p>
          <a:p>
            <a:pPr>
              <a:spcAft>
                <a:spcPts val="600"/>
              </a:spcAft>
            </a:pPr>
            <a:r>
              <a:rPr sz="1350" b="1">
                <a:solidFill>
                  <a:srgbClr val="1B365D"/>
                </a:solidFill>
                <a:latin typeface="Arial"/>
              </a:rPr>
              <a:t>• Nguyên lý đo thời gian: </a:t>
            </a:r>
            <a:r>
              <a:rPr sz="1350">
                <a:solidFill>
                  <a:srgbClr val="222222"/>
                </a:solidFill>
                <a:latin typeface="Calibri"/>
              </a:rPr>
              <a:t>Lệnh pulseIn(echoPin, HIGH) đo chính xác thời gian microsecond từ lúc phát đến lúc nhận xung.</a:t>
            </a:r>
          </a:p>
        </p:txBody>
      </p:sp>
      <p:sp>
        <p:nvSpPr>
          <p:cNvPr id="12" name="Rounded Rectangle 11"/>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08760"/>
            <a:ext cx="4846320" cy="411480"/>
          </a:xfrm>
          <a:prstGeom prst="rect">
            <a:avLst/>
          </a:prstGeom>
          <a:noFill/>
        </p:spPr>
        <p:txBody>
          <a:bodyPr wrap="square" tIns="91440" bIns="91440">
            <a:spAutoFit/>
          </a:bodyPr>
          <a:lstStyle/>
          <a:p>
            <a:pPr>
              <a:defRPr sz="1500" b="1">
                <a:solidFill>
                  <a:srgbClr val="C0392B"/>
                </a:solidFill>
                <a:latin typeface="Arial"/>
              </a:defRPr>
            </a:pPr>
            <a:r>
              <a:t>ỨNG DỤNG XE TỰ HÀNH TRÁNH VẬT CẢN (OBSTACLE CAR)</a:t>
            </a:r>
          </a:p>
        </p:txBody>
      </p:sp>
      <p:pic>
        <p:nvPicPr>
          <p:cNvPr id="14" name="Picture 13" descr="1790689118653_1553325153923347817_g8865705790836825326_9a7aaf52aef941d682f7118f38b4e8ce.jpg"/>
          <p:cNvPicPr>
            <a:picLocks noChangeAspect="1"/>
          </p:cNvPicPr>
          <p:nvPr/>
        </p:nvPicPr>
        <p:blipFill>
          <a:blip r:embed="rId4"/>
          <a:stretch>
            <a:fillRect/>
          </a:stretch>
        </p:blipFill>
        <p:spPr>
          <a:xfrm>
            <a:off x="7531655" y="1965960"/>
            <a:ext cx="2584608" cy="2468880"/>
          </a:xfrm>
          <a:prstGeom prst="rect">
            <a:avLst/>
          </a:prstGeom>
        </p:spPr>
      </p:pic>
      <p:sp>
        <p:nvSpPr>
          <p:cNvPr id="15" name="TextBox 14"/>
          <p:cNvSpPr txBox="1"/>
          <p:nvPr/>
        </p:nvSpPr>
        <p:spPr>
          <a:xfrm>
            <a:off x="64008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Mắt thần dẫn đường: </a:t>
            </a:r>
            <a:r>
              <a:rPr sz="1350">
                <a:solidFill>
                  <a:srgbClr val="222222"/>
                </a:solidFill>
                <a:latin typeface="Calibri"/>
              </a:rPr>
              <a:t>Cảm biến gắn phía trước xe hoặc trên động cơ Servo quét góc 180° để phát hiện cự ly chướng ngại vật.</a:t>
            </a:r>
          </a:p>
          <a:p>
            <a:pPr>
              <a:spcAft>
                <a:spcPts val="600"/>
              </a:spcAft>
            </a:pPr>
            <a:r>
              <a:rPr sz="1350" b="1">
                <a:solidFill>
                  <a:srgbClr val="1B365D"/>
                </a:solidFill>
                <a:latin typeface="Arial"/>
              </a:rPr>
              <a:t>• Thuật toán điều hướng: </a:t>
            </a:r>
            <a:r>
              <a:rPr sz="1350">
                <a:solidFill>
                  <a:srgbClr val="222222"/>
                </a:solidFill>
                <a:latin typeface="Calibri"/>
              </a:rPr>
              <a:t>Khi khoảng cách phía trước &lt; 20 cm, vi điều khiển ra lệnh dừng xe, lùi lại và đánh lái rẽ sang hướng thông thoáng nhất.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- 2. CẢM BIẾN KHOẢNG CÁCH</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SƠ ĐỒ ĐẤU NỐI IR FC-51 &amp; ỨNG DỤNG REMOTE ĐIỀU KHIỂN</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16/43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SƠ ĐỒ ĐẤU NỐI CẢM BIẾN TIỆM CẬN IR</a:t>
            </a:r>
          </a:p>
        </p:txBody>
      </p:sp>
      <p:pic>
        <p:nvPicPr>
          <p:cNvPr id="10" name="Picture 9" descr="1790689675789_1553325153923347817_g8865705790836825326_d6c24d148ffaa60cd8e8bc5779a95733.jpg"/>
          <p:cNvPicPr>
            <a:picLocks noChangeAspect="1"/>
          </p:cNvPicPr>
          <p:nvPr/>
        </p:nvPicPr>
        <p:blipFill>
          <a:blip r:embed="rId3"/>
          <a:stretch>
            <a:fillRect/>
          </a:stretch>
        </p:blipFill>
        <p:spPr>
          <a:xfrm>
            <a:off x="2030355" y="1965960"/>
            <a:ext cx="2614408" cy="2468880"/>
          </a:xfrm>
          <a:prstGeom prst="rect">
            <a:avLst/>
          </a:prstGeom>
        </p:spPr>
      </p:pic>
      <p:sp>
        <p:nvSpPr>
          <p:cNvPr id="11" name="TextBox 10"/>
          <p:cNvSpPr txBox="1"/>
          <p:nvPr/>
        </p:nvSpPr>
        <p:spPr>
          <a:xfrm>
            <a:off x="9144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Đấu nối 3 chân tiêu chuẩn: </a:t>
            </a:r>
            <a:r>
              <a:rPr sz="1350">
                <a:solidFill>
                  <a:srgbClr val="222222"/>
                </a:solidFill>
                <a:latin typeface="Calibri"/>
              </a:rPr>
              <a:t>VCC nối 5V, GND nối đất, OUT nối Digital D2 Arduino. Xoay biến trở trên module để điều chỉnh khoảng cách kích hoạt mong muốn.</a:t>
            </a:r>
          </a:p>
          <a:p>
            <a:pPr>
              <a:spcAft>
                <a:spcPts val="600"/>
              </a:spcAft>
            </a:pPr>
            <a:r>
              <a:rPr sz="1350" b="1">
                <a:solidFill>
                  <a:srgbClr val="1B365D"/>
                </a:solidFill>
                <a:latin typeface="Arial"/>
              </a:rPr>
              <a:t>• Đèn LED chỉ thị trạng thái: </a:t>
            </a:r>
            <a:r>
              <a:rPr sz="1350">
                <a:solidFill>
                  <a:srgbClr val="222222"/>
                </a:solidFill>
                <a:latin typeface="Calibri"/>
              </a:rPr>
              <a:t>LED nguồn luôn sáng; LED tín hiệu sáng rực khi phát hiện có vật thể trong phạm vi nhạy.</a:t>
            </a:r>
          </a:p>
        </p:txBody>
      </p:sp>
      <p:sp>
        <p:nvSpPr>
          <p:cNvPr id="12" name="Rounded Rectangle 11"/>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08760"/>
            <a:ext cx="4846320" cy="411480"/>
          </a:xfrm>
          <a:prstGeom prst="rect">
            <a:avLst/>
          </a:prstGeom>
          <a:noFill/>
        </p:spPr>
        <p:txBody>
          <a:bodyPr wrap="square" tIns="91440" bIns="91440">
            <a:spAutoFit/>
          </a:bodyPr>
          <a:lstStyle/>
          <a:p>
            <a:pPr>
              <a:defRPr sz="1500" b="1">
                <a:solidFill>
                  <a:srgbClr val="C0392B"/>
                </a:solidFill>
                <a:latin typeface="Arial"/>
              </a:defRPr>
            </a:pPr>
            <a:r>
              <a:t>ỨNG DỤNG GIẢI MÃ REMOTE ĐIỀU KHIỂN HỒNG NGOẠI</a:t>
            </a:r>
          </a:p>
        </p:txBody>
      </p:sp>
      <p:pic>
        <p:nvPicPr>
          <p:cNvPr id="14" name="Picture 13" descr="1790689678823_1553325153923347817_g8865705790836825326_98a5d30d263c3f594bfef384f5b480f8.jpg"/>
          <p:cNvPicPr>
            <a:picLocks noChangeAspect="1"/>
          </p:cNvPicPr>
          <p:nvPr/>
        </p:nvPicPr>
        <p:blipFill>
          <a:blip r:embed="rId4"/>
          <a:stretch>
            <a:fillRect/>
          </a:stretch>
        </p:blipFill>
        <p:spPr>
          <a:xfrm>
            <a:off x="7898130" y="1965960"/>
            <a:ext cx="1851660" cy="2468880"/>
          </a:xfrm>
          <a:prstGeom prst="rect">
            <a:avLst/>
          </a:prstGeom>
        </p:spPr>
      </p:pic>
      <p:sp>
        <p:nvSpPr>
          <p:cNvPr id="15" name="TextBox 14"/>
          <p:cNvSpPr txBox="1"/>
          <p:nvPr/>
        </p:nvSpPr>
        <p:spPr>
          <a:xfrm>
            <a:off x="64008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Mắt thu hồng ngoại 38 kHz: </a:t>
            </a:r>
            <a:r>
              <a:rPr sz="1350">
                <a:solidFill>
                  <a:srgbClr val="222222"/>
                </a:solidFill>
                <a:latin typeface="Calibri"/>
              </a:rPr>
              <a:t>Thu nhận chuỗi xung mã hóa điều biến (giao thức NEC) phát ra từ các loại Remote tivi, quạt, điều hòa.</a:t>
            </a:r>
          </a:p>
          <a:p>
            <a:pPr>
              <a:spcAft>
                <a:spcPts val="600"/>
              </a:spcAft>
            </a:pPr>
            <a:r>
              <a:rPr sz="1350" b="1">
                <a:solidFill>
                  <a:srgbClr val="1B365D"/>
                </a:solidFill>
                <a:latin typeface="Arial"/>
              </a:rPr>
              <a:t>• Điều khiển thiết bị từ xa: </a:t>
            </a:r>
            <a:r>
              <a:rPr sz="1350">
                <a:solidFill>
                  <a:srgbClr val="222222"/>
                </a:solidFill>
                <a:latin typeface="Calibri"/>
              </a:rPr>
              <a:t>Arduino giải mã mã Hex của từng phím bấm để điều khiển bật/tắt quạt, đèn và các thiết bị gia dụng trong hệ thống Smart Home.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- 2. CẢM BIẾN KHOẢNG CÁCH</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SƠ ĐỒ ĐẤU NỐI PIR &amp; ỨNG DỤNG CỬA TRƯỢT TỰ ĐỘNG</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17/43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SƠ ĐỒ ĐẤU NỐI PIR KÍCH HOẠT RELAY</a:t>
            </a:r>
          </a:p>
        </p:txBody>
      </p:sp>
      <p:pic>
        <p:nvPicPr>
          <p:cNvPr id="10" name="Picture 9" descr="1790689656793_1553325153923347817_g8865705790836825326_4c65395aaaa24233cf6a3f0503001cd3.jpg"/>
          <p:cNvPicPr>
            <a:picLocks noChangeAspect="1"/>
          </p:cNvPicPr>
          <p:nvPr/>
        </p:nvPicPr>
        <p:blipFill>
          <a:blip r:embed="rId3"/>
          <a:stretch>
            <a:fillRect/>
          </a:stretch>
        </p:blipFill>
        <p:spPr>
          <a:xfrm>
            <a:off x="2103120" y="1965960"/>
            <a:ext cx="2468880" cy="2468880"/>
          </a:xfrm>
          <a:prstGeom prst="rect">
            <a:avLst/>
          </a:prstGeom>
        </p:spPr>
      </p:pic>
      <p:sp>
        <p:nvSpPr>
          <p:cNvPr id="11" name="TextBox 10"/>
          <p:cNvSpPr txBox="1"/>
          <p:nvPr/>
        </p:nvSpPr>
        <p:spPr>
          <a:xfrm>
            <a:off x="9144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Nối dây điều khiển an toàn: </a:t>
            </a:r>
            <a:r>
              <a:rPr sz="1350">
                <a:solidFill>
                  <a:srgbClr val="222222"/>
                </a:solidFill>
                <a:latin typeface="Calibri"/>
              </a:rPr>
              <a:t>VCC nối 5V, GND nối đất, chân tín hiệu OUT nối vào chân kích IN của module Relay đóng ngắt điện 220V.</a:t>
            </a:r>
          </a:p>
          <a:p>
            <a:pPr>
              <a:spcAft>
                <a:spcPts val="600"/>
              </a:spcAft>
            </a:pPr>
            <a:r>
              <a:rPr sz="1350" b="1">
                <a:solidFill>
                  <a:srgbClr val="1B365D"/>
                </a:solidFill>
                <a:latin typeface="Arial"/>
              </a:rPr>
              <a:t>• Tự động ngắt trễ: </a:t>
            </a:r>
            <a:r>
              <a:rPr sz="1350">
                <a:solidFill>
                  <a:srgbClr val="222222"/>
                </a:solidFill>
                <a:latin typeface="Calibri"/>
              </a:rPr>
              <a:t>Biến trở Time Delay cho phép đèn hoặc thiết bị duy trì trạng thái hoạt động trong 10-30 giây sau khi người rời đi.</a:t>
            </a:r>
          </a:p>
        </p:txBody>
      </p:sp>
      <p:sp>
        <p:nvSpPr>
          <p:cNvPr id="12" name="Rounded Rectangle 11"/>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08760"/>
            <a:ext cx="4846320" cy="411480"/>
          </a:xfrm>
          <a:prstGeom prst="rect">
            <a:avLst/>
          </a:prstGeom>
          <a:noFill/>
        </p:spPr>
        <p:txBody>
          <a:bodyPr wrap="square" tIns="91440" bIns="91440">
            <a:spAutoFit/>
          </a:bodyPr>
          <a:lstStyle/>
          <a:p>
            <a:pPr>
              <a:defRPr sz="1500" b="1">
                <a:solidFill>
                  <a:srgbClr val="C0392B"/>
                </a:solidFill>
                <a:latin typeface="Arial"/>
              </a:defRPr>
            </a:pPr>
            <a:r>
              <a:t>ỨNG DỤNG CỬA KÍNH TRƯỢT TỰ ĐỘNG SIÊU THỊ</a:t>
            </a:r>
          </a:p>
        </p:txBody>
      </p:sp>
      <p:pic>
        <p:nvPicPr>
          <p:cNvPr id="14" name="Picture 13" descr="1790689660030_1553325153923347817_g8865705790836825326_4552126a8afcf871b4cac42cd3f8090a.jpg"/>
          <p:cNvPicPr>
            <a:picLocks noChangeAspect="1"/>
          </p:cNvPicPr>
          <p:nvPr/>
        </p:nvPicPr>
        <p:blipFill>
          <a:blip r:embed="rId4"/>
          <a:stretch>
            <a:fillRect/>
          </a:stretch>
        </p:blipFill>
        <p:spPr>
          <a:xfrm>
            <a:off x="7179329" y="1965960"/>
            <a:ext cx="3289260" cy="2468880"/>
          </a:xfrm>
          <a:prstGeom prst="rect">
            <a:avLst/>
          </a:prstGeom>
        </p:spPr>
      </p:pic>
      <p:sp>
        <p:nvSpPr>
          <p:cNvPr id="15" name="TextBox 14"/>
          <p:cNvSpPr txBox="1"/>
          <p:nvPr/>
        </p:nvSpPr>
        <p:spPr>
          <a:xfrm>
            <a:off x="6400800" y="4526280"/>
            <a:ext cx="4846320" cy="1691640"/>
          </a:xfrm>
          <a:prstGeom prst="rect">
            <a:avLst/>
          </a:prstGeom>
          <a:noFill/>
        </p:spPr>
        <p:txBody>
          <a:bodyPr wrap="square" tIns="91440" bIns="91440">
            <a:spAutoFit/>
          </a:bodyPr>
          <a:lstStyle/>
          <a:p/>
          <a:p>
            <a:pPr>
              <a:spcAft>
                <a:spcPts val="600"/>
              </a:spcAft>
            </a:pPr>
            <a:r>
              <a:rPr sz="1350" b="1">
                <a:solidFill>
                  <a:srgbClr val="1B365D"/>
                </a:solidFill>
                <a:latin typeface="Arial"/>
              </a:rPr>
              <a:t>• Nhận diện người đến gần: </a:t>
            </a:r>
            <a:r>
              <a:rPr sz="1350">
                <a:solidFill>
                  <a:srgbClr val="222222"/>
                </a:solidFill>
                <a:latin typeface="Calibri"/>
              </a:rPr>
              <a:t>Cảm biến gắn trên đỉnh cửa quét chùm hồng ngoại hình nón bao quát toàn bộ lối ra vào hành lang.</a:t>
            </a:r>
          </a:p>
          <a:p>
            <a:pPr>
              <a:spcAft>
                <a:spcPts val="600"/>
              </a:spcAft>
            </a:pPr>
            <a:r>
              <a:rPr sz="1350" b="1">
                <a:solidFill>
                  <a:srgbClr val="1B365D"/>
                </a:solidFill>
                <a:latin typeface="Arial"/>
              </a:rPr>
              <a:t>• Điều khiển motor cửa trượt: </a:t>
            </a:r>
            <a:r>
              <a:rPr sz="1350">
                <a:solidFill>
                  <a:srgbClr val="222222"/>
                </a:solidFill>
                <a:latin typeface="Calibri"/>
              </a:rPr>
              <a:t>Ngay khi có người bước tới, cảm biến xuất mức HIGH kích Driver động cơ mở rộng cánh cửa và tự đóng lại sau khi khách đi qua an toàn.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- 3. CẢM BIẾN VỊ TRÍ &amp; CHUYỂN ĐỘNG (SLIDE 1/6)</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TỔNG QUAN CẢM BIẾN IMU 6-DOF MPU-6050</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18/43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CẤU TRÚC ĐA TRỤC KHÔNG GIAN 3D</a:t>
            </a:r>
          </a:p>
          <a:p>
            <a:pPr>
              <a:spcAft>
                <a:spcPts val="1000"/>
              </a:spcAft>
            </a:pPr>
            <a:r>
              <a:rPr sz="1450" b="1">
                <a:solidFill>
                  <a:srgbClr val="1B365D"/>
                </a:solidFill>
                <a:latin typeface="Arial"/>
              </a:rPr>
              <a:t>• Tích hợp 6 bậc tự do (6-DoF): </a:t>
            </a:r>
            <a:r>
              <a:rPr sz="1450">
                <a:solidFill>
                  <a:srgbClr val="222222"/>
                </a:solidFill>
                <a:latin typeface="Calibri"/>
              </a:rPr>
              <a:t>Là vi mạch MEMS đầu tiên trên thế giới tích hợp hoàn hảo cả 2 khối đo chuyển động cốt lõi:</a:t>
            </a:r>
          </a:p>
          <a:p>
            <a:pPr>
              <a:spcAft>
                <a:spcPts val="800"/>
              </a:spcAft>
            </a:pPr>
            <a:r>
              <a:rPr sz="1400" b="1">
                <a:solidFill>
                  <a:srgbClr val="1B365D"/>
                </a:solidFill>
                <a:latin typeface="Arial"/>
              </a:rPr>
              <a:t>   + Gia tốc kế 3 trục (Accelerometer): </a:t>
            </a:r>
            <a:r>
              <a:rPr sz="1400">
                <a:solidFill>
                  <a:srgbClr val="222222"/>
                </a:solidFill>
                <a:latin typeface="Calibri"/>
              </a:rPr>
              <a:t>Đo gia tốc chuyển động động và gia tốc trọng trường tĩnh theo 3 trục tọa độ vuông góc X, Y, Z.</a:t>
            </a:r>
          </a:p>
          <a:p>
            <a:pPr>
              <a:spcAft>
                <a:spcPts val="800"/>
              </a:spcAft>
            </a:pPr>
            <a:r>
              <a:rPr sz="1400" b="1">
                <a:solidFill>
                  <a:srgbClr val="1B365D"/>
                </a:solidFill>
                <a:latin typeface="Arial"/>
              </a:rPr>
              <a:t>   + Con quay hồi chuyển 3 trục (Gyroscope): </a:t>
            </a:r>
            <a:r>
              <a:rPr sz="1400">
                <a:solidFill>
                  <a:srgbClr val="222222"/>
                </a:solidFill>
                <a:latin typeface="Calibri"/>
              </a:rPr>
              <a:t>Đo lường chính xác vận tốc góc quay quanh 3 trục Pitch (nghiêng tới/lui), Roll (lắc trái/phải), Yaw (xoay hướng).</a:t>
            </a:r>
          </a:p>
          <a:p>
            <a:pPr>
              <a:spcAft>
                <a:spcPts val="1000"/>
              </a:spcAft>
            </a:pPr>
            <a:r>
              <a:rPr sz="1450" b="1">
                <a:solidFill>
                  <a:srgbClr val="1B365D"/>
                </a:solidFill>
                <a:latin typeface="Arial"/>
              </a:rPr>
              <a:t>• Kích thước siêu vi mô: </a:t>
            </a:r>
            <a:r>
              <a:rPr sz="1450">
                <a:solidFill>
                  <a:srgbClr val="222222"/>
                </a:solidFill>
                <a:latin typeface="Calibri"/>
              </a:rPr>
              <a:t>Đóng gói chip QFN kích thước chỉ 4 x 4 x 0.9 mm, tối ưu cho mạch nhúng di động.</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BỘ CHUYỂN ĐỔI ADC 16-BIT ĐỘC LẬP</a:t>
            </a:r>
          </a:p>
          <a:p>
            <a:pPr>
              <a:spcAft>
                <a:spcPts val="1000"/>
              </a:spcAft>
            </a:pPr>
            <a:r>
              <a:rPr sz="1450" b="1">
                <a:solidFill>
                  <a:srgbClr val="1B365D"/>
                </a:solidFill>
                <a:latin typeface="Arial"/>
              </a:rPr>
              <a:t>• Độ phân giải cực cao 16-bit: </a:t>
            </a:r>
            <a:r>
              <a:rPr sz="1450">
                <a:solidFill>
                  <a:srgbClr val="222222"/>
                </a:solidFill>
                <a:latin typeface="Calibri"/>
              </a:rPr>
              <a:t>Mỗi kênh trong tổng số 6 kênh đo đều được trang bị một bộ chuyển đổi ADC 16-bit riêng biệt, cho dải giá trị số hóa từ -32,768 đến +32,767.</a:t>
            </a:r>
          </a:p>
          <a:p>
            <a:pPr>
              <a:spcAft>
                <a:spcPts val="1000"/>
              </a:spcAft>
            </a:pPr>
            <a:r>
              <a:rPr sz="1450" b="1">
                <a:solidFill>
                  <a:srgbClr val="1B365D"/>
                </a:solidFill>
                <a:latin typeface="Arial"/>
              </a:rPr>
              <a:t>• Lấy mẫu đồng thời (Simultaneous Sampling): </a:t>
            </a:r>
            <a:r>
              <a:rPr sz="1450">
                <a:solidFill>
                  <a:srgbClr val="222222"/>
                </a:solidFill>
                <a:latin typeface="Calibri"/>
              </a:rPr>
              <a:t>Cả 6 trục được số hóa cùng một thời điểm, loại bỏ hoàn toàn hiện tượng lệch pha tín hiệu giữa các góc quay.</a:t>
            </a:r>
          </a:p>
          <a:p>
            <a:pPr>
              <a:spcAft>
                <a:spcPts val="1000"/>
              </a:spcAft>
            </a:pPr>
            <a:r>
              <a:rPr sz="1450" b="1">
                <a:solidFill>
                  <a:srgbClr val="1B365D"/>
                </a:solidFill>
                <a:latin typeface="Arial"/>
              </a:rPr>
              <a:t>• Cảm biến nhiệt độ bù sai số: </a:t>
            </a:r>
            <a:r>
              <a:rPr sz="1450">
                <a:solidFill>
                  <a:srgbClr val="222222"/>
                </a:solidFill>
                <a:latin typeface="Calibri"/>
              </a:rPr>
              <a:t>Tích hợp sẵn cảm biến nhiệt độ bên trong lõi chip để đo đạc và tự động bù trừ sai số nhiệt độ môi trường theo thời gian thực.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- 3. CẢM BIẾN VỊ TRÍ &amp; CHUYỂN ĐỘNG (SLIDE 2/6)</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THÔNG SỐ KỸ THUẬT &amp; BỘ XỬ LÝ CHUYỂN ĐỘNG DMP</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19/43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BẢNG THÔNG SỐ ĐO LƯỜNG CHI TIẾT</a:t>
            </a:r>
          </a:p>
          <a:p>
            <a:pPr>
              <a:spcAft>
                <a:spcPts val="1000"/>
              </a:spcAft>
            </a:pPr>
            <a:r>
              <a:rPr sz="1450" b="1">
                <a:solidFill>
                  <a:srgbClr val="1B365D"/>
                </a:solidFill>
                <a:latin typeface="Arial"/>
              </a:rPr>
              <a:t>• Điện áp cấp nguồn: </a:t>
            </a:r>
            <a:r>
              <a:rPr sz="1450">
                <a:solidFill>
                  <a:srgbClr val="222222"/>
                </a:solidFill>
                <a:latin typeface="Calibri"/>
              </a:rPr>
              <a:t>3.3V - 5.0V DC (Module tích hợp sẵn chip ổn áp LDO RT9161 chống sốc áp).</a:t>
            </a:r>
          </a:p>
          <a:p>
            <a:pPr>
              <a:spcAft>
                <a:spcPts val="1000"/>
              </a:spcAft>
            </a:pPr>
            <a:r>
              <a:rPr sz="1450" b="1">
                <a:solidFill>
                  <a:srgbClr val="1B365D"/>
                </a:solidFill>
                <a:latin typeface="Arial"/>
              </a:rPr>
              <a:t>• Dải đo Gia tốc kế (Accel): </a:t>
            </a:r>
            <a:r>
              <a:rPr sz="1450">
                <a:solidFill>
                  <a:srgbClr val="222222"/>
                </a:solidFill>
                <a:latin typeface="Calibri"/>
              </a:rPr>
              <a:t>Có thể lập trình 4 mức: ±2g, ±4g, ±8g, ±16g (Độ nhạy tối đa lên tới 16,384 LSB/g).</a:t>
            </a:r>
          </a:p>
          <a:p>
            <a:pPr>
              <a:spcAft>
                <a:spcPts val="1000"/>
              </a:spcAft>
            </a:pPr>
            <a:r>
              <a:rPr sz="1450" b="1">
                <a:solidFill>
                  <a:srgbClr val="1B365D"/>
                </a:solidFill>
                <a:latin typeface="Arial"/>
              </a:rPr>
              <a:t>• Dải đo Con quay (Gyro): </a:t>
            </a:r>
            <a:r>
              <a:rPr sz="1450">
                <a:solidFill>
                  <a:srgbClr val="222222"/>
                </a:solidFill>
                <a:latin typeface="Calibri"/>
              </a:rPr>
              <a:t>Có thể lập trình 4 mức: ±250, ±500, ±1000, ±2000 °/s (Độ nhạy tối đa 131 LSB/(°/s)).</a:t>
            </a:r>
          </a:p>
          <a:p>
            <a:pPr>
              <a:spcAft>
                <a:spcPts val="1000"/>
              </a:spcAft>
            </a:pPr>
            <a:r>
              <a:rPr sz="1450" b="1">
                <a:solidFill>
                  <a:srgbClr val="1B365D"/>
                </a:solidFill>
                <a:latin typeface="Arial"/>
              </a:rPr>
              <a:t>• Giao thức truyền thông: </a:t>
            </a:r>
            <a:r>
              <a:rPr sz="1450">
                <a:solidFill>
                  <a:srgbClr val="222222"/>
                </a:solidFill>
                <a:latin typeface="Calibri"/>
              </a:rPr>
              <a:t>I2C Fast Mode tốc độ 400 kHz, địa chỉ mặc định 0x68 (hoặc 0x69 khi kích chân AD0).</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SỨC MẠNH BỘ XỬ LÝ DMP &amp; BỘ ĐỆM FIFO</a:t>
            </a:r>
          </a:p>
          <a:p>
            <a:pPr>
              <a:spcAft>
                <a:spcPts val="1000"/>
              </a:spcAft>
            </a:pPr>
            <a:r>
              <a:rPr sz="1450" b="1">
                <a:solidFill>
                  <a:srgbClr val="1B365D"/>
                </a:solidFill>
                <a:latin typeface="Arial"/>
              </a:rPr>
              <a:t>• Bộ xử lý DMP (Digital Motion Processor): </a:t>
            </a:r>
            <a:r>
              <a:rPr sz="1450">
                <a:solidFill>
                  <a:srgbClr val="222222"/>
                </a:solidFill>
                <a:latin typeface="Calibri"/>
              </a:rPr>
              <a:t>Là khối vi xử lý nhúng độc lập bên trong MPU6050, có khả năng chạy thuật toán hợp nhất dữ liệu (Sensor Fusion) để tính trực tiếp góc Euler và Quaternion.</a:t>
            </a:r>
          </a:p>
          <a:p>
            <a:pPr>
              <a:spcAft>
                <a:spcPts val="1000"/>
              </a:spcAft>
            </a:pPr>
            <a:r>
              <a:rPr sz="1450" b="1">
                <a:solidFill>
                  <a:srgbClr val="1B365D"/>
                </a:solidFill>
                <a:latin typeface="Arial"/>
              </a:rPr>
              <a:t>• Giảm tải tuyệt đối cho Arduino Uno: </a:t>
            </a:r>
            <a:r>
              <a:rPr sz="1450">
                <a:solidFill>
                  <a:srgbClr val="222222"/>
                </a:solidFill>
                <a:latin typeface="Calibri"/>
              </a:rPr>
              <a:t>Vi điều khiển không cần tốn chu kỳ tính toán lượng giác phức tạp, dành trọn tài nguyên cho thuật toán điều khiển PID.</a:t>
            </a:r>
          </a:p>
          <a:p>
            <a:pPr>
              <a:spcAft>
                <a:spcPts val="1000"/>
              </a:spcAft>
            </a:pPr>
            <a:r>
              <a:rPr sz="1450" b="1">
                <a:solidFill>
                  <a:srgbClr val="1B365D"/>
                </a:solidFill>
                <a:latin typeface="Arial"/>
              </a:rPr>
              <a:t>• Bộ nhớ đệm FIFO 1024 Bytes: </a:t>
            </a:r>
            <a:r>
              <a:rPr sz="1450">
                <a:solidFill>
                  <a:srgbClr val="222222"/>
                </a:solidFill>
                <a:latin typeface="Calibri"/>
              </a:rPr>
              <a:t>Lưu trữ dữ liệu đo đạc liên tục, kết hợp chân ngắt INT báo hiệu khi có gói dữ liệu mới, ngăn ngừa mất mát dữ liệu khi truyền tốc độ cao.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- 3. CẢM BIẾN VỊ TRÍ &amp; CHUYỂN ĐỘNG (SLIDE 3/6)</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NGUYÊN LÝ HOẠT ĐỘNG CHUYÊN SÂU CỦA MPU-6050</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20/43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NGUYÊN LÝ GIA TỐC KẾ (ACCEL)</a:t>
            </a:r>
          </a:p>
          <a:p>
            <a:pPr>
              <a:spcAft>
                <a:spcPts val="1000"/>
              </a:spcAft>
            </a:pPr>
            <a:r>
              <a:rPr sz="1450" b="1">
                <a:solidFill>
                  <a:srgbClr val="1B365D"/>
                </a:solidFill>
                <a:latin typeface="Arial"/>
              </a:rPr>
              <a:t>• Khối quán tính vi cơ Proof Mass: </a:t>
            </a:r>
            <a:r>
              <a:rPr sz="1450">
                <a:solidFill>
                  <a:srgbClr val="222222"/>
                </a:solidFill>
                <a:latin typeface="Calibri"/>
              </a:rPr>
              <a:t>Bao gồm một khối thử silicon siêu nhỏ được treo bằng các lò xo vi cơ đàn hồi giữa các bản cực tụ điện tĩnh.</a:t>
            </a:r>
          </a:p>
          <a:p>
            <a:pPr>
              <a:spcAft>
                <a:spcPts val="1000"/>
              </a:spcAft>
            </a:pPr>
            <a:r>
              <a:rPr sz="1450" b="1">
                <a:solidFill>
                  <a:srgbClr val="1B365D"/>
                </a:solidFill>
                <a:latin typeface="Arial"/>
              </a:rPr>
              <a:t>• Biến đổi điện dung: </a:t>
            </a:r>
            <a:r>
              <a:rPr sz="1450">
                <a:solidFill>
                  <a:srgbClr val="222222"/>
                </a:solidFill>
                <a:latin typeface="Calibri"/>
              </a:rPr>
              <a:t>Khi MPU6050 chịu gia tốc hoặc nghiêng góc, khối thử lệch vị trí làm thay đổi khoảng cách giữa các bản cực $\to$ thay đổi điện dung tỷ lệ tuyến tính với độ lớn gia tốc.</a:t>
            </a:r>
          </a:p>
          <a:p>
            <a:pPr>
              <a:spcAft>
                <a:spcPts val="1000"/>
              </a:spcAft>
            </a:pPr>
            <a:r>
              <a:rPr sz="1450" b="1">
                <a:solidFill>
                  <a:srgbClr val="1B365D"/>
                </a:solidFill>
                <a:latin typeface="Arial"/>
              </a:rPr>
              <a:t>• Tính góc Roll &amp; Pitch tĩnh: </a:t>
            </a:r>
            <a:r>
              <a:rPr sz="1450">
                <a:solidFill>
                  <a:srgbClr val="222222"/>
                </a:solidFill>
                <a:latin typeface="Calibri"/>
              </a:rPr>
              <a:t>Dựa trên vector phân tích trọng lực $1g$: $\theta = \arctan(A_x / \sqrt{A_y^2 + A_z^2})$.</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CON QUAY CORIOLIS &amp; BỘ LỌC BÙ</a:t>
            </a:r>
          </a:p>
          <a:p>
            <a:pPr>
              <a:spcAft>
                <a:spcPts val="1000"/>
              </a:spcAft>
            </a:pPr>
            <a:r>
              <a:rPr sz="1450" b="1">
                <a:solidFill>
                  <a:srgbClr val="1B365D"/>
                </a:solidFill>
                <a:latin typeface="Arial"/>
              </a:rPr>
              <a:t>• Hiệu ứng quán tính Coriolis: </a:t>
            </a:r>
            <a:r>
              <a:rPr sz="1450">
                <a:solidFill>
                  <a:srgbClr val="222222"/>
                </a:solidFill>
                <a:latin typeface="Calibri"/>
              </a:rPr>
              <a:t>Khi phần tử vi cơ đang dao động bên trong chịu thêm chuyển động quay với vận tốc góc $\Omega$, lực Coriolis vuông góc sẽ làm dịch chuyển phần tử, tạo tín hiệu điện áp đo vận tốc góc.</a:t>
            </a:r>
          </a:p>
          <a:p>
            <a:pPr>
              <a:spcAft>
                <a:spcPts val="1000"/>
              </a:spcAft>
            </a:pPr>
            <a:r>
              <a:rPr sz="1450" b="1">
                <a:solidFill>
                  <a:srgbClr val="1B365D"/>
                </a:solidFill>
                <a:latin typeface="Arial"/>
              </a:rPr>
              <a:t>• Bộ lọc bù (Complementary Filter) / Kalman: </a:t>
            </a:r>
            <a:r>
              <a:rPr sz="1450">
                <a:solidFill>
                  <a:srgbClr val="222222"/>
                </a:solidFill>
                <a:latin typeface="Calibri"/>
              </a:rPr>
              <a:t>Accel đo góc tĩnh chuẩn nhưng nhiễu khi rung động; Gyro phản ứng siêu nhanh tức thời nhưng bị trôi (drift) tích lũy theo thời gian.</a:t>
            </a:r>
          </a:p>
          <a:p>
            <a:pPr>
              <a:spcAft>
                <a:spcPts val="1000"/>
              </a:spcAft>
            </a:pPr>
            <a:r>
              <a:rPr sz="1450" b="1">
                <a:solidFill>
                  <a:srgbClr val="1B365D"/>
                </a:solidFill>
                <a:latin typeface="Arial"/>
              </a:rPr>
              <a:t>• Công thức bộ lọc bù: </a:t>
            </a:r>
            <a:r>
              <a:rPr sz="1450">
                <a:solidFill>
                  <a:srgbClr val="222222"/>
                </a:solidFill>
                <a:latin typeface="Calibri"/>
              </a:rPr>
              <a:t>$\text{Angle} = 0.98 \times (\text{Angle} + \text{Gyro} \times dt) + 0.02 \times \text{AccelAngle}$, mang lại góc nghiêng ổn định tuyệt đối.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- 3. CẢM BIẾN VỊ TRÍ &amp; CHUYỂN ĐỘNG (SLIDE 4/6)</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SƠ ĐỒ ĐẤU NỐI PHẦN CỨNG MPU-6050 VỚI ARDUINO UNO</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21/43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SƠ ĐỒ MẠCH KẾT NỐI FRITZING THỰC TẾ</a:t>
            </a:r>
          </a:p>
        </p:txBody>
      </p:sp>
      <p:pic>
        <p:nvPicPr>
          <p:cNvPr id="10" name="Picture 9" descr="1790686947208_5558953439444715202_g8865705790836825326_473c581ba5b086de56536b4f1c7e0a6a.jpg"/>
          <p:cNvPicPr>
            <a:picLocks noChangeAspect="1"/>
          </p:cNvPicPr>
          <p:nvPr/>
        </p:nvPicPr>
        <p:blipFill>
          <a:blip r:embed="rId3"/>
          <a:stretch>
            <a:fillRect/>
          </a:stretch>
        </p:blipFill>
        <p:spPr>
          <a:xfrm>
            <a:off x="1280160" y="1965960"/>
            <a:ext cx="4114800" cy="4114800"/>
          </a:xfrm>
          <a:prstGeom prst="rect">
            <a:avLst/>
          </a:prstGeom>
        </p:spPr>
      </p:pic>
      <p:sp>
        <p:nvSpPr>
          <p:cNvPr id="11" name="Rounded Rectangle 10"/>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BẢNG PHÂN CHÂN &amp; CHỨC NĂNG KỸ THUẬT</a:t>
            </a:r>
          </a:p>
          <a:p>
            <a:pPr>
              <a:spcAft>
                <a:spcPts val="1000"/>
              </a:spcAft>
            </a:pPr>
            <a:r>
              <a:rPr sz="1400" b="1">
                <a:solidFill>
                  <a:srgbClr val="1B365D"/>
                </a:solidFill>
                <a:latin typeface="Arial"/>
              </a:rPr>
              <a:t>1. Chân VCC: </a:t>
            </a:r>
            <a:r>
              <a:rPr sz="1400">
                <a:solidFill>
                  <a:srgbClr val="222222"/>
                </a:solidFill>
                <a:latin typeface="Calibri"/>
              </a:rPr>
              <a:t>Nối nguồn 5V (hoặc 3.3V) từ board Arduino Uno R3.</a:t>
            </a:r>
          </a:p>
          <a:p>
            <a:pPr>
              <a:spcAft>
                <a:spcPts val="1000"/>
              </a:spcAft>
            </a:pPr>
            <a:r>
              <a:rPr sz="1400" b="1">
                <a:solidFill>
                  <a:srgbClr val="1B365D"/>
                </a:solidFill>
                <a:latin typeface="Arial"/>
              </a:rPr>
              <a:t>2. Chân GND: </a:t>
            </a:r>
            <a:r>
              <a:rPr sz="1400">
                <a:solidFill>
                  <a:srgbClr val="222222"/>
                </a:solidFill>
                <a:latin typeface="Calibri"/>
              </a:rPr>
              <a:t>Nối chân mass đất (GND) chung của hệ thống.</a:t>
            </a:r>
          </a:p>
          <a:p>
            <a:pPr>
              <a:spcAft>
                <a:spcPts val="1000"/>
              </a:spcAft>
            </a:pPr>
            <a:r>
              <a:rPr sz="1400" b="1">
                <a:solidFill>
                  <a:srgbClr val="1B365D"/>
                </a:solidFill>
                <a:latin typeface="Arial"/>
              </a:rPr>
              <a:t>3. Chân SCL (Serial Clock): </a:t>
            </a:r>
            <a:r>
              <a:rPr sz="1400">
                <a:solidFill>
                  <a:srgbClr val="222222"/>
                </a:solidFill>
                <a:latin typeface="Calibri"/>
              </a:rPr>
              <a:t>Nối vào chân Analog A5 của Uno (đường xung nhịp I2C).</a:t>
            </a:r>
          </a:p>
          <a:p>
            <a:pPr>
              <a:spcAft>
                <a:spcPts val="1000"/>
              </a:spcAft>
            </a:pPr>
            <a:r>
              <a:rPr sz="1400" b="1">
                <a:solidFill>
                  <a:srgbClr val="1B365D"/>
                </a:solidFill>
                <a:latin typeface="Arial"/>
              </a:rPr>
              <a:t>4. Chân SDA (Serial Data): </a:t>
            </a:r>
            <a:r>
              <a:rPr sz="1400">
                <a:solidFill>
                  <a:srgbClr val="222222"/>
                </a:solidFill>
                <a:latin typeface="Calibri"/>
              </a:rPr>
              <a:t>Nối vào chân Analog A4 của Uno (đường truyền dữ liệu I2C).</a:t>
            </a:r>
          </a:p>
          <a:p>
            <a:pPr>
              <a:spcAft>
                <a:spcPts val="1000"/>
              </a:spcAft>
            </a:pPr>
            <a:r>
              <a:rPr sz="1400" b="1">
                <a:solidFill>
                  <a:srgbClr val="1B365D"/>
                </a:solidFill>
                <a:latin typeface="Arial"/>
              </a:rPr>
              <a:t>5. Chân INT (Interrupt): </a:t>
            </a:r>
            <a:r>
              <a:rPr sz="1400">
                <a:solidFill>
                  <a:srgbClr val="222222"/>
                </a:solidFill>
                <a:latin typeface="Calibri"/>
              </a:rPr>
              <a:t>Nối chân Digital D2 (chân ngắt phần cứng External Interrupt 0).</a:t>
            </a:r>
          </a:p>
          <a:p>
            <a:pPr>
              <a:spcAft>
                <a:spcPts val="1000"/>
              </a:spcAft>
            </a:pPr>
            <a:r>
              <a:rPr sz="1400" b="1">
                <a:solidFill>
                  <a:srgbClr val="1B365D"/>
                </a:solidFill>
                <a:latin typeface="Arial"/>
              </a:rPr>
              <a:t>6. Chân AD0 (Address Select): </a:t>
            </a:r>
            <a:r>
              <a:rPr sz="1400">
                <a:solidFill>
                  <a:srgbClr val="222222"/>
                </a:solidFill>
                <a:latin typeface="Calibri"/>
              </a:rPr>
              <a:t>Nối GND để chọn địa chỉ I2C 0x68; nối 3.3V để chọn 0x69.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- 3. CẢM BIẾN VỊ TRÍ &amp; CHUYỂN ĐỘNG (SLIDE 5/6)</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ỨNG DỤNG MPU-6050: XE TỰ CÂN BẰNG 2 BÁNH SEGWAY</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22/43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MINH HỌA XE TỰ CÂN BẰNG SEGWAY 2 BÁNH</a:t>
            </a:r>
          </a:p>
        </p:txBody>
      </p:sp>
      <p:pic>
        <p:nvPicPr>
          <p:cNvPr id="10" name="Picture 9" descr="1790688340721_5558953439444715202_g8865705790836825326_bd4e8e9adc92f0db4808418e6cab5fac.jpg"/>
          <p:cNvPicPr>
            <a:picLocks noChangeAspect="1"/>
          </p:cNvPicPr>
          <p:nvPr/>
        </p:nvPicPr>
        <p:blipFill>
          <a:blip r:embed="rId3"/>
          <a:stretch>
            <a:fillRect/>
          </a:stretch>
        </p:blipFill>
        <p:spPr>
          <a:xfrm>
            <a:off x="1280160" y="1965960"/>
            <a:ext cx="4114800" cy="4114800"/>
          </a:xfrm>
          <a:prstGeom prst="rect">
            <a:avLst/>
          </a:prstGeom>
        </p:spPr>
      </p:pic>
      <p:sp>
        <p:nvSpPr>
          <p:cNvPr id="11" name="Rounded Rectangle 10"/>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THUẬT TOÁN ĐIỀU KHIỂN VÒNG LẶP KÍN PID</a:t>
            </a:r>
          </a:p>
          <a:p>
            <a:pPr>
              <a:spcAft>
                <a:spcPts val="1200"/>
              </a:spcAft>
            </a:pPr>
            <a:r>
              <a:rPr sz="1450" b="1">
                <a:solidFill>
                  <a:srgbClr val="1B365D"/>
                </a:solidFill>
                <a:latin typeface="Arial"/>
              </a:rPr>
              <a:t>• Mô hình con lắc ngược (Inverted Pendulum): </a:t>
            </a:r>
            <a:r>
              <a:rPr sz="1450">
                <a:solidFill>
                  <a:srgbClr val="222222"/>
                </a:solidFill>
                <a:latin typeface="Calibri"/>
              </a:rPr>
              <a:t>Xe 2 bánh về bản chất là một hệ thống không ổn định, trọng tâm xe nằm cao hơn trục bánh và luôn có xu hướng đổ sập.</a:t>
            </a:r>
          </a:p>
          <a:p>
            <a:pPr>
              <a:spcAft>
                <a:spcPts val="1200"/>
              </a:spcAft>
            </a:pPr>
            <a:r>
              <a:rPr sz="1450" b="1">
                <a:solidFill>
                  <a:srgbClr val="1B365D"/>
                </a:solidFill>
                <a:latin typeface="Arial"/>
              </a:rPr>
              <a:t>• Lấy mẫu góc nghiêng tần số cao 100 Hz: </a:t>
            </a:r>
            <a:r>
              <a:rPr sz="1450">
                <a:solidFill>
                  <a:srgbClr val="222222"/>
                </a:solidFill>
                <a:latin typeface="Calibri"/>
              </a:rPr>
              <a:t>MPU6050 liên tục đo góc nghiêng $\theta$ và vận tốc góc quay $d\theta/dt$ gửi về vi điều khiển qua I2C.</a:t>
            </a:r>
          </a:p>
          <a:p>
            <a:pPr>
              <a:spcAft>
                <a:spcPts val="1200"/>
              </a:spcAft>
            </a:pPr>
            <a:r>
              <a:rPr sz="1450" b="1">
                <a:solidFill>
                  <a:srgbClr val="1B365D"/>
                </a:solidFill>
                <a:latin typeface="Arial"/>
              </a:rPr>
              <a:t>• Tính toán thuật toán PID: </a:t>
            </a:r>
            <a:r>
              <a:rPr sz="1450">
                <a:solidFill>
                  <a:srgbClr val="222222"/>
                </a:solidFill>
                <a:latin typeface="Calibri"/>
              </a:rPr>
              <a:t>$	ext{Output} = K_p \cdot e(t) + K_i \int e(t)dt + K_d \frac{de(t)}{dt}$. Xuất xung PWM điều khiển động cơ quay tiến hoặc lùi với tốc độ tương ứng để kéo trọng tâm về vị trí thẳng đứng cân bằng.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- 3. CẢM BIẾN VỊ TRÍ &amp; CHUYỂN ĐỘNG (SLIDE 6/6)</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ỨNG DỤNG MPU-6050: MÁY BAY KHÔNG NGƯỜI LÁI DRONE</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23/43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MÁY BAY KHÔNG NGƯỜI LÁI QUADCOPTER DRONE</a:t>
            </a:r>
          </a:p>
        </p:txBody>
      </p:sp>
      <p:pic>
        <p:nvPicPr>
          <p:cNvPr id="10" name="Picture 9" descr="1790688432442_5558953439444715202_g8865705790836825326_520f0eb0eba4d3342fd187ed752d017a.jpg"/>
          <p:cNvPicPr>
            <a:picLocks noChangeAspect="1"/>
          </p:cNvPicPr>
          <p:nvPr/>
        </p:nvPicPr>
        <p:blipFill>
          <a:blip r:embed="rId3"/>
          <a:stretch>
            <a:fillRect/>
          </a:stretch>
        </p:blipFill>
        <p:spPr>
          <a:xfrm>
            <a:off x="1280160" y="1965960"/>
            <a:ext cx="4114800" cy="4114800"/>
          </a:xfrm>
          <a:prstGeom prst="rect">
            <a:avLst/>
          </a:prstGeom>
        </p:spPr>
      </p:pic>
      <p:sp>
        <p:nvSpPr>
          <p:cNvPr id="11" name="Rounded Rectangle 10"/>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TRÁI TIM MẠCH ĐIỀU KHIỂN BAY (FLIGHT CONTROLLER)</a:t>
            </a:r>
          </a:p>
          <a:p>
            <a:pPr>
              <a:spcAft>
                <a:spcPts val="1200"/>
              </a:spcAft>
            </a:pPr>
            <a:r>
              <a:rPr sz="1450" b="1">
                <a:solidFill>
                  <a:srgbClr val="1B365D"/>
                </a:solidFill>
                <a:latin typeface="Arial"/>
              </a:rPr>
              <a:t>• Giữ thăng bằng tư thế 3D: </a:t>
            </a:r>
            <a:r>
              <a:rPr sz="1450">
                <a:solidFill>
                  <a:srgbClr val="222222"/>
                </a:solidFill>
                <a:latin typeface="Calibri"/>
              </a:rPr>
              <a:t>Cảm biến MPU6050 là linh kiện quan trọng bậc nhất trên mạch điều khiển bay (Betaflight/Ardupilot). Nó đo đạc chính xác góc nghiêng Pitch, Roll và vận tốc xoay Yaw.</a:t>
            </a:r>
          </a:p>
          <a:p>
            <a:pPr>
              <a:spcAft>
                <a:spcPts val="1200"/>
              </a:spcAft>
            </a:pPr>
            <a:r>
              <a:rPr sz="1450" b="1">
                <a:solidFill>
                  <a:srgbClr val="1B365D"/>
                </a:solidFill>
                <a:latin typeface="Arial"/>
              </a:rPr>
              <a:t>• Điều khiển vi sai 4 động cơ BLDC: </a:t>
            </a:r>
            <a:r>
              <a:rPr sz="1450">
                <a:solidFill>
                  <a:srgbClr val="222222"/>
                </a:solidFill>
                <a:latin typeface="Calibri"/>
              </a:rPr>
              <a:t>Dựa vào dữ liệu từ MPU6050, bộ vi xử lý điều chỉnh xung PWM gửi đến 4 mạch điều tốc ESC để tăng tốc cánh quạt bên bị nghiêng và giảm tốc cánh quạt bên đối diện.</a:t>
            </a:r>
          </a:p>
          <a:p>
            <a:pPr>
              <a:spcAft>
                <a:spcPts val="1200"/>
              </a:spcAft>
            </a:pPr>
            <a:r>
              <a:rPr sz="1450" b="1">
                <a:solidFill>
                  <a:srgbClr val="1B365D"/>
                </a:solidFill>
                <a:latin typeface="Arial"/>
              </a:rPr>
              <a:t>• Khả năng kháng gió mạnh mẽ: </a:t>
            </a:r>
            <a:r>
              <a:rPr sz="1450">
                <a:solidFill>
                  <a:srgbClr val="222222"/>
                </a:solidFill>
                <a:latin typeface="Calibri"/>
              </a:rPr>
              <a:t>Giúp drone lơ lửng ổn định tại một điểm trên không trung ngay cả khi có gió mạnh tác động.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- 4. CẢM BIẾN AN TOÀN &amp; CÔNG NGHIỆP</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KHÍ GAS VÀ BÁO KHÓI CHUYÊN DỤNG MQ-2</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24/43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NGUYÊN LÝ BÁN DẪN NHẠY KHÍ SnO2</a:t>
            </a:r>
          </a:p>
          <a:p>
            <a:pPr>
              <a:spcAft>
                <a:spcPts val="1000"/>
              </a:spcAft>
            </a:pPr>
            <a:r>
              <a:rPr sz="1450" b="1">
                <a:solidFill>
                  <a:srgbClr val="1B365D"/>
                </a:solidFill>
                <a:latin typeface="Arial"/>
              </a:rPr>
              <a:t>• Vật liệu nhạy khí Thiếc Đioxit (SnO2): </a:t>
            </a:r>
            <a:r>
              <a:rPr sz="1450">
                <a:solidFill>
                  <a:srgbClr val="222222"/>
                </a:solidFill>
                <a:latin typeface="Calibri"/>
              </a:rPr>
              <a:t>Trong không khí sạch bình thường, SnO2 có tính dẫn điện kém do các ion oxy bám giữ điện tử tự do trên bề mặt tinh thể.</a:t>
            </a:r>
          </a:p>
          <a:p>
            <a:pPr>
              <a:spcAft>
                <a:spcPts val="1000"/>
              </a:spcAft>
            </a:pPr>
            <a:r>
              <a:rPr sz="1450" b="1">
                <a:solidFill>
                  <a:srgbClr val="1B365D"/>
                </a:solidFill>
                <a:latin typeface="Arial"/>
              </a:rPr>
              <a:t>• Cơ chế hấp phụ và giải phóng electron: </a:t>
            </a:r>
            <a:r>
              <a:rPr sz="1450">
                <a:solidFill>
                  <a:srgbClr val="222222"/>
                </a:solidFill>
                <a:latin typeface="Calibri"/>
              </a:rPr>
              <a:t>Khi có khí dễ cháy (LPG, Metan, Propane, Khói) tiếp xúc màng SnO2, xảy ra phản ứng oxy hóa khử giải phóng electron tự do $\to$ điện trở cảm biến giảm mạnh.</a:t>
            </a:r>
          </a:p>
          <a:p>
            <a:pPr>
              <a:spcAft>
                <a:spcPts val="1000"/>
              </a:spcAft>
            </a:pPr>
            <a:r>
              <a:rPr sz="1450" b="1">
                <a:solidFill>
                  <a:srgbClr val="1B365D"/>
                </a:solidFill>
                <a:latin typeface="Arial"/>
              </a:rPr>
              <a:t>• Cuộn dây sấy nhiệt (Internal Heater): </a:t>
            </a:r>
            <a:r>
              <a:rPr sz="1450">
                <a:solidFill>
                  <a:srgbClr val="222222"/>
                </a:solidFill>
                <a:latin typeface="Calibri"/>
              </a:rPr>
              <a:t>Dây may-so bên trong tiêu thụ dòng điện đốt nóng lớp gốm nhạy lên khoảng 50°C - 60°C để tạo điều kiện phản ứng hóa học xảy ra mạnh nhất.</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PHÂN LOẠI &amp; THÔNG SỐ HỌ CẢM BIẾN MQ</a:t>
            </a:r>
          </a:p>
          <a:p>
            <a:pPr>
              <a:spcAft>
                <a:spcPts val="1000"/>
              </a:spcAft>
            </a:pPr>
            <a:r>
              <a:rPr sz="1450" b="1">
                <a:solidFill>
                  <a:srgbClr val="1B365D"/>
                </a:solidFill>
                <a:latin typeface="Arial"/>
              </a:rPr>
              <a:t>• Dải phát hiện nồng độ MQ-2: </a:t>
            </a:r>
            <a:r>
              <a:rPr sz="1450">
                <a:solidFill>
                  <a:srgbClr val="222222"/>
                </a:solidFill>
                <a:latin typeface="Calibri"/>
              </a:rPr>
              <a:t>300 ppm đến 10,000 ppm khí gas, khói báo cháy tổng hợp.</a:t>
            </a:r>
          </a:p>
          <a:p>
            <a:pPr>
              <a:spcAft>
                <a:spcPts val="1000"/>
              </a:spcAft>
            </a:pPr>
            <a:r>
              <a:rPr sz="1450" b="1">
                <a:solidFill>
                  <a:srgbClr val="1B365D"/>
                </a:solidFill>
                <a:latin typeface="Arial"/>
              </a:rPr>
              <a:t>• 2 ngõ ra linh hoạt trên module: </a:t>
            </a:r>
            <a:r>
              <a:rPr sz="1450">
                <a:solidFill>
                  <a:srgbClr val="222222"/>
                </a:solidFill>
                <a:latin typeface="Calibri"/>
              </a:rPr>
              <a:t>Ngõ Analog A0 (xuất điện áp tuyến tính theo nồng độ) và ngõ Digital D0 (logic 0/1 theo biến trở so sánh ngưỡng).</a:t>
            </a:r>
          </a:p>
          <a:p>
            <a:pPr>
              <a:spcAft>
                <a:spcPts val="1000"/>
              </a:spcAft>
            </a:pPr>
            <a:r>
              <a:rPr sz="1450" b="1">
                <a:solidFill>
                  <a:srgbClr val="1B365D"/>
                </a:solidFill>
                <a:latin typeface="Arial"/>
              </a:rPr>
              <a:t>• Các cảm biến cùng họ MQ: </a:t>
            </a:r>
            <a:r>
              <a:rPr sz="1450">
                <a:solidFill>
                  <a:srgbClr val="222222"/>
                </a:solidFill>
                <a:latin typeface="Calibri"/>
              </a:rPr>
              <a:t>MQ-3 (Đo nồng độ cồn hơi thở), MQ-7 (Đo khí độc carbon monoxide CO nguy hiểm), MQ-135 (Đo chất lượng không khí, CO2, amoniac).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- 4. CẢM BIẾN AN TOÀN &amp; CÔNG NGHIỆP</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DÒNG ĐIỆN HIỆU ỨNG HALL ACS712</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25/43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NGUYÊN LÝ HIỆU ỨNG HALL TUYẾN TÍNH</a:t>
            </a:r>
          </a:p>
          <a:p>
            <a:pPr>
              <a:spcAft>
                <a:spcPts val="1200"/>
              </a:spcAft>
            </a:pPr>
            <a:r>
              <a:rPr sz="1450" b="1">
                <a:solidFill>
                  <a:srgbClr val="1B365D"/>
                </a:solidFill>
                <a:latin typeface="Arial"/>
              </a:rPr>
              <a:t>• Hiệu ứng vật lý Hall: </a:t>
            </a:r>
            <a:r>
              <a:rPr sz="1450">
                <a:solidFill>
                  <a:srgbClr val="222222"/>
                </a:solidFill>
                <a:latin typeface="Calibri"/>
              </a:rPr>
              <a:t>Khi dòng điện $I$ cần đo chạy qua dải đồng dẫn bên trong IC, nó sinh ra một từ trường tỷ lệ thuận xung quanh. Phần tử cảm ứng Hall tích hợp chuyển đổi từ trường này thành điện áp Analog $V_{out}$.</a:t>
            </a:r>
          </a:p>
          <a:p>
            <a:pPr>
              <a:spcAft>
                <a:spcPts val="1200"/>
              </a:spcAft>
            </a:pPr>
            <a:r>
              <a:rPr sz="1450" b="1">
                <a:solidFill>
                  <a:srgbClr val="1B365D"/>
                </a:solidFill>
                <a:latin typeface="Arial"/>
              </a:rPr>
              <a:t>• Đo được cả dòng AC và DC: </a:t>
            </a:r>
            <a:r>
              <a:rPr sz="1450">
                <a:solidFill>
                  <a:srgbClr val="222222"/>
                </a:solidFill>
                <a:latin typeface="Calibri"/>
              </a:rPr>
              <a:t>Đáp ứng tần số lên tới 80 kHz, đo chính xác dòng điện một chiều DC (pin, ắc quy) và xoay chiều AC (điện lưới 220V).</a:t>
            </a:r>
          </a:p>
          <a:p>
            <a:pPr>
              <a:spcAft>
                <a:spcPts val="1200"/>
              </a:spcAft>
            </a:pPr>
            <a:r>
              <a:rPr sz="1450" b="1">
                <a:solidFill>
                  <a:srgbClr val="1B365D"/>
                </a:solidFill>
                <a:latin typeface="Arial"/>
              </a:rPr>
              <a:t>• Tổn hao điện năng bằng 0: </a:t>
            </a:r>
            <a:r>
              <a:rPr sz="1450">
                <a:solidFill>
                  <a:srgbClr val="222222"/>
                </a:solidFill>
                <a:latin typeface="Calibri"/>
              </a:rPr>
              <a:t>Điện trở nội của đường đồng dẫn chỉ 1.2 mΩ, không gây sụt áp trên mạch tải công suất.</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TÍNH NĂNG CÁCH LY QUANG &amp; CÁC PHIÊN BẢN</a:t>
            </a:r>
          </a:p>
          <a:p>
            <a:pPr>
              <a:spcAft>
                <a:spcPts val="1000"/>
              </a:spcAft>
            </a:pPr>
            <a:r>
              <a:rPr sz="1450" b="1">
                <a:solidFill>
                  <a:srgbClr val="1B365D"/>
                </a:solidFill>
                <a:latin typeface="Arial"/>
              </a:rPr>
              <a:t>• Cách ly galvanic an toàn 2.1 kVRMS: </a:t>
            </a:r>
            <a:r>
              <a:rPr sz="1450">
                <a:solidFill>
                  <a:srgbClr val="222222"/>
                </a:solidFill>
                <a:latin typeface="Calibri"/>
              </a:rPr>
              <a:t>Giữa mạch tải điện áp cao (220VAC) và vi điều khiển điều khiển 5VDC cách ly điện hoàn toàn, đảm bảo an toàn tuyệt đối cho người và bo mạch.</a:t>
            </a:r>
          </a:p>
          <a:p>
            <a:pPr>
              <a:spcAft>
                <a:spcPts val="1000"/>
              </a:spcAft>
            </a:pPr>
            <a:r>
              <a:rPr sz="1450" b="1">
                <a:solidFill>
                  <a:srgbClr val="1B365D"/>
                </a:solidFill>
                <a:latin typeface="Arial"/>
              </a:rPr>
              <a:t>• Điện áp ngõ ra khi dòng = 0A: </a:t>
            </a:r>
            <a:r>
              <a:rPr sz="1450">
                <a:solidFill>
                  <a:srgbClr val="222222"/>
                </a:solidFill>
                <a:latin typeface="Calibri"/>
              </a:rPr>
              <a:t>Mức điện áp tĩnh chuẩn $V_{out} = V_{CC} / 2 = 2.5V$ (tương đương giá trị đọc ADC = 512 trên vi điều khiển).</a:t>
            </a:r>
          </a:p>
          <a:p>
            <a:pPr>
              <a:spcAft>
                <a:spcPts val="1000"/>
              </a:spcAft>
            </a:pPr>
            <a:r>
              <a:rPr sz="1450" b="1">
                <a:solidFill>
                  <a:srgbClr val="1B365D"/>
                </a:solidFill>
                <a:latin typeface="Arial"/>
              </a:rPr>
              <a:t>• 3 phiên bản dải đo thông dụng: </a:t>
            </a:r>
            <a:r>
              <a:rPr sz="1450">
                <a:solidFill>
                  <a:srgbClr val="222222"/>
                </a:solidFill>
                <a:latin typeface="Calibri"/>
              </a:rPr>
              <a:t>ACS712-05B (±5A, độ nhạy 185 mV/A); ACS712-20A (±20A, độ nhạy 100 mV/A); ACS712-30A (±30A, độ nhạy 66 mV/A).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LÝ THUYẾT - 4. CẢM BIẾN AN TOÀN &amp; CÔNG NGHIỆP</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CÔNG TẮC HÀNH TRÌNH CƠ HỌC (LIMIT SWITCH)</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26/43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NGUYÊN LÝ CƠ - ĐIỆN VÀ TIẾP ĐIỂM</a:t>
            </a:r>
          </a:p>
          <a:p>
            <a:pPr>
              <a:spcAft>
                <a:spcPts val="1200"/>
              </a:spcAft>
            </a:pPr>
            <a:r>
              <a:rPr sz="1450" b="1">
                <a:solidFill>
                  <a:srgbClr val="1B365D"/>
                </a:solidFill>
                <a:latin typeface="Arial"/>
              </a:rPr>
              <a:t>• Cơ chế đóng mở tiếp điểm: </a:t>
            </a:r>
            <a:r>
              <a:rPr sz="1450">
                <a:solidFill>
                  <a:srgbClr val="222222"/>
                </a:solidFill>
                <a:latin typeface="Calibri"/>
              </a:rPr>
              <a:t>Chuyển đổi trạng thái mạch điện thông qua tác động cơ học trực tiếp lên cần gạt (Roller lever) hoặc pit-tông.</a:t>
            </a:r>
          </a:p>
          <a:p>
            <a:pPr>
              <a:spcAft>
                <a:spcPts val="1200"/>
              </a:spcAft>
            </a:pPr>
            <a:r>
              <a:rPr sz="1450" b="1">
                <a:solidFill>
                  <a:srgbClr val="1B365D"/>
                </a:solidFill>
                <a:latin typeface="Arial"/>
              </a:rPr>
              <a:t>• 3 cực đấu nối tiêu chuẩn: </a:t>
            </a:r>
            <a:r>
              <a:rPr sz="1450">
                <a:solidFill>
                  <a:srgbClr val="222222"/>
                </a:solidFill>
                <a:latin typeface="Calibri"/>
              </a:rPr>
              <a:t>Gồm Chân chung COM (Common), Cực thường mở NO (Normally Open) và Cực thường đóng NC (Normally Closed).</a:t>
            </a:r>
          </a:p>
          <a:p>
            <a:pPr>
              <a:spcAft>
                <a:spcPts val="1200"/>
              </a:spcAft>
            </a:pPr>
            <a:r>
              <a:rPr sz="1450" b="1">
                <a:solidFill>
                  <a:srgbClr val="1B365D"/>
                </a:solidFill>
                <a:latin typeface="Arial"/>
              </a:rPr>
              <a:t>• Độ tin cậy công nghiệp tuyệt đối: </a:t>
            </a:r>
            <a:r>
              <a:rPr sz="1450">
                <a:solidFill>
                  <a:srgbClr val="222222"/>
                </a:solidFill>
                <a:latin typeface="Calibri"/>
              </a:rPr>
              <a:t>Hoạt động bằng tiếp xúc cơ học thuần túy, hoàn toàn miễn nhiễm với bụi bẩn dầu mỡ, nhiệt độ cao và nhiễu sóng điện từ.</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VAI TRÒ BẢO VỆ AN TOÀN TRONG CÔNG NGHIỆP</a:t>
            </a:r>
          </a:p>
          <a:p>
            <a:pPr>
              <a:spcAft>
                <a:spcPts val="1000"/>
              </a:spcAft>
            </a:pPr>
            <a:r>
              <a:rPr sz="1450" b="1">
                <a:solidFill>
                  <a:srgbClr val="1B365D"/>
                </a:solidFill>
                <a:latin typeface="Arial"/>
              </a:rPr>
              <a:t>• Định vị gốc tọa độ Home Position: </a:t>
            </a:r>
            <a:r>
              <a:rPr sz="1450">
                <a:solidFill>
                  <a:srgbClr val="222222"/>
                </a:solidFill>
                <a:latin typeface="Calibri"/>
              </a:rPr>
              <a:t>Sử dụng trên máy in 3D, máy phay cắt CNC, cánh tay robot công nghiệp để xác định điểm gốc tọa độ $X=0, Y=0, Z=0$ khi khởi động.</a:t>
            </a:r>
          </a:p>
          <a:p>
            <a:pPr>
              <a:spcAft>
                <a:spcPts val="1000"/>
              </a:spcAft>
            </a:pPr>
            <a:r>
              <a:rPr sz="1450" b="1">
                <a:solidFill>
                  <a:srgbClr val="1B365D"/>
                </a:solidFill>
                <a:latin typeface="Arial"/>
              </a:rPr>
              <a:t>• Ngắt dừng giới hạn hành trình: </a:t>
            </a:r>
            <a:r>
              <a:rPr sz="1450">
                <a:solidFill>
                  <a:srgbClr val="222222"/>
                </a:solidFill>
                <a:latin typeface="Calibri"/>
              </a:rPr>
              <a:t>Ngăn chặn đầu phun hoặc trục bàn trượt di chuyển vượt quá biên độ cho phép, chống gãy trục và cháy động cơ bước.</a:t>
            </a:r>
          </a:p>
          <a:p>
            <a:pPr>
              <a:spcAft>
                <a:spcPts val="1000"/>
              </a:spcAft>
            </a:pPr>
            <a:r>
              <a:rPr sz="1450" b="1">
                <a:solidFill>
                  <a:srgbClr val="1B365D"/>
                </a:solidFill>
                <a:latin typeface="Arial"/>
              </a:rPr>
              <a:t>• Cửa an toàn &amp; Thang máy: </a:t>
            </a:r>
            <a:r>
              <a:rPr sz="1450">
                <a:solidFill>
                  <a:srgbClr val="222222"/>
                </a:solidFill>
                <a:latin typeface="Calibri"/>
              </a:rPr>
              <a:t>Đảm bảo cửa buồng thang máy đóng khít hoàn toàn thì cabin mới được phép vận hành chuyển động.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THỰC HÀNH MỤC 4 - CẢM BIẾN AN TOÀN</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SƠ ĐỒ ĐẤU NỐI CẢM BIẾN MQ-2 VỚI ARDUINO &amp; BUZZER</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27/43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46320" cy="411480"/>
          </a:xfrm>
          <a:prstGeom prst="rect">
            <a:avLst/>
          </a:prstGeom>
          <a:noFill/>
        </p:spPr>
        <p:txBody>
          <a:bodyPr wrap="square" tIns="91440" bIns="91440">
            <a:spAutoFit/>
          </a:bodyPr>
          <a:lstStyle/>
          <a:p>
            <a:pPr>
              <a:defRPr sz="1500" b="1">
                <a:solidFill>
                  <a:srgbClr val="1B365D"/>
                </a:solidFill>
                <a:latin typeface="Arial"/>
              </a:defRPr>
            </a:pPr>
            <a:r>
              <a:t>SƠ ĐỒ ĐẤU DÂY THỰC HÀNH CẢNH BÁO KHÍ GAS</a:t>
            </a:r>
          </a:p>
        </p:txBody>
      </p:sp>
      <p:pic>
        <p:nvPicPr>
          <p:cNvPr id="10" name="Picture 9" descr="1790689922001_4788124567100104341_g8865705790836825326_26dbf77e6fd30a4737e4223c1707c17e.jpg"/>
          <p:cNvPicPr>
            <a:picLocks noChangeAspect="1"/>
          </p:cNvPicPr>
          <p:nvPr/>
        </p:nvPicPr>
        <p:blipFill>
          <a:blip r:embed="rId3"/>
          <a:stretch>
            <a:fillRect/>
          </a:stretch>
        </p:blipFill>
        <p:spPr>
          <a:xfrm>
            <a:off x="914400" y="2130105"/>
            <a:ext cx="4846320" cy="3786509"/>
          </a:xfrm>
          <a:prstGeom prst="rect">
            <a:avLst/>
          </a:prstGeom>
        </p:spPr>
      </p:pic>
      <p:sp>
        <p:nvSpPr>
          <p:cNvPr id="11" name="Rounded Rectangle 10"/>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00200"/>
            <a:ext cx="4846320" cy="457200"/>
          </a:xfrm>
          <a:prstGeom prst="rect">
            <a:avLst/>
          </a:prstGeom>
          <a:noFill/>
        </p:spPr>
        <p:txBody>
          <a:bodyPr wrap="square" tIns="91440" bIns="91440">
            <a:spAutoFit/>
          </a:bodyPr>
          <a:lstStyle/>
          <a:p>
            <a:pPr>
              <a:defRPr sz="1600" b="1">
                <a:solidFill>
                  <a:srgbClr val="C0392B"/>
                </a:solidFill>
                <a:latin typeface="Arial"/>
              </a:defRPr>
            </a:pPr>
            <a:r>
              <a:t>BẢNG PHÂN CHÂN VÀ THÔNG SỐ ĐẤU NỐI</a:t>
            </a:r>
          </a:p>
        </p:txBody>
      </p:sp>
      <p:graphicFrame>
        <p:nvGraphicFramePr>
          <p:cNvPr id="13" name="Table 12"/>
          <p:cNvGraphicFramePr>
            <a:graphicFrameLocks noGrp="1"/>
          </p:cNvGraphicFramePr>
          <p:nvPr/>
        </p:nvGraphicFramePr>
        <p:xfrm>
          <a:off x="6400800" y="2194560"/>
          <a:ext cx="4846320" cy="2926080"/>
        </p:xfrm>
        <a:graphic>
          <a:graphicData uri="http://schemas.openxmlformats.org/drawingml/2006/table">
            <a:tbl>
              <a:tblPr firstRow="1" bandRow="1">
                <a:tableStyleId>{5C22544A-7EE6-4342-B048-85BDC9FD1C3A}</a:tableStyleId>
              </a:tblPr>
              <a:tblGrid>
                <a:gridCol w="1371600"/>
                <a:gridCol w="1371600"/>
                <a:gridCol w="2103120"/>
              </a:tblGrid>
              <a:tr h="585216">
                <a:tc>
                  <a:txBody>
                    <a:bodyPr/>
                    <a:lstStyle/>
                    <a:p>
                      <a:pPr>
                        <a:defRPr sz="1250" b="1">
                          <a:solidFill>
                            <a:srgbClr val="FFFFFF"/>
                          </a:solidFill>
                        </a:defRPr>
                      </a:pPr>
                      <a:r>
                        <a:t>Chân MQ-2</a:t>
                      </a:r>
                    </a:p>
                  </a:txBody>
                  <a:tcPr>
                    <a:solidFill>
                      <a:srgbClr val="1B365D"/>
                    </a:solidFill>
                  </a:tcPr>
                </a:tc>
                <a:tc>
                  <a:txBody>
                    <a:bodyPr/>
                    <a:lstStyle/>
                    <a:p>
                      <a:pPr>
                        <a:defRPr sz="1250" b="1">
                          <a:solidFill>
                            <a:srgbClr val="FFFFFF"/>
                          </a:solidFill>
                        </a:defRPr>
                      </a:pPr>
                      <a:r>
                        <a:t>Arduino Uno</a:t>
                      </a:r>
                    </a:p>
                  </a:txBody>
                  <a:tcPr>
                    <a:solidFill>
                      <a:srgbClr val="1B365D"/>
                    </a:solidFill>
                  </a:tcPr>
                </a:tc>
                <a:tc>
                  <a:txBody>
                    <a:bodyPr/>
                    <a:lstStyle/>
                    <a:p>
                      <a:pPr>
                        <a:defRPr sz="1250" b="1">
                          <a:solidFill>
                            <a:srgbClr val="FFFFFF"/>
                          </a:solidFill>
                        </a:defRPr>
                      </a:pPr>
                      <a:r>
                        <a:t>Chức năng kỹ thuật</a:t>
                      </a:r>
                    </a:p>
                  </a:txBody>
                  <a:tcPr>
                    <a:solidFill>
                      <a:srgbClr val="1B365D"/>
                    </a:solidFill>
                  </a:tcPr>
                </a:tc>
              </a:tr>
              <a:tr h="585216">
                <a:tc>
                  <a:txBody>
                    <a:bodyPr/>
                    <a:lstStyle/>
                    <a:p>
                      <a:pPr>
                        <a:defRPr sz="1250">
                          <a:solidFill>
                            <a:srgbClr val="222222"/>
                          </a:solidFill>
                        </a:defRPr>
                      </a:pPr>
                      <a:r>
                        <a:t>VCC</a:t>
                      </a:r>
                    </a:p>
                  </a:txBody>
                  <a:tcPr/>
                </a:tc>
                <a:tc>
                  <a:txBody>
                    <a:bodyPr/>
                    <a:lstStyle/>
                    <a:p>
                      <a:pPr>
                        <a:defRPr sz="1250">
                          <a:solidFill>
                            <a:srgbClr val="222222"/>
                          </a:solidFill>
                        </a:defRPr>
                      </a:pPr>
                      <a:r>
                        <a:t>5V</a:t>
                      </a:r>
                    </a:p>
                  </a:txBody>
                  <a:tcPr/>
                </a:tc>
                <a:tc>
                  <a:txBody>
                    <a:bodyPr/>
                    <a:lstStyle/>
                    <a:p>
                      <a:pPr>
                        <a:defRPr sz="1250">
                          <a:solidFill>
                            <a:srgbClr val="222222"/>
                          </a:solidFill>
                        </a:defRPr>
                      </a:pPr>
                      <a:r>
                        <a:t>Cấp dòng đốt nóng cuộn sấy</a:t>
                      </a:r>
                    </a:p>
                  </a:txBody>
                  <a:tcPr/>
                </a:tc>
              </a:tr>
              <a:tr h="585216">
                <a:tc>
                  <a:txBody>
                    <a:bodyPr/>
                    <a:lstStyle/>
                    <a:p>
                      <a:pPr>
                        <a:defRPr sz="1250">
                          <a:solidFill>
                            <a:srgbClr val="222222"/>
                          </a:solidFill>
                        </a:defRPr>
                      </a:pPr>
                      <a:r>
                        <a:t>GND</a:t>
                      </a:r>
                    </a:p>
                  </a:txBody>
                  <a:tcPr/>
                </a:tc>
                <a:tc>
                  <a:txBody>
                    <a:bodyPr/>
                    <a:lstStyle/>
                    <a:p>
                      <a:pPr>
                        <a:defRPr sz="1250">
                          <a:solidFill>
                            <a:srgbClr val="222222"/>
                          </a:solidFill>
                        </a:defRPr>
                      </a:pPr>
                      <a:r>
                        <a:t>GND</a:t>
                      </a:r>
                    </a:p>
                  </a:txBody>
                  <a:tcPr/>
                </a:tc>
                <a:tc>
                  <a:txBody>
                    <a:bodyPr/>
                    <a:lstStyle/>
                    <a:p>
                      <a:pPr>
                        <a:defRPr sz="1250">
                          <a:solidFill>
                            <a:srgbClr val="222222"/>
                          </a:solidFill>
                        </a:defRPr>
                      </a:pPr>
                      <a:r>
                        <a:t>Nối mass chung toàn mạch</a:t>
                      </a:r>
                    </a:p>
                  </a:txBody>
                  <a:tcPr/>
                </a:tc>
              </a:tr>
              <a:tr h="585216">
                <a:tc>
                  <a:txBody>
                    <a:bodyPr/>
                    <a:lstStyle/>
                    <a:p>
                      <a:pPr>
                        <a:defRPr sz="1250">
                          <a:solidFill>
                            <a:srgbClr val="222222"/>
                          </a:solidFill>
                        </a:defRPr>
                      </a:pPr>
                      <a:r>
                        <a:t>A0 (Analog)</a:t>
                      </a:r>
                    </a:p>
                  </a:txBody>
                  <a:tcPr/>
                </a:tc>
                <a:tc>
                  <a:txBody>
                    <a:bodyPr/>
                    <a:lstStyle/>
                    <a:p>
                      <a:pPr>
                        <a:defRPr sz="1250">
                          <a:solidFill>
                            <a:srgbClr val="222222"/>
                          </a:solidFill>
                        </a:defRPr>
                      </a:pPr>
                      <a:r>
                        <a:t>Chân A0</a:t>
                      </a:r>
                    </a:p>
                  </a:txBody>
                  <a:tcPr/>
                </a:tc>
                <a:tc>
                  <a:txBody>
                    <a:bodyPr/>
                    <a:lstStyle/>
                    <a:p>
                      <a:pPr>
                        <a:defRPr sz="1250">
                          <a:solidFill>
                            <a:srgbClr val="222222"/>
                          </a:solidFill>
                        </a:defRPr>
                      </a:pPr>
                      <a:r>
                        <a:t>Đọc nồng độ khí liên tục ppm</a:t>
                      </a:r>
                    </a:p>
                  </a:txBody>
                  <a:tcPr/>
                </a:tc>
              </a:tr>
              <a:tr h="585216">
                <a:tc>
                  <a:txBody>
                    <a:bodyPr/>
                    <a:lstStyle/>
                    <a:p>
                      <a:pPr>
                        <a:defRPr sz="1250">
                          <a:solidFill>
                            <a:srgbClr val="222222"/>
                          </a:solidFill>
                        </a:defRPr>
                      </a:pPr>
                      <a:r>
                        <a:t>D0 (Digital)</a:t>
                      </a:r>
                    </a:p>
                  </a:txBody>
                  <a:tcPr/>
                </a:tc>
                <a:tc>
                  <a:txBody>
                    <a:bodyPr/>
                    <a:lstStyle/>
                    <a:p>
                      <a:pPr>
                        <a:defRPr sz="1250">
                          <a:solidFill>
                            <a:srgbClr val="222222"/>
                          </a:solidFill>
                        </a:defRPr>
                      </a:pPr>
                      <a:r>
                        <a:t>Chân D2</a:t>
                      </a:r>
                    </a:p>
                  </a:txBody>
                  <a:tcPr/>
                </a:tc>
                <a:tc>
                  <a:txBody>
                    <a:bodyPr/>
                    <a:lstStyle/>
                    <a:p>
                      <a:pPr>
                        <a:defRPr sz="1250">
                          <a:solidFill>
                            <a:srgbClr val="222222"/>
                          </a:solidFill>
                        </a:defRPr>
                      </a:pPr>
                      <a:r>
                        <a:t>Kích còi báo động theo ngưỡng</a:t>
                      </a:r>
                    </a:p>
                  </a:txBody>
                  <a:tcPr/>
                </a:tc>
              </a:tr>
            </a:tbl>
          </a:graphicData>
        </a:graphic>
      </p:graphicFrame>
      <p:sp>
        <p:nvSpPr>
          <p:cNvPr id="14" name="TextBox 13"/>
          <p:cNvSpPr txBox="1"/>
          <p:nvPr/>
        </p:nvSpPr>
        <p:spPr>
          <a:xfrm>
            <a:off x="6400800" y="5303520"/>
            <a:ext cx="4846320" cy="822960"/>
          </a:xfrm>
          <a:prstGeom prst="rect">
            <a:avLst/>
          </a:prstGeom>
          <a:noFill/>
        </p:spPr>
        <p:txBody>
          <a:bodyPr wrap="square" tIns="91440" bIns="91440">
            <a:spAutoFit/>
          </a:bodyPr>
          <a:lstStyle/>
          <a:p>
            <a:pPr>
              <a:defRPr sz="1250" b="1">
                <a:solidFill>
                  <a:srgbClr val="C0392B"/>
                </a:solidFill>
              </a:defRPr>
            </a:pPr>
            <a:r>
              <a:t>Lưu ý an toàn: Còi Buzzer nối vào chân Digital D8 để hú còi cảnh báo khi chân D0 chuyển mức LOW.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THỰC HÀNH MỤC 4 - CẢM BIẾN AN TOÀN</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QUY TRÌNH 4 BƯỚC THỰC HÀNH CĂN CHỈNH &amp; TEST KHÍ GAS MQ-2</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28/43</a:t>
            </a:r>
          </a:p>
        </p:txBody>
      </p:sp>
      <p:sp>
        <p:nvSpPr>
          <p:cNvPr id="8" name="Rounded Rectangle 7"/>
          <p:cNvSpPr/>
          <p:nvPr/>
        </p:nvSpPr>
        <p:spPr>
          <a:xfrm>
            <a:off x="731520" y="1417320"/>
            <a:ext cx="10725912"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00200"/>
            <a:ext cx="10177272" cy="4480560"/>
          </a:xfrm>
          <a:prstGeom prst="rect">
            <a:avLst/>
          </a:prstGeom>
          <a:noFill/>
        </p:spPr>
        <p:txBody>
          <a:bodyPr wrap="square" tIns="91440" bIns="91440">
            <a:spAutoFit/>
          </a:bodyPr>
          <a:lstStyle/>
          <a:p>
            <a:pPr>
              <a:spcAft>
                <a:spcPts val="1400"/>
              </a:spcAft>
              <a:defRPr sz="1700" b="1">
                <a:solidFill>
                  <a:srgbClr val="C0392B"/>
                </a:solidFill>
                <a:latin typeface="Arial"/>
              </a:defRPr>
            </a:pPr>
            <a:r>
              <a:t>CÁC BƯỚC THAO TÁC THỰC NGHIỆM CHUẨN TẠI PHÒNG THỰC HÀNH</a:t>
            </a:r>
          </a:p>
          <a:p>
            <a:pPr>
              <a:spcAft>
                <a:spcPts val="1200"/>
              </a:spcAft>
            </a:pPr>
            <a:r>
              <a:rPr sz="1450" b="1">
                <a:solidFill>
                  <a:srgbClr val="1B365D"/>
                </a:solidFill>
                <a:latin typeface="Arial"/>
              </a:rPr>
              <a:t>• Bước 1 (Sấy cảm biến ổn định): </a:t>
            </a:r>
            <a:r>
              <a:rPr sz="1450">
                <a:solidFill>
                  <a:srgbClr val="222222"/>
                </a:solidFill>
                <a:latin typeface="Calibri"/>
              </a:rPr>
              <a:t>Cấp nguồn 5V cho Arduino Uno kết nối MQ-2. Chờ từ 1 đến 2 phút cho cuộn sấy làm nóng lõi SnO2 bên trong đạt trạng thái cân bằng nhiệt hóa học (lúc này sờ vỏ ngoài cảm biến sẽ thấy ấm nhẹ).</a:t>
            </a:r>
          </a:p>
          <a:p>
            <a:pPr>
              <a:spcAft>
                <a:spcPts val="1200"/>
              </a:spcAft>
            </a:pPr>
            <a:r>
              <a:rPr sz="1450" b="1">
                <a:solidFill>
                  <a:srgbClr val="1B365D"/>
                </a:solidFill>
                <a:latin typeface="Arial"/>
              </a:rPr>
              <a:t>• Bước 2 (Kiểm tra trong không khí sạch): </a:t>
            </a:r>
            <a:r>
              <a:rPr sz="1450">
                <a:solidFill>
                  <a:srgbClr val="222222"/>
                </a:solidFill>
                <a:latin typeface="Calibri"/>
              </a:rPr>
              <a:t>Đặt cảm biến trong môi trường không khí thoáng đãng. Quan sát 2 đèn LED trên module (LED nguồn đỏ sáng liên tục; LED D0 xanh báo trạng thái ngưỡng).</a:t>
            </a:r>
          </a:p>
          <a:p>
            <a:pPr>
              <a:spcAft>
                <a:spcPts val="1200"/>
              </a:spcAft>
            </a:pPr>
            <a:r>
              <a:rPr sz="1450" b="1">
                <a:solidFill>
                  <a:srgbClr val="1B365D"/>
                </a:solidFill>
                <a:latin typeface="Arial"/>
              </a:rPr>
              <a:t>• Bước 3 (Căn chỉnh biến trở ngưỡng nhạy): </a:t>
            </a:r>
            <a:r>
              <a:rPr sz="1450">
                <a:solidFill>
                  <a:srgbClr val="222222"/>
                </a:solidFill>
                <a:latin typeface="Calibri"/>
              </a:rPr>
              <a:t>Dùng tua-vít nhỏ vặn xoay nhẹ biến trở vi chỉnh trên module MQ-2 cho đến khi đèn LED chỉ thị D0 vừa tắt hẳn (thiết lập ngưỡng nhạy tối ưu ở trạng thái không khí bình thường).</a:t>
            </a:r>
          </a:p>
          <a:p>
            <a:pPr>
              <a:spcAft>
                <a:spcPts val="1200"/>
              </a:spcAft>
            </a:pPr>
            <a:r>
              <a:rPr sz="1450" b="1">
                <a:solidFill>
                  <a:srgbClr val="1B365D"/>
                </a:solidFill>
                <a:latin typeface="Arial"/>
              </a:rPr>
              <a:t>• Bước 4 (Thực nghiệm kiểm tra độ nhạy khí gas): </a:t>
            </a:r>
            <a:r>
              <a:rPr sz="1450">
                <a:solidFill>
                  <a:srgbClr val="222222"/>
                </a:solidFill>
                <a:latin typeface="Calibri"/>
              </a:rPr>
              <a:t>Ấn nhẹ đầu van bật lửa xì luồng khí gas (LƯU Ý QUAN TRỌNG: TUYỆT ĐỐI KHÔNG BẬT TIA LỬA) lại gần đầu cảm biến: Đèn LED D0 lập tức SÁNG RỰC và còi Buzzer phát tiếng kêu báo động tức thì!</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THỰC HÀNH MỤC 4 - CẢM BIẾN AN TOÀN</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HƯỚNG DẪN NỐI DÂY &amp; HIỆU CHUẨN ĐIỂM 0 CẢM BIẾN ACS712</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29/43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QUY TẮC ĐẤU NỐI MẠCH TẢI VÀ ĐIỀU KHIỂN</a:t>
            </a:r>
          </a:p>
          <a:p>
            <a:pPr>
              <a:spcAft>
                <a:spcPts val="1200"/>
              </a:spcAft>
            </a:pPr>
            <a:r>
              <a:rPr sz="1450" b="1">
                <a:solidFill>
                  <a:srgbClr val="1B365D"/>
                </a:solidFill>
                <a:latin typeface="Arial"/>
              </a:rPr>
              <a:t>• Phía điều khiển vi mạch 5V: </a:t>
            </a:r>
            <a:r>
              <a:rPr sz="1450">
                <a:solidFill>
                  <a:srgbClr val="222222"/>
                </a:solidFill>
                <a:latin typeface="Calibri"/>
              </a:rPr>
              <a:t>Chân VCC nối 5V Arduino, GND nối chung mass, chân OUT nối chân Analog A1.</a:t>
            </a:r>
          </a:p>
          <a:p>
            <a:pPr>
              <a:spcAft>
                <a:spcPts val="1200"/>
              </a:spcAft>
            </a:pPr>
            <a:r>
              <a:rPr sz="1450" b="1">
                <a:solidFill>
                  <a:srgbClr val="1B365D"/>
                </a:solidFill>
                <a:latin typeface="Arial"/>
              </a:rPr>
              <a:t>• Phía mạch tải công suất cao: </a:t>
            </a:r>
            <a:r>
              <a:rPr sz="1450">
                <a:solidFill>
                  <a:srgbClr val="222222"/>
                </a:solidFill>
                <a:latin typeface="Calibri"/>
              </a:rPr>
              <a:t>Đấu NỐI TIẾP (Series) 2 cọc domino vặn vít của ACS712 vào 1 dây nguồn của tải tiêu thụ (đèn hoặc động cơ AC/DC). Tuyệt đối không đấu song song gây chập mạch!</a:t>
            </a:r>
          </a:p>
          <a:p>
            <a:pPr>
              <a:spcAft>
                <a:spcPts val="1200"/>
              </a:spcAft>
            </a:pPr>
            <a:r>
              <a:rPr sz="1450" b="1">
                <a:solidFill>
                  <a:srgbClr val="1B365D"/>
                </a:solidFill>
                <a:latin typeface="Arial"/>
              </a:rPr>
              <a:t>• An toàn chống điện giật: </a:t>
            </a:r>
            <a:r>
              <a:rPr sz="1450">
                <a:solidFill>
                  <a:srgbClr val="222222"/>
                </a:solidFill>
                <a:latin typeface="Calibri"/>
              </a:rPr>
              <a:t>Phần mạch đo dòng lớn được bọc cách ly hoàn toàn với các chân tín hiệu vi xử lý.</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HIỆU CHUẨN ĐIỂM ZERO-CURRENT OFFSET</a:t>
            </a:r>
          </a:p>
          <a:p>
            <a:pPr>
              <a:spcAft>
                <a:spcPts val="1000"/>
              </a:spcAft>
            </a:pPr>
            <a:r>
              <a:rPr sz="1450" b="1">
                <a:solidFill>
                  <a:srgbClr val="1B365D"/>
                </a:solidFill>
                <a:latin typeface="Arial"/>
              </a:rPr>
              <a:t>• Bước 1: Khi chưa bật tải (Dòng 0A): </a:t>
            </a:r>
            <a:r>
              <a:rPr sz="1450">
                <a:solidFill>
                  <a:srgbClr val="222222"/>
                </a:solidFill>
                <a:latin typeface="Calibri"/>
              </a:rPr>
              <a:t>Đọc giá trị điện áp ngõ ra Analog. Theo lý thuyết, $V_{out} = 2.50V$ (tương đương giá trị đọc ADC = 512).</a:t>
            </a:r>
          </a:p>
          <a:p>
            <a:pPr>
              <a:spcAft>
                <a:spcPts val="1000"/>
              </a:spcAft>
            </a:pPr>
            <a:r>
              <a:rPr sz="1450" b="1">
                <a:solidFill>
                  <a:srgbClr val="1B365D"/>
                </a:solidFill>
                <a:latin typeface="Arial"/>
              </a:rPr>
              <a:t>• Bước 2: Bù sai số thực tế: </a:t>
            </a:r>
            <a:r>
              <a:rPr sz="1450">
                <a:solidFill>
                  <a:srgbClr val="222222"/>
                </a:solidFill>
                <a:latin typeface="Calibri"/>
              </a:rPr>
              <a:t>Đo đạc thực tế giá trị ADC lúc tĩnh (ví dụ: 514) để gán làm biến offset chuẩn trong code Arduino.</a:t>
            </a:r>
          </a:p>
          <a:p>
            <a:pPr>
              <a:spcAft>
                <a:spcPts val="1000"/>
              </a:spcAft>
            </a:pPr>
            <a:r>
              <a:rPr sz="1450" b="1">
                <a:solidFill>
                  <a:srgbClr val="1B365D"/>
                </a:solidFill>
                <a:latin typeface="Arial"/>
              </a:rPr>
              <a:t>• Bước 3: Công thức chuyển đổi dòng điện: </a:t>
            </a:r>
            <a:r>
              <a:rPr sz="1450">
                <a:solidFill>
                  <a:srgbClr val="222222"/>
                </a:solidFill>
                <a:latin typeface="Calibri"/>
              </a:rPr>
              <a:t>$I = \frac{(V_{out} - 2.5V)}{\text{Độ nhạy (mV/A)}}$. Với phiên bản 20A có độ nhạy là 100 mV/A (0.1 V/A).</a:t>
            </a:r>
          </a:p>
          <a:p>
            <a:pPr>
              <a:spcAft>
                <a:spcPts val="1000"/>
              </a:spcAft>
            </a:pPr>
            <a:r>
              <a:rPr sz="1450" b="1">
                <a:solidFill>
                  <a:srgbClr val="1B365D"/>
                </a:solidFill>
                <a:latin typeface="Arial"/>
              </a:rPr>
              <a:t>• Bước 4: Lấy mẫu trung bình lọc nhiễu: </a:t>
            </a:r>
            <a:r>
              <a:rPr sz="1450">
                <a:solidFill>
                  <a:srgbClr val="222222"/>
                </a:solidFill>
                <a:latin typeface="Calibri"/>
              </a:rPr>
              <a:t>Đọc liên tục 100 mẫu rồi lấy giá trị trung bình để triệt tiêu nhiễu sóng xoay chiều.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A: THỰC HÀNH MỤC 4 - CẢM BIẾN AN TOÀN</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HƯỚNG DẪN NỐI TIẾP ĐIỂM &amp; CẤU HÌNH INPUT_PULLUP</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30/43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ĐẤU NỐI TIẾP ĐIỂM COM &amp; NO CHỐNG NHIỄU</a:t>
            </a:r>
          </a:p>
          <a:p>
            <a:pPr>
              <a:spcAft>
                <a:spcPts val="1200"/>
              </a:spcAft>
            </a:pPr>
            <a:r>
              <a:rPr sz="1450" b="1">
                <a:solidFill>
                  <a:srgbClr val="1B365D"/>
                </a:solidFill>
                <a:latin typeface="Arial"/>
              </a:rPr>
              <a:t>• Chân chung COM (Common): </a:t>
            </a:r>
            <a:r>
              <a:rPr sz="1450">
                <a:solidFill>
                  <a:srgbClr val="222222"/>
                </a:solidFill>
                <a:latin typeface="Calibri"/>
              </a:rPr>
              <a:t>Nối vào chân mass đất (GND) của board Arduino Uno.</a:t>
            </a:r>
          </a:p>
          <a:p>
            <a:pPr>
              <a:spcAft>
                <a:spcPts val="1200"/>
              </a:spcAft>
            </a:pPr>
            <a:r>
              <a:rPr sz="1450" b="1">
                <a:solidFill>
                  <a:srgbClr val="1B365D"/>
                </a:solidFill>
                <a:latin typeface="Arial"/>
              </a:rPr>
              <a:t>• Chân thường mở NO (Normally Open): </a:t>
            </a:r>
            <a:r>
              <a:rPr sz="1450">
                <a:solidFill>
                  <a:srgbClr val="222222"/>
                </a:solidFill>
                <a:latin typeface="Calibri"/>
              </a:rPr>
              <a:t>Nối trực tiếp vào chân Digital D3 của Arduino Uno.</a:t>
            </a:r>
          </a:p>
          <a:p>
            <a:pPr>
              <a:spcAft>
                <a:spcPts val="1200"/>
              </a:spcAft>
            </a:pPr>
            <a:r>
              <a:rPr sz="1450" b="1">
                <a:solidFill>
                  <a:srgbClr val="1B365D"/>
                </a:solidFill>
                <a:latin typeface="Arial"/>
              </a:rPr>
              <a:t>• Cơ chế đóng ngắt: </a:t>
            </a:r>
            <a:r>
              <a:rPr sz="1450">
                <a:solidFill>
                  <a:srgbClr val="222222"/>
                </a:solidFill>
                <a:latin typeface="Calibri"/>
              </a:rPr>
              <a:t>Khi chưa chạm cần gạt, tiếp điểm hở; Khi cơ cấu cơ khí đè lên cần gạt, tiếp điểm đóng lại, nối tắt chân D3 thẳng xuống mass đất (GND).</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CẤU HÌNH PHẦN MỀM INPUT_PULLUP</a:t>
            </a:r>
          </a:p>
          <a:p>
            <a:pPr>
              <a:spcAft>
                <a:spcPts val="1000"/>
              </a:spcAft>
            </a:pPr>
            <a:r>
              <a:rPr sz="1450" b="1">
                <a:solidFill>
                  <a:srgbClr val="1B365D"/>
                </a:solidFill>
                <a:latin typeface="Arial"/>
              </a:rPr>
              <a:t>• Kích hoạt điện trở kéo lên nội: </a:t>
            </a:r>
            <a:r>
              <a:rPr sz="1450">
                <a:solidFill>
                  <a:srgbClr val="222222"/>
                </a:solidFill>
                <a:latin typeface="Calibri"/>
              </a:rPr>
              <a:t>Sử dụng lệnh pinMode(3, INPUT_PULLUP) kích hoạt điện trở kéo lên nội 20kΩ bên trong vi xử lý ATmega328P, không cần hàn thêm điện trở ngoài.</a:t>
            </a:r>
          </a:p>
          <a:p>
            <a:pPr>
              <a:spcAft>
                <a:spcPts val="1000"/>
              </a:spcAft>
            </a:pPr>
            <a:r>
              <a:rPr sz="1450" b="1">
                <a:solidFill>
                  <a:srgbClr val="1B365D"/>
                </a:solidFill>
                <a:latin typeface="Arial"/>
              </a:rPr>
              <a:t>• Logic trạng thái đọc được: </a:t>
            </a:r>
            <a:r>
              <a:rPr sz="1450">
                <a:solidFill>
                  <a:srgbClr val="222222"/>
                </a:solidFill>
                <a:latin typeface="Calibri"/>
              </a:rPr>
              <a:t>Bình thường không bấm: Đọc mức HIGH (1); Khi công tắc bị chạm đè: Đọc mức LOW (0).</a:t>
            </a:r>
          </a:p>
          <a:p>
            <a:pPr>
              <a:spcAft>
                <a:spcPts val="1000"/>
              </a:spcAft>
            </a:pPr>
            <a:r>
              <a:rPr sz="1450" b="1">
                <a:solidFill>
                  <a:srgbClr val="1B365D"/>
                </a:solidFill>
                <a:latin typeface="Arial"/>
              </a:rPr>
              <a:t>• Thuật toán chống rung phím (Debounce): </a:t>
            </a:r>
            <a:r>
              <a:rPr sz="1450">
                <a:solidFill>
                  <a:srgbClr val="222222"/>
                </a:solidFill>
                <a:latin typeface="Calibri"/>
              </a:rPr>
              <a:t>Sử dụng độ trễ delay(20) để bỏ qua các xung rung cơ học khi tiếp điểm kim loại va đập vào nhau.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B: BÁO CÁO THỰC HÀNH - BÀI TẬP 1</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BÀI TẬP 1: CẢM BIẾN DHT11 - SƠ ĐỒ ĐẤU NỐI &amp; MÃ NGUỒN</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31/43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BẢNG PHÂN CHÂN ĐẤU NỐI PHẦN CỨNG</a:t>
            </a:r>
          </a:p>
          <a:p>
            <a:pPr>
              <a:spcAft>
                <a:spcPts val="1000"/>
              </a:spcAft>
            </a:pPr>
            <a:r>
              <a:rPr sz="1450" b="1">
                <a:solidFill>
                  <a:srgbClr val="1B365D"/>
                </a:solidFill>
                <a:latin typeface="Arial"/>
              </a:rPr>
              <a:t>• Chân VCC (+): </a:t>
            </a:r>
            <a:r>
              <a:rPr sz="1450">
                <a:solidFill>
                  <a:srgbClr val="222222"/>
                </a:solidFill>
                <a:latin typeface="Calibri"/>
              </a:rPr>
              <a:t>Nối chân cấp nguồn 5V trên Arduino Uno R3.</a:t>
            </a:r>
          </a:p>
          <a:p>
            <a:pPr>
              <a:spcAft>
                <a:spcPts val="1000"/>
              </a:spcAft>
            </a:pPr>
            <a:r>
              <a:rPr sz="1450" b="1">
                <a:solidFill>
                  <a:srgbClr val="1B365D"/>
                </a:solidFill>
                <a:latin typeface="Arial"/>
              </a:rPr>
              <a:t>• Chân GND (-): </a:t>
            </a:r>
            <a:r>
              <a:rPr sz="1450">
                <a:solidFill>
                  <a:srgbClr val="222222"/>
                </a:solidFill>
                <a:latin typeface="Calibri"/>
              </a:rPr>
              <a:t>Nối chân mass đất (GND) trên Arduino Uno R3.</a:t>
            </a:r>
          </a:p>
          <a:p>
            <a:pPr>
              <a:spcAft>
                <a:spcPts val="1000"/>
              </a:spcAft>
            </a:pPr>
            <a:r>
              <a:rPr sz="1450" b="1">
                <a:solidFill>
                  <a:srgbClr val="1B365D"/>
                </a:solidFill>
                <a:latin typeface="Arial"/>
              </a:rPr>
              <a:t>• Chân DATA (S): </a:t>
            </a:r>
            <a:r>
              <a:rPr sz="1450">
                <a:solidFill>
                  <a:srgbClr val="222222"/>
                </a:solidFill>
                <a:latin typeface="Calibri"/>
              </a:rPr>
              <a:t>Nối vào chân kỹ thuật số Digital D4 trên Arduino.</a:t>
            </a:r>
          </a:p>
          <a:p>
            <a:pPr>
              <a:spcAft>
                <a:spcPts val="1000"/>
              </a:spcAft>
            </a:pPr>
            <a:r>
              <a:rPr sz="1450" b="1">
                <a:solidFill>
                  <a:srgbClr val="1B365D"/>
                </a:solidFill>
                <a:latin typeface="Arial"/>
              </a:rPr>
              <a:t>• Trở kéo lên (Pull-up): </a:t>
            </a:r>
            <a:r>
              <a:rPr sz="1450">
                <a:solidFill>
                  <a:srgbClr val="222222"/>
                </a:solidFill>
                <a:latin typeface="Calibri"/>
              </a:rPr>
              <a:t>Điện trở 10kΩ giữa chân VCC và Data giúp chống suy hao xung trên đường truyền 1-Wire.</a:t>
            </a:r>
          </a:p>
          <a:p>
            <a:pPr>
              <a:spcAft>
                <a:spcPts val="1000"/>
              </a:spcAft>
            </a:pPr>
            <a:r>
              <a:rPr sz="1450" b="1">
                <a:solidFill>
                  <a:srgbClr val="1B365D"/>
                </a:solidFill>
                <a:latin typeface="Arial"/>
              </a:rPr>
              <a:t>• Thư viện phần mềm: </a:t>
            </a:r>
            <a:r>
              <a:rPr sz="1450">
                <a:solidFill>
                  <a:srgbClr val="222222"/>
                </a:solidFill>
                <a:latin typeface="Calibri"/>
              </a:rPr>
              <a:t>Cài đặt thư viện DHT sensor library từ Adafruit.</a:t>
            </a:r>
          </a:p>
        </p:txBody>
      </p:sp>
      <p:sp>
        <p:nvSpPr>
          <p:cNvPr id="10" name="Rounded Rectangle 9"/>
          <p:cNvSpPr/>
          <p:nvPr/>
        </p:nvSpPr>
        <p:spPr>
          <a:xfrm>
            <a:off x="6217920" y="1417320"/>
            <a:ext cx="5212080" cy="4892040"/>
          </a:xfrm>
          <a:prstGeom prst="roundRect">
            <a:avLst/>
          </a:prstGeom>
          <a:solidFill>
            <a:srgbClr val="F3F5F8"/>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000"/>
              </a:spcAft>
              <a:defRPr sz="1600" b="1">
                <a:solidFill>
                  <a:srgbClr val="C0392B"/>
                </a:solidFill>
                <a:latin typeface="Arial"/>
              </a:defRPr>
            </a:pPr>
            <a:r>
              <a:t>2. MÃ NGUỒN ARDUINO ĐỌC DỮ LIỆU SERIAL</a:t>
            </a:r>
          </a:p>
          <a:p>
            <a:pPr>
              <a:defRPr sz="1200">
                <a:solidFill>
                  <a:srgbClr val="1B365D"/>
                </a:solidFill>
                <a:latin typeface="Consolas"/>
              </a:defRPr>
            </a:pPr>
            <a:r>
              <a:t>#include "DHT.h"</a:t>
            </a:r>
            <a:br/>
            <a:r>
              <a:t>#define DHTPIN 4</a:t>
            </a:r>
            <a:br/>
            <a:r>
              <a:t>#define DHTTYPE DHT11</a:t>
            </a:r>
            <a:br/>
            <a:br/>
            <a:r>
              <a:t>DHT dht(DHTPIN, DHTTYPE);</a:t>
            </a:r>
            <a:br/>
            <a:br/>
            <a:r>
              <a:t>void setup() {</a:t>
            </a:r>
            <a:br/>
            <a:r>
              <a:t>  Serial.begin(9600);</a:t>
            </a:r>
            <a:br/>
            <a:r>
              <a:t>  dht.begin();</a:t>
            </a:r>
            <a:br/>
            <a:r>
              <a:t>}</a:t>
            </a:r>
            <a:br/>
            <a:br/>
            <a:r>
              <a:t>void loop() {</a:t>
            </a:r>
            <a:br/>
            <a:r>
              <a:t>  delay(2000);</a:t>
            </a:r>
            <a:br/>
            <a:r>
              <a:t>  float h = dht.readHumidity();</a:t>
            </a:r>
            <a:br/>
            <a:r>
              <a:t>  float t = dht.readTemperature();</a:t>
            </a:r>
            <a:br/>
            <a:r>
              <a:t>  if (isnan(h) || isnan(t)) {</a:t>
            </a:r>
            <a:br/>
            <a:r>
              <a:t>    Serial.println("Loi doc cam bien!");</a:t>
            </a:r>
            <a:br/>
            <a:r>
              <a:t>    return;</a:t>
            </a:r>
            <a:br/>
            <a:r>
              <a:t>  }</a:t>
            </a:r>
            <a:br/>
            <a:r>
              <a:t>  Serial.print("Do am: "); Serial.print(h);</a:t>
            </a:r>
            <a:br/>
            <a:r>
              <a:t>  Serial.print("% | Nhiet do: "); Serial.print(t);</a:t>
            </a:r>
            <a:br/>
            <a:r>
              <a:t>  Serial.println(" *C");</a:t>
            </a:r>
            <a:br/>
            <a: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B: BÁO CÁO THỰC HÀNH - BÀI TẬP 1</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THỬ NGHIỆM CẮM CHÂN DATA DHT11 VÀO CHÂN ANALOG A0</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32/43</a:t>
            </a:r>
          </a:p>
        </p:txBody>
      </p:sp>
      <p:sp>
        <p:nvSpPr>
          <p:cNvPr id="8" name="Rounded Rectangle 7"/>
          <p:cNvSpPr/>
          <p:nvPr/>
        </p:nvSpPr>
        <p:spPr>
          <a:xfrm>
            <a:off x="731520" y="1417320"/>
            <a:ext cx="10725912"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00200"/>
            <a:ext cx="10177272" cy="4480560"/>
          </a:xfrm>
          <a:prstGeom prst="rect">
            <a:avLst/>
          </a:prstGeom>
          <a:noFill/>
        </p:spPr>
        <p:txBody>
          <a:bodyPr wrap="square" tIns="91440" bIns="91440">
            <a:spAutoFit/>
          </a:bodyPr>
          <a:lstStyle/>
          <a:p>
            <a:pPr>
              <a:spcAft>
                <a:spcPts val="1400"/>
              </a:spcAft>
              <a:defRPr sz="1700" b="1">
                <a:solidFill>
                  <a:srgbClr val="C0392B"/>
                </a:solidFill>
                <a:latin typeface="Arial"/>
              </a:defRPr>
            </a:pPr>
            <a:r>
              <a:t>KẾT QUẢ THỰC NGHIỆM &amp; PHÂN TÍCH BẢN CHẤT KỸ THUẬT PHẦN CỨNG</a:t>
            </a:r>
          </a:p>
          <a:p>
            <a:pPr>
              <a:spcAft>
                <a:spcPts val="1200"/>
              </a:spcAft>
            </a:pPr>
            <a:r>
              <a:rPr sz="1450" b="1">
                <a:solidFill>
                  <a:srgbClr val="1B365D"/>
                </a:solidFill>
                <a:latin typeface="Arial"/>
              </a:rPr>
              <a:t>1. Hiện tượng quan sát được khi cắm vào chân A0: </a:t>
            </a:r>
            <a:r>
              <a:rPr sz="1450">
                <a:solidFill>
                  <a:srgbClr val="222222"/>
                </a:solidFill>
                <a:latin typeface="Calibri"/>
              </a:rPr>
              <a:t>Hệ thống VẪN HOẠT ĐỘNG HOÀN TOÀN BÌNH THƯỜNG! Dữ liệu nhiệt độ và độ ẩm vẫn được giải mã chính xác và hiển thị liên tục lên màn hình Serial Monitor (với điều kiện khai báo #define DHTPIN A0 trong mã nguồn).</a:t>
            </a:r>
          </a:p>
          <a:p>
            <a:pPr>
              <a:spcAft>
                <a:spcPts val="1200"/>
              </a:spcAft>
            </a:pPr>
            <a:r>
              <a:rPr sz="1450" b="1">
                <a:solidFill>
                  <a:srgbClr val="1B365D"/>
                </a:solidFill>
                <a:latin typeface="Arial"/>
              </a:rPr>
              <a:t>2. Bản chất phần cứng vi điều khiển ATmega328P: </a:t>
            </a:r>
            <a:r>
              <a:rPr sz="1450">
                <a:solidFill>
                  <a:srgbClr val="222222"/>
                </a:solidFill>
                <a:latin typeface="Calibri"/>
              </a:rPr>
              <a:t>Các chân từ A0 đến A5 trên Arduino Uno về bản chất cấu trúc silicon là các chân GPIO (General Purpose Input/Output) đa năng kỹ thuật số, được tích hợp thêm kênh ngõ vào của bộ chuyển đổi ADC (Analog-to-Digital Converter). Khi gọi các hàm giao tiếp logic kỹ thuật số, chân A0 đóng vai trò hoàn toàn tương đương với chân Digital D14.</a:t>
            </a:r>
          </a:p>
          <a:p>
            <a:pPr>
              <a:spcAft>
                <a:spcPts val="1200"/>
              </a:spcAft>
            </a:pPr>
            <a:r>
              <a:rPr sz="1450" b="1">
                <a:solidFill>
                  <a:srgbClr val="1B365D"/>
                </a:solidFill>
                <a:latin typeface="Arial"/>
              </a:rPr>
              <a:t>3. Cơ chế giao thức 1-Wire của thư viện DHT: </a:t>
            </a:r>
            <a:r>
              <a:rPr sz="1450">
                <a:solidFill>
                  <a:srgbClr val="222222"/>
                </a:solidFill>
                <a:latin typeface="Calibri"/>
              </a:rPr>
              <a:t>Thư viện DHT sử dụng các lệnh digitalRead(A0) và digitalWrite(A0) để điều khiển kéo hạ mức logic và đo thời gian xung 40-bit dữ liệu, hoàn toàn không gọi hàm đọc điện áp analogRead(). Do đó, bản chất truyền tín hiệu là xung số Digital.</a:t>
            </a:r>
          </a:p>
          <a:p>
            <a:pPr>
              <a:spcAft>
                <a:spcPts val="1200"/>
              </a:spcAft>
            </a:pPr>
            <a:r>
              <a:rPr sz="1450" b="1">
                <a:solidFill>
                  <a:srgbClr val="1B365D"/>
                </a:solidFill>
                <a:latin typeface="Arial"/>
              </a:rPr>
              <a:t>4. Bài học thiết kế hệ thống nhúng chuyên nghiệp: </a:t>
            </a:r>
            <a:r>
              <a:rPr sz="1450">
                <a:solidFill>
                  <a:srgbClr val="222222"/>
                </a:solidFill>
                <a:latin typeface="Calibri"/>
              </a:rPr>
              <a:t>Dù chân Analog dùng tốt cho Digital, trong thiết kế mạch thực tế nên ưu tiên dành các chân Analog A0-A5 cho các cảm biến ngõ ra điện áp liên tục (như MQ-2, LDR, LM35) và dùng chân D2-D13 cho cảm biến số 1-Wire/Digital để tối ưu hóa tài nguyên phần cứng.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B: BÁO CÁO THỰC HÀNH - BÀI TẬP 2</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BÀI TẬP 2: CẢM BIẾN SIÊU ÂM HC-SR04 - MÃ NGUỒN ARDUINO</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33/43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NGUYÊN LÝ LẬP TRÌNH ĐO THỜI GIAN</a:t>
            </a:r>
          </a:p>
          <a:p>
            <a:pPr>
              <a:spcAft>
                <a:spcPts val="1200"/>
              </a:spcAft>
            </a:pPr>
            <a:r>
              <a:rPr sz="1450" b="1">
                <a:solidFill>
                  <a:srgbClr val="1B365D"/>
                </a:solidFill>
                <a:latin typeface="Arial"/>
              </a:rPr>
              <a:t>• Kích phát xung 10µs: </a:t>
            </a:r>
            <a:r>
              <a:rPr sz="1450">
                <a:solidFill>
                  <a:srgbClr val="222222"/>
                </a:solidFill>
                <a:latin typeface="Calibri"/>
              </a:rPr>
              <a:t>Kéo chân Trig lên mức HIGH trong đúng 10 microsecond rồi hạ xuống LOW để module tự phát 8 xung siêu âm.</a:t>
            </a:r>
          </a:p>
          <a:p>
            <a:pPr>
              <a:spcAft>
                <a:spcPts val="1200"/>
              </a:spcAft>
            </a:pPr>
            <a:r>
              <a:rPr sz="1450" b="1">
                <a:solidFill>
                  <a:srgbClr val="1B365D"/>
                </a:solidFill>
                <a:latin typeface="Arial"/>
              </a:rPr>
              <a:t>• Hàm đo thời gian pulseIn(): </a:t>
            </a:r>
            <a:r>
              <a:rPr sz="1450">
                <a:solidFill>
                  <a:srgbClr val="222222"/>
                </a:solidFill>
                <a:latin typeface="Calibri"/>
              </a:rPr>
              <a:t>Đo thời gian chân Echo giữ mức HIGH (đơn vị microsecond) cho tới khi nhận được sóng phản xạ dội về.</a:t>
            </a:r>
          </a:p>
          <a:p>
            <a:pPr>
              <a:spcAft>
                <a:spcPts val="1200"/>
              </a:spcAft>
            </a:pPr>
            <a:r>
              <a:rPr sz="1450" b="1">
                <a:solidFill>
                  <a:srgbClr val="1B365D"/>
                </a:solidFill>
                <a:latin typeface="Arial"/>
              </a:rPr>
              <a:t>• Công thức quy đổi ra cm: </a:t>
            </a:r>
            <a:r>
              <a:rPr sz="1450">
                <a:solidFill>
                  <a:srgbClr val="222222"/>
                </a:solidFill>
                <a:latin typeface="Calibri"/>
              </a:rPr>
              <a:t>Khoảng cách = (Thời gian $\times$ 0.0343) / 2.</a:t>
            </a:r>
          </a:p>
        </p:txBody>
      </p:sp>
      <p:sp>
        <p:nvSpPr>
          <p:cNvPr id="10" name="Rounded Rectangle 9"/>
          <p:cNvSpPr/>
          <p:nvPr/>
        </p:nvSpPr>
        <p:spPr>
          <a:xfrm>
            <a:off x="6217920" y="1417320"/>
            <a:ext cx="5212080" cy="4892040"/>
          </a:xfrm>
          <a:prstGeom prst="roundRect">
            <a:avLst/>
          </a:prstGeom>
          <a:solidFill>
            <a:srgbClr val="F3F5F8"/>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000"/>
              </a:spcAft>
              <a:defRPr sz="1600" b="1">
                <a:solidFill>
                  <a:srgbClr val="C0392B"/>
                </a:solidFill>
                <a:latin typeface="Arial"/>
              </a:defRPr>
            </a:pPr>
            <a:r>
              <a:t>2. MÃ NGUỒN ĐO KHOẢNG CÁCH SERIAL</a:t>
            </a:r>
          </a:p>
          <a:p>
            <a:pPr>
              <a:defRPr sz="1200">
                <a:solidFill>
                  <a:srgbClr val="1B365D"/>
                </a:solidFill>
                <a:latin typeface="Consolas"/>
              </a:defRPr>
            </a:pPr>
            <a:r>
              <a:t>const int trigPin = 9;</a:t>
            </a:r>
            <a:br/>
            <a:r>
              <a:t>const int echoPin = 10;</a:t>
            </a:r>
            <a:br/>
            <a:r>
              <a:t>long duration; int distance;</a:t>
            </a:r>
            <a:br/>
            <a:br/>
            <a:r>
              <a:t>void setup() {</a:t>
            </a:r>
            <a:br/>
            <a:r>
              <a:t>  pinMode(trigPin, OUTPUT);</a:t>
            </a:r>
            <a:br/>
            <a:r>
              <a:t>  pinMode(echoPin, INPUT);</a:t>
            </a:r>
            <a:br/>
            <a:r>
              <a:t>  Serial.begin(9600);</a:t>
            </a:r>
            <a:br/>
            <a:r>
              <a:t>}</a:t>
            </a:r>
            <a:br/>
            <a:br/>
            <a:r>
              <a:t>void loop() {</a:t>
            </a:r>
            <a:br/>
            <a:r>
              <a:t>  digitalWrite(trigPin, LOW);</a:t>
            </a:r>
            <a:br/>
            <a:r>
              <a:t>  delayMicroseconds(2);</a:t>
            </a:r>
            <a:br/>
            <a:r>
              <a:t>  digitalWrite(trigPin, HIGH);</a:t>
            </a:r>
            <a:br/>
            <a:r>
              <a:t>  delayMicroseconds(10);</a:t>
            </a:r>
            <a:br/>
            <a:r>
              <a:t>  digitalWrite(trigPin, LOW);</a:t>
            </a:r>
            <a:br/>
            <a:r>
              <a:t>  </a:t>
            </a:r>
            <a:br/>
            <a:r>
              <a:t>  duration = pulseIn(echoPin, HIGH, 30000);</a:t>
            </a:r>
            <a:br/>
            <a:r>
              <a:t>  distance = duration * 0.0343 / 2;</a:t>
            </a:r>
            <a:br/>
            <a:r>
              <a:t>  </a:t>
            </a:r>
            <a:br/>
            <a:r>
              <a:t>  Serial.print("Khoang cach: ");</a:t>
            </a:r>
            <a:br/>
            <a:r>
              <a:t>  Serial.print(distance);</a:t>
            </a:r>
            <a:br/>
            <a:r>
              <a:t>  Serial.println(" cm");</a:t>
            </a:r>
            <a:br/>
            <a:r>
              <a:t>  delay(500);</a:t>
            </a:r>
            <a:br/>
            <a: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B: BÁO CÁO THỰC HÀNH - BÀI TẬP 2</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HIỆN TƯỢNG VÀ BẢN CHẤT KHI BỊT CHẶT ỐNG THU 'R'</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34/43</a:t>
            </a:r>
          </a:p>
        </p:txBody>
      </p:sp>
      <p:sp>
        <p:nvSpPr>
          <p:cNvPr id="8" name="Rounded Rectangle 7"/>
          <p:cNvSpPr/>
          <p:nvPr/>
        </p:nvSpPr>
        <p:spPr>
          <a:xfrm>
            <a:off x="731520" y="1417320"/>
            <a:ext cx="10725912"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00200"/>
            <a:ext cx="10177272" cy="4480560"/>
          </a:xfrm>
          <a:prstGeom prst="rect">
            <a:avLst/>
          </a:prstGeom>
          <a:noFill/>
        </p:spPr>
        <p:txBody>
          <a:bodyPr wrap="square" tIns="91440" bIns="91440">
            <a:spAutoFit/>
          </a:bodyPr>
          <a:lstStyle/>
          <a:p>
            <a:pPr>
              <a:spcAft>
                <a:spcPts val="1400"/>
              </a:spcAft>
              <a:defRPr sz="1700" b="1">
                <a:solidFill>
                  <a:srgbClr val="C0392B"/>
                </a:solidFill>
                <a:latin typeface="Arial"/>
              </a:defRPr>
            </a:pPr>
            <a:r>
              <a:t>PHÂN TÍCH HIỆN TƯỢNG VẬT LÝ &amp; CƠ CHẾ PHẦN CỨNG VI ĐIỀU KHIỂN</a:t>
            </a:r>
          </a:p>
          <a:p>
            <a:pPr>
              <a:spcAft>
                <a:spcPts val="1200"/>
              </a:spcAft>
            </a:pPr>
            <a:r>
              <a:rPr sz="1450" b="1">
                <a:solidFill>
                  <a:srgbClr val="1B365D"/>
                </a:solidFill>
                <a:latin typeface="Arial"/>
              </a:rPr>
              <a:t>1. Hiện tượng quan sát được trên màn hình Serial Monitor: </a:t>
            </a:r>
            <a:r>
              <a:rPr sz="1450">
                <a:solidFill>
                  <a:srgbClr val="222222"/>
                </a:solidFill>
                <a:latin typeface="Calibri"/>
              </a:rPr>
              <a:t>Giá trị khoảng cách hiển thị ngay lập tức nhảy vọt lên con số cực đại (khoảng 400 - 500 cm) hoặc liên tục in ra giá trị 0 cm.</a:t>
            </a:r>
          </a:p>
          <a:p>
            <a:pPr>
              <a:spcAft>
                <a:spcPts val="1200"/>
              </a:spcAft>
            </a:pPr>
            <a:r>
              <a:rPr sz="1450" b="1">
                <a:solidFill>
                  <a:srgbClr val="1B365D"/>
                </a:solidFill>
                <a:latin typeface="Arial"/>
              </a:rPr>
              <a:t>2. Giải thích cơ chế vật lý màng thu Piezoelectric: </a:t>
            </a:r>
            <a:r>
              <a:rPr sz="1450">
                <a:solidFill>
                  <a:srgbClr val="222222"/>
                </a:solidFill>
                <a:latin typeface="Calibri"/>
              </a:rPr>
              <a:t>Cảm biến gồm 2 mắt: Ống 'T' (Transmitter) phát sóng siêu âm 40 kHz; Ống 'R' (Receiver) gắn màng rung gốm áp điện để thu sóng dội lại. Khi dùng ngón tay bịt chặt ống 'R', chùm sóng âm phản xạ bị chặn đứng hoàn toàn, không thể kích thích màng thu sinh ra tín hiệu điện thế.</a:t>
            </a:r>
          </a:p>
          <a:p>
            <a:pPr>
              <a:spcAft>
                <a:spcPts val="1200"/>
              </a:spcAft>
            </a:pPr>
            <a:r>
              <a:rPr sz="1450" b="1">
                <a:solidFill>
                  <a:srgbClr val="1B365D"/>
                </a:solidFill>
                <a:latin typeface="Arial"/>
              </a:rPr>
              <a:t>3. Cơ chế xử lý thời gian chờ (Timeout) của vi điều khiển: </a:t>
            </a:r>
            <a:r>
              <a:rPr sz="1450">
                <a:solidFill>
                  <a:srgbClr val="222222"/>
                </a:solidFill>
                <a:latin typeface="Calibri"/>
              </a:rPr>
              <a:t>Chân Echo của cảm biến sẽ giữ mức logic HIGH để chờ tín hiệu phản xạ cho đến khi cạn thời gian chờ tối đa (Timeout mặc định khoảng 30 ms). Khi hết thời gian timeout mà không có sóng về, hàm pulseIn() sẽ trả về giá trị 0 (tính ra 0 cm) hoặc con số cực đại đo được.</a:t>
            </a:r>
          </a:p>
          <a:p>
            <a:pPr>
              <a:spcAft>
                <a:spcPts val="1200"/>
              </a:spcAft>
            </a:pPr>
            <a:r>
              <a:rPr sz="1450" b="1">
                <a:solidFill>
                  <a:srgbClr val="1B365D"/>
                </a:solidFill>
                <a:latin typeface="Arial"/>
              </a:rPr>
              <a:t>4. Ứng dụng chẩn đoán lỗi hệ thống: </a:t>
            </a:r>
            <a:r>
              <a:rPr sz="1450">
                <a:solidFill>
                  <a:srgbClr val="222222"/>
                </a:solidFill>
                <a:latin typeface="Calibri"/>
              </a:rPr>
              <a:t>Hiện tượng này được các kỹ sư dùng để phát hiện lỗi cảm biến bị bám bẩn bùn đất hoặc có vật lạ che chắn trong các hệ thống xe tự hành.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B: BÁO CÁO THỰC HÀNH - BÀI TẬP 3</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BÀI TẬP 3: CẢM BIẾN HỒNG NGOẠI IR FC-51 - MÃ NGUỒN</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35/43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NGUYÊN LÝ ĐỌC TRẠNG THÁI DIGITAL</a:t>
            </a:r>
          </a:p>
          <a:p>
            <a:pPr>
              <a:spcAft>
                <a:spcPts val="1200"/>
              </a:spcAft>
            </a:pPr>
            <a:r>
              <a:rPr sz="1450" b="1">
                <a:solidFill>
                  <a:srgbClr val="1B365D"/>
                </a:solidFill>
                <a:latin typeface="Arial"/>
              </a:rPr>
              <a:t>• Đọc chân Digital D2: </a:t>
            </a:r>
            <a:r>
              <a:rPr sz="1450">
                <a:solidFill>
                  <a:srgbClr val="222222"/>
                </a:solidFill>
                <a:latin typeface="Calibri"/>
              </a:rPr>
              <a:t>Dùng lệnh digitalRead(2) để đọc mức điện áp ngõ ra của cảm biến hồng ngoại.</a:t>
            </a:r>
          </a:p>
          <a:p>
            <a:pPr>
              <a:spcAft>
                <a:spcPts val="1200"/>
              </a:spcAft>
            </a:pPr>
            <a:r>
              <a:rPr sz="1450" b="1">
                <a:solidFill>
                  <a:srgbClr val="1B365D"/>
                </a:solidFill>
                <a:latin typeface="Arial"/>
              </a:rPr>
              <a:t>• Logic tích cực thấp (Active Low): </a:t>
            </a:r>
            <a:r>
              <a:rPr sz="1450">
                <a:solidFill>
                  <a:srgbClr val="222222"/>
                </a:solidFill>
                <a:latin typeface="Calibri"/>
              </a:rPr>
              <a:t>Khi phát hiện vật cản có khả năng phản xạ tốt tia hồng ngoại, chân OUT xuất mức LOW (0V).</a:t>
            </a:r>
          </a:p>
          <a:p>
            <a:pPr>
              <a:spcAft>
                <a:spcPts val="1200"/>
              </a:spcAft>
            </a:pPr>
            <a:r>
              <a:rPr sz="1450" b="1">
                <a:solidFill>
                  <a:srgbClr val="1B365D"/>
                </a:solidFill>
                <a:latin typeface="Arial"/>
              </a:rPr>
              <a:t>• Đèn LED hiển thị cảnh báo: </a:t>
            </a:r>
            <a:r>
              <a:rPr sz="1450">
                <a:solidFill>
                  <a:srgbClr val="222222"/>
                </a:solidFill>
                <a:latin typeface="Calibri"/>
              </a:rPr>
              <a:t>Kích chân D13 bật sáng đèn LED tích hợp trên board Arduino Uno khi xe đang đi đúng line.</a:t>
            </a:r>
          </a:p>
        </p:txBody>
      </p:sp>
      <p:sp>
        <p:nvSpPr>
          <p:cNvPr id="10" name="Rounded Rectangle 9"/>
          <p:cNvSpPr/>
          <p:nvPr/>
        </p:nvSpPr>
        <p:spPr>
          <a:xfrm>
            <a:off x="6217920" y="1417320"/>
            <a:ext cx="5212080" cy="4892040"/>
          </a:xfrm>
          <a:prstGeom prst="roundRect">
            <a:avLst/>
          </a:prstGeom>
          <a:solidFill>
            <a:srgbClr val="F3F5F8"/>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000"/>
              </a:spcAft>
              <a:defRPr sz="1600" b="1">
                <a:solidFill>
                  <a:srgbClr val="C0392B"/>
                </a:solidFill>
                <a:latin typeface="Arial"/>
              </a:defRPr>
            </a:pPr>
            <a:r>
              <a:t>2. MÃ NGUỒN ARDUINO ĐỌC TRẠNG THÁI</a:t>
            </a:r>
          </a:p>
          <a:p>
            <a:pPr>
              <a:defRPr sz="1200">
                <a:solidFill>
                  <a:srgbClr val="1B365D"/>
                </a:solidFill>
                <a:latin typeface="Consolas"/>
              </a:defRPr>
            </a:pPr>
            <a:r>
              <a:t>const int irPin = 2;</a:t>
            </a:r>
            <a:br/>
            <a:r>
              <a:t>const int ledPin = 13;</a:t>
            </a:r>
            <a:br/>
            <a:br/>
            <a:r>
              <a:t>void setup() {</a:t>
            </a:r>
            <a:br/>
            <a:r>
              <a:t>  pinMode(irPin, INPUT);</a:t>
            </a:r>
            <a:br/>
            <a:r>
              <a:t>  pinMode(ledPin, OUTPUT);</a:t>
            </a:r>
            <a:br/>
            <a:r>
              <a:t>  Serial.begin(9600);</a:t>
            </a:r>
            <a:br/>
            <a:r>
              <a:t>}</a:t>
            </a:r>
            <a:br/>
            <a:br/>
            <a:r>
              <a:t>void loop() {</a:t>
            </a:r>
            <a:br/>
            <a:r>
              <a:t>  int irState = digitalRead(irPin);</a:t>
            </a:r>
            <a:br/>
            <a:r>
              <a:t>  </a:t>
            </a:r>
            <a:br/>
            <a:r>
              <a:t>  if (irState == LOW) {</a:t>
            </a:r>
            <a:br/>
            <a:r>
              <a:t>    Serial.println("Phat hien be mat TRANG (Phan xa)");</a:t>
            </a:r>
            <a:br/>
            <a:r>
              <a:t>    digitalWrite(ledPin, HIGH);</a:t>
            </a:r>
            <a:br/>
            <a:r>
              <a:t>  } else {</a:t>
            </a:r>
            <a:br/>
            <a:r>
              <a:t>    Serial.println("Phat hien be mat DEN (Hap thu)");</a:t>
            </a:r>
            <a:br/>
            <a:r>
              <a:t>    digitalWrite(ledPin, LOW);</a:t>
            </a:r>
            <a:br/>
            <a:r>
              <a:t>  }</a:t>
            </a:r>
            <a:br/>
            <a:r>
              <a:t>  delay(300);</a:t>
            </a:r>
            <a:b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B: BÁO CÁO THỰC HÀNH - BÀI TẬP 3</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THỰC NGHIỆM DÒ LINE: BỀ MẶT GIẤY TRẮNG VS BĂNG KEO ĐEN</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36/43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KHI CHIẾU VÀO BỀ MẶT GIẤY TRẮNG</a:t>
            </a:r>
          </a:p>
          <a:p>
            <a:pPr>
              <a:spcAft>
                <a:spcPts val="1200"/>
              </a:spcAft>
            </a:pPr>
            <a:r>
              <a:rPr sz="1450" b="1">
                <a:solidFill>
                  <a:srgbClr val="1B365D"/>
                </a:solidFill>
                <a:latin typeface="Arial"/>
              </a:rPr>
              <a:t>• Hiện tượng phản xạ ánh sáng mạnh: </a:t>
            </a:r>
            <a:r>
              <a:rPr sz="1450">
                <a:solidFill>
                  <a:srgbClr val="222222"/>
                </a:solidFill>
                <a:latin typeface="Calibri"/>
              </a:rPr>
              <a:t>Bề mặt màu trắng có hệ số phản xạ quang học rất lớn, tán xạ gần như toàn bộ chùm tia hồng ngoại phát ra dội ngược trở lại mắt thu.</a:t>
            </a:r>
          </a:p>
          <a:p>
            <a:pPr>
              <a:spcAft>
                <a:spcPts val="1200"/>
              </a:spcAft>
            </a:pPr>
            <a:r>
              <a:rPr sz="1450" b="1">
                <a:solidFill>
                  <a:srgbClr val="1B365D"/>
                </a:solidFill>
                <a:latin typeface="Arial"/>
              </a:rPr>
              <a:t>• Dòng quang điện Photodiode tăng: </a:t>
            </a:r>
            <a:r>
              <a:rPr sz="1450">
                <a:solidFill>
                  <a:srgbClr val="222222"/>
                </a:solidFill>
                <a:latin typeface="Calibri"/>
              </a:rPr>
              <a:t>Lượng photon chạm vào màng thu lớn làm nội trở photodiode giảm mạnh $\to$ Điện áp đưa vào IC so sánh LM393 vượt ngưỡng.</a:t>
            </a:r>
          </a:p>
          <a:p>
            <a:pPr>
              <a:spcAft>
                <a:spcPts val="1200"/>
              </a:spcAft>
            </a:pPr>
            <a:r>
              <a:rPr sz="1450" b="1">
                <a:solidFill>
                  <a:srgbClr val="1B365D"/>
                </a:solidFill>
                <a:latin typeface="Arial"/>
              </a:rPr>
              <a:t>• Tín hiệu ngõ ra: </a:t>
            </a:r>
            <a:r>
              <a:rPr sz="1450">
                <a:solidFill>
                  <a:srgbClr val="222222"/>
                </a:solidFill>
                <a:latin typeface="Calibri"/>
              </a:rPr>
              <a:t>Chân OUT kéo xuống mức LOW (0) và đèn LED chỉ thị trên bo mạch SÁNG RỰC.</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KHI CHIẾU VÀO BĂNG KEO ĐEN</a:t>
            </a:r>
          </a:p>
          <a:p>
            <a:pPr>
              <a:spcAft>
                <a:spcPts val="1200"/>
              </a:spcAft>
            </a:pPr>
            <a:r>
              <a:rPr sz="1450" b="1">
                <a:solidFill>
                  <a:srgbClr val="1B365D"/>
                </a:solidFill>
                <a:latin typeface="Arial"/>
              </a:rPr>
              <a:t>• Hiện tượng hấp thụ năng lượng quang: </a:t>
            </a:r>
            <a:r>
              <a:rPr sz="1450">
                <a:solidFill>
                  <a:srgbClr val="222222"/>
                </a:solidFill>
                <a:latin typeface="Calibri"/>
              </a:rPr>
              <a:t>Màu đen có đặc tính vật lý hấp thụ triệt để hầu hết các bước sóng ánh sáng và tia hồng ngoại, không có sóng phản xạ dội ngược lại.</a:t>
            </a:r>
          </a:p>
          <a:p>
            <a:pPr>
              <a:spcAft>
                <a:spcPts val="1200"/>
              </a:spcAft>
            </a:pPr>
            <a:r>
              <a:rPr sz="1450" b="1">
                <a:solidFill>
                  <a:srgbClr val="1B365D"/>
                </a:solidFill>
                <a:latin typeface="Arial"/>
              </a:rPr>
              <a:t>• Photodiode không dẫn điện: </a:t>
            </a:r>
            <a:r>
              <a:rPr sz="1450">
                <a:solidFill>
                  <a:srgbClr val="222222"/>
                </a:solidFill>
                <a:latin typeface="Calibri"/>
              </a:rPr>
              <a:t>Không có photon dội về khiến màng thu photodiode duy trì điện trở cực lớn $\to$ Điện áp so sánh không vượt ngưỡng kích hoạt.</a:t>
            </a:r>
          </a:p>
          <a:p>
            <a:pPr>
              <a:spcAft>
                <a:spcPts val="1200"/>
              </a:spcAft>
            </a:pPr>
            <a:r>
              <a:rPr sz="1450" b="1">
                <a:solidFill>
                  <a:srgbClr val="1B365D"/>
                </a:solidFill>
                <a:latin typeface="Arial"/>
              </a:rPr>
              <a:t>• Tín hiệu ngõ ra: </a:t>
            </a:r>
            <a:r>
              <a:rPr sz="1450">
                <a:solidFill>
                  <a:srgbClr val="222222"/>
                </a:solidFill>
                <a:latin typeface="Calibri"/>
              </a:rPr>
              <a:t>Chân OUT duy trì mức HIGH (1) và đèn LED chỉ thị TẮT HẲN. Đây là cốt lõi thuật toán điều hướng Robot Line Follower.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B: BÁO CÁO THỰC HÀNH - BÀI TẬP 4</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CẢM BIẾN KHÍ GAS MQ-2: HIỆN TƯỢNG KHI THỬ GAS BẬT LỬA</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37/43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200"/>
              </a:spcAft>
              <a:defRPr sz="1600" b="1">
                <a:solidFill>
                  <a:srgbClr val="1B365D"/>
                </a:solidFill>
                <a:latin typeface="Arial"/>
              </a:defRPr>
            </a:pPr>
            <a:r>
              <a:t>1. HIỆN TƯỢNG KHI XÌ KHÍ GAS TỪ BẬT LỬA</a:t>
            </a:r>
          </a:p>
          <a:p>
            <a:pPr>
              <a:spcAft>
                <a:spcPts val="1200"/>
              </a:spcAft>
            </a:pPr>
            <a:r>
              <a:rPr sz="1450" b="1">
                <a:solidFill>
                  <a:srgbClr val="1B365D"/>
                </a:solidFill>
                <a:latin typeface="Arial"/>
              </a:rPr>
              <a:t>• Tín hiệu Digital (Chân D0): </a:t>
            </a:r>
            <a:r>
              <a:rPr sz="1450">
                <a:solidFill>
                  <a:srgbClr val="222222"/>
                </a:solidFill>
                <a:latin typeface="Calibri"/>
              </a:rPr>
              <a:t>Chuyển trạng thái tức thì từ mức HIGH (1) sang mức LOW (0) (mức logic tích cực thấp của vi mạch so sánh LM393). Đèn LED D0 trên module lập tức BẬT SÁNG rực rỡ.</a:t>
            </a:r>
          </a:p>
          <a:p>
            <a:pPr>
              <a:spcAft>
                <a:spcPts val="1200"/>
              </a:spcAft>
            </a:pPr>
            <a:r>
              <a:rPr sz="1450" b="1">
                <a:solidFill>
                  <a:srgbClr val="1B365D"/>
                </a:solidFill>
                <a:latin typeface="Arial"/>
              </a:rPr>
              <a:t>• Tín hiệu Analog (Chân A0): </a:t>
            </a:r>
            <a:r>
              <a:rPr sz="1450">
                <a:solidFill>
                  <a:srgbClr val="222222"/>
                </a:solidFill>
                <a:latin typeface="Calibri"/>
              </a:rPr>
              <a:t>Giá trị đọc qua hàm analogRead(A0) tăng vọt đột ngột từ mức bình thường (~100 - 150) lên mức báo động cao (&gt;600 - 850 tùy lượng gas xì và khoảng cách).</a:t>
            </a:r>
          </a:p>
          <a:p>
            <a:pPr>
              <a:spcAft>
                <a:spcPts val="1200"/>
              </a:spcAft>
            </a:pPr>
            <a:r>
              <a:rPr sz="1450" b="1">
                <a:solidFill>
                  <a:srgbClr val="1B365D"/>
                </a:solidFill>
                <a:latin typeface="Arial"/>
              </a:rPr>
              <a:t>• Phản ứng hệ thống chấp hành: </a:t>
            </a:r>
            <a:r>
              <a:rPr sz="1450">
                <a:solidFill>
                  <a:srgbClr val="222222"/>
                </a:solidFill>
                <a:latin typeface="Calibri"/>
              </a:rPr>
              <a:t>Còi báo động Buzzer kêu liên tục cảnh báo rò rỉ khí gas; Relay đóng kích hoạt quạt hút khói.</a:t>
            </a:r>
          </a:p>
        </p:txBody>
      </p:sp>
      <p:sp>
        <p:nvSpPr>
          <p:cNvPr id="10" name="Rounded Rectangle 9"/>
          <p:cNvSpPr/>
          <p:nvPr/>
        </p:nvSpPr>
        <p:spPr>
          <a:xfrm>
            <a:off x="62179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4480560"/>
          </a:xfrm>
          <a:prstGeom prst="rect">
            <a:avLst/>
          </a:prstGeom>
          <a:noFill/>
        </p:spPr>
        <p:txBody>
          <a:bodyPr wrap="square" tIns="91440" bIns="91440">
            <a:spAutoFit/>
          </a:bodyPr>
          <a:lstStyle/>
          <a:p>
            <a:pPr>
              <a:spcAft>
                <a:spcPts val="1200"/>
              </a:spcAft>
              <a:defRPr sz="1600" b="1">
                <a:solidFill>
                  <a:srgbClr val="C0392B"/>
                </a:solidFill>
                <a:latin typeface="Arial"/>
              </a:defRPr>
            </a:pPr>
            <a:r>
              <a:t>2. TÁC DỤNG CỦA VIỆC VẶN BIẾN TRỞ TRÊN MODULE</a:t>
            </a:r>
          </a:p>
          <a:p>
            <a:pPr>
              <a:spcAft>
                <a:spcPts val="1200"/>
              </a:spcAft>
            </a:pPr>
            <a:r>
              <a:rPr sz="1450" b="1">
                <a:solidFill>
                  <a:srgbClr val="1B365D"/>
                </a:solidFill>
                <a:latin typeface="Arial"/>
              </a:rPr>
              <a:t>• Thay đổi điện áp tham chiếu (V_ref): </a:t>
            </a:r>
            <a:r>
              <a:rPr sz="1450">
                <a:solidFill>
                  <a:srgbClr val="222222"/>
                </a:solidFill>
                <a:latin typeface="Calibri"/>
              </a:rPr>
              <a:t>Biến trở tinh chỉnh tạo ra một cầu phân áp cấp điện áp tham chiếu vào chân đảo (-) của IC so sánh LM393.</a:t>
            </a:r>
          </a:p>
          <a:p>
            <a:pPr>
              <a:spcAft>
                <a:spcPts val="1200"/>
              </a:spcAft>
            </a:pPr>
            <a:r>
              <a:rPr sz="1450" b="1">
                <a:solidFill>
                  <a:srgbClr val="1B365D"/>
                </a:solidFill>
                <a:latin typeface="Arial"/>
              </a:rPr>
              <a:t>• Tăng/giảm độ nhạy kích hoạt D0: </a:t>
            </a:r>
            <a:r>
              <a:rPr sz="1450">
                <a:solidFill>
                  <a:srgbClr val="222222"/>
                </a:solidFill>
                <a:latin typeface="Calibri"/>
              </a:rPr>
              <a:t>Vặn theo chiều kim đồng hồ: Giảm ngưỡng điện áp so sánh $\to$ Cảm biến nhạy hơn với nồng độ gas nhỏ. Vặn ngược chiều kim đồng hồ: Tăng ngưỡng $\to$ Tránh báo động giả.</a:t>
            </a:r>
          </a:p>
          <a:p>
            <a:pPr>
              <a:spcAft>
                <a:spcPts val="1200"/>
              </a:spcAft>
            </a:pPr>
            <a:r>
              <a:rPr sz="1450" b="1">
                <a:solidFill>
                  <a:srgbClr val="1B365D"/>
                </a:solidFill>
                <a:latin typeface="Arial"/>
              </a:rPr>
              <a:t>• Ý nghĩa ứng dụng thực tế: </a:t>
            </a:r>
            <a:r>
              <a:rPr sz="1450">
                <a:solidFill>
                  <a:srgbClr val="222222"/>
                </a:solidFill>
                <a:latin typeface="Calibri"/>
              </a:rPr>
              <a:t>Kho chứa gas công nghiệp đòi hỏi vặn biến trở nhạy hơn; gian bếp gia đình có dầu mỡ cần chỉnh ngưỡng vừa phải để không báo động nhầm khi nấu nướng.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du_logo.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tIns="91440" bIns="91440">
            <a:spAutoFit/>
          </a:bodyPr>
          <a:lstStyle/>
          <a:p>
            <a:pPr>
              <a:defRPr sz="1200" b="1">
                <a:solidFill>
                  <a:srgbClr val="005691"/>
                </a:solidFill>
                <a:latin typeface="Arial"/>
              </a:defRPr>
            </a:pPr>
            <a:r>
              <a:t>PHẦN B: THẢO LUẬN CHUYÊN SÂU &amp; TỔNG KẾT</a:t>
            </a:r>
          </a:p>
        </p:txBody>
      </p:sp>
      <p:sp>
        <p:nvSpPr>
          <p:cNvPr id="5" name="TextBox 4"/>
          <p:cNvSpPr txBox="1"/>
          <p:nvPr/>
        </p:nvSpPr>
        <p:spPr>
          <a:xfrm>
            <a:off x="731520" y="502920"/>
            <a:ext cx="8686800" cy="685800"/>
          </a:xfrm>
          <a:prstGeom prst="rect">
            <a:avLst/>
          </a:prstGeom>
          <a:noFill/>
        </p:spPr>
        <p:txBody>
          <a:bodyPr wrap="square" tIns="91440" bIns="91440">
            <a:spAutoFit/>
          </a:bodyPr>
          <a:lstStyle/>
          <a:p>
            <a:pPr>
              <a:defRPr sz="1900" b="1">
                <a:solidFill>
                  <a:srgbClr val="1B365D"/>
                </a:solidFill>
                <a:latin typeface="Arial"/>
              </a:defRPr>
            </a:pPr>
            <a:r>
              <a:t>GIẢI ĐÁP CÂU HỎI THẢO LUẬN &amp; TỔNG KẾT CHUYÊN ĐỀ</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56032"/>
          </a:xfrm>
          <a:prstGeom prst="rect">
            <a:avLst/>
          </a:prstGeom>
          <a:noFill/>
        </p:spPr>
        <p:txBody>
          <a:bodyPr wrap="square" tIns="91440" bIns="91440">
            <a:spAutoFit/>
          </a:bodyPr>
          <a:lstStyle/>
          <a:p>
            <a:pPr>
              <a:defRPr sz="1100">
                <a:solidFill>
                  <a:srgbClr val="666666"/>
                </a:solidFill>
                <a:latin typeface="Arial"/>
              </a:defRPr>
            </a:pPr>
            <a:r>
              <a:t>Trường ĐH Gia Định | Cảm biến &amp; Cơ cấu chấp hành (15113087) | Báo cáo Nhóm 2 - Chương 2 | Slide 43/43</a:t>
            </a:r>
          </a:p>
        </p:txBody>
      </p:sp>
      <p:sp>
        <p:nvSpPr>
          <p:cNvPr id="8" name="Rounded Rectangle 7"/>
          <p:cNvSpPr/>
          <p:nvPr/>
        </p:nvSpPr>
        <p:spPr>
          <a:xfrm>
            <a:off x="731520" y="1417320"/>
            <a:ext cx="5212080" cy="4892040"/>
          </a:xfrm>
          <a:prstGeom prst="roundRect">
            <a:avLst/>
          </a:prstGeom>
          <a:solidFill>
            <a:srgbClr val="F8FAFC"/>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tIns="91440" bIns="91440">
            <a:spAutoFit/>
          </a:bodyPr>
          <a:lstStyle/>
          <a:p>
            <a:pPr>
              <a:spcAft>
                <a:spcPts val="1000"/>
              </a:spcAft>
              <a:defRPr sz="1500" b="1">
                <a:solidFill>
                  <a:srgbClr val="1B365D"/>
                </a:solidFill>
                <a:latin typeface="Arial"/>
              </a:defRPr>
            </a:pPr>
            <a:r>
              <a:t>1. VÌ SAO PIR KHÔNG PHÁT HIỆN QUA KÍNH?</a:t>
            </a:r>
          </a:p>
          <a:p>
            <a:pPr>
              <a:spcAft>
                <a:spcPts val="800"/>
              </a:spcAft>
            </a:pPr>
            <a:r>
              <a:rPr sz="1350" b="1">
                <a:solidFill>
                  <a:srgbClr val="1B365D"/>
                </a:solidFill>
                <a:latin typeface="Arial"/>
              </a:rPr>
              <a:t>• Thủy tinh hấp thụ hồng ngoại bước sóng dài: </a:t>
            </a:r>
            <a:r>
              <a:rPr sz="1350">
                <a:solidFill>
                  <a:srgbClr val="222222"/>
                </a:solidFill>
                <a:latin typeface="Calibri"/>
              </a:rPr>
              <a:t>Kính trong suốt với ánh sáng nhìn thấy nhưng lại ĐỤC VÀ HẤP THỤ triệt để bức xạ nhiệt hồng ngoại xa (8 - 14 µm) phát ra từ cơ thể người (37°C).</a:t>
            </a:r>
          </a:p>
          <a:p>
            <a:pPr>
              <a:spcAft>
                <a:spcPts val="800"/>
              </a:spcAft>
            </a:pPr>
            <a:r>
              <a:rPr sz="1350" b="1">
                <a:solidFill>
                  <a:srgbClr val="1B365D"/>
                </a:solidFill>
                <a:latin typeface="Arial"/>
              </a:rPr>
              <a:t>• Bị cản bức xạ nhiệt: </a:t>
            </a:r>
            <a:r>
              <a:rPr sz="1350">
                <a:solidFill>
                  <a:srgbClr val="222222"/>
                </a:solidFill>
                <a:latin typeface="Calibri"/>
              </a:rPr>
              <a:t>Tấm kính đóng vai trò như một bức tường ngăn nhiệt, năng lượng nhiệt không thể xuyên qua để kích hoạt màng pyroelectric.</a:t>
            </a:r>
          </a:p>
          <a:p>
            <a:pPr>
              <a:spcAft>
                <a:spcPts val="1000"/>
              </a:spcAft>
              <a:defRPr sz="1500" b="1">
                <a:solidFill>
                  <a:srgbClr val="C0392B"/>
                </a:solidFill>
                <a:latin typeface="Arial"/>
              </a:defRPr>
            </a:pPr>
            <a:r>
              <a:t>2. VÌ SAO HC-SR04 KÉM VỚI VẬT LIỆU XỐP?</a:t>
            </a:r>
          </a:p>
          <a:p>
            <a:pPr>
              <a:spcAft>
                <a:spcPts val="800"/>
              </a:spcAft>
            </a:pPr>
            <a:r>
              <a:rPr sz="1350" b="1">
                <a:solidFill>
                  <a:srgbClr val="1B365D"/>
                </a:solidFill>
                <a:latin typeface="Arial"/>
              </a:rPr>
              <a:t>• Cấu trúc xốp tiêu âm: </a:t>
            </a:r>
            <a:r>
              <a:rPr sz="1350">
                <a:solidFill>
                  <a:srgbClr val="222222"/>
                </a:solidFill>
                <a:latin typeface="Calibri"/>
              </a:rPr>
              <a:t>Vật liệu xốp có nhiều lỗ khí rỗng li ti làm tiêu tán sóng âm thành nhiệt; bề mặt gồ ghề làm tán xạ chùm sóng dội về khiến mắt thu R không đủ ngưỡng kích hoạt.</a:t>
            </a:r>
          </a:p>
        </p:txBody>
      </p:sp>
      <p:sp>
        <p:nvSpPr>
          <p:cNvPr id="10" name="Rounded Rectangle 9"/>
          <p:cNvSpPr/>
          <p:nvPr/>
        </p:nvSpPr>
        <p:spPr>
          <a:xfrm>
            <a:off x="6217920" y="1417320"/>
            <a:ext cx="5212080" cy="4892040"/>
          </a:xfrm>
          <a:prstGeom prst="roundRect">
            <a:avLst/>
          </a:prstGeom>
          <a:solidFill>
            <a:srgbClr val="EBF3FB"/>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46320" cy="2468880"/>
          </a:xfrm>
          <a:prstGeom prst="rect">
            <a:avLst/>
          </a:prstGeom>
          <a:noFill/>
        </p:spPr>
        <p:txBody>
          <a:bodyPr wrap="square" tIns="91440" bIns="91440">
            <a:spAutoFit/>
          </a:bodyPr>
          <a:lstStyle/>
          <a:p>
            <a:pPr>
              <a:spcAft>
                <a:spcPts val="1000"/>
              </a:spcAft>
              <a:defRPr sz="1600" b="1">
                <a:solidFill>
                  <a:srgbClr val="1B365D"/>
                </a:solidFill>
                <a:latin typeface="Arial"/>
              </a:defRPr>
            </a:pPr>
            <a:r>
              <a:t>TỔNG KẾT BÁO CÁO CHƯƠNG 2 - NHÓM 2</a:t>
            </a:r>
          </a:p>
          <a:p>
            <a:pPr>
              <a:spcAft>
                <a:spcPts val="600"/>
              </a:spcAft>
            </a:pPr>
            <a:r>
              <a:rPr sz="1350" b="1">
                <a:solidFill>
                  <a:srgbClr val="1B365D"/>
                </a:solidFill>
                <a:latin typeface="Arial"/>
              </a:rPr>
              <a:t>✓ Khảo sát chuyên sâu 4 nhóm cảm biến: </a:t>
            </a:r>
            <a:r>
              <a:rPr sz="1350">
                <a:solidFill>
                  <a:srgbClr val="222222"/>
                </a:solidFill>
                <a:latin typeface="Calibri"/>
              </a:rPr>
              <a:t>Môi trường, Khoảng cách, Chuyển động MPU6050 6 slide, An toàn &amp; Công nghiệp.</a:t>
            </a:r>
          </a:p>
          <a:p>
            <a:pPr>
              <a:spcAft>
                <a:spcPts val="600"/>
              </a:spcAft>
            </a:pPr>
            <a:r>
              <a:rPr sz="1350" b="1">
                <a:solidFill>
                  <a:srgbClr val="1B365D"/>
                </a:solidFill>
                <a:latin typeface="Arial"/>
              </a:rPr>
              <a:t>✓ Tích hợp đầy đủ 25 hình ảnh sơ đồ &amp; ứng dụng: </a:t>
            </a:r>
            <a:r>
              <a:rPr sz="1350">
                <a:solidFill>
                  <a:srgbClr val="222222"/>
                </a:solidFill>
                <a:latin typeface="Calibri"/>
              </a:rPr>
              <a:t>Minh họa thực tế, không tràn viền.</a:t>
            </a:r>
          </a:p>
          <a:p>
            <a:pPr>
              <a:spcAft>
                <a:spcPts val="600"/>
              </a:spcAft>
            </a:pPr>
            <a:r>
              <a:rPr sz="1350" b="1">
                <a:solidFill>
                  <a:srgbClr val="1B365D"/>
                </a:solidFill>
                <a:latin typeface="Arial"/>
              </a:rPr>
              <a:t>✓ Giải đáp 4 bài tập thực nghiệm &amp; 2 câu hỏi mở rộng. </a:t>
            </a:r>
          </a:p>
        </p:txBody>
      </p:sp>
      <p:pic>
        <p:nvPicPr>
          <p:cNvPr id="12" name="Picture 11" descr="gdu_logo.png"/>
          <p:cNvPicPr>
            <a:picLocks noChangeAspect="1"/>
          </p:cNvPicPr>
          <p:nvPr/>
        </p:nvPicPr>
        <p:blipFill>
          <a:blip r:embed="rId2"/>
          <a:stretch>
            <a:fillRect/>
          </a:stretch>
        </p:blipFill>
        <p:spPr>
          <a:xfrm>
            <a:off x="7178040" y="4160520"/>
            <a:ext cx="3291840" cy="1124712"/>
          </a:xfrm>
          <a:prstGeom prst="rect">
            <a:avLst/>
          </a:prstGeom>
        </p:spPr>
      </p:pic>
      <p:sp>
        <p:nvSpPr>
          <p:cNvPr id="13" name="TextBox 12"/>
          <p:cNvSpPr txBox="1"/>
          <p:nvPr/>
        </p:nvSpPr>
        <p:spPr>
          <a:xfrm>
            <a:off x="6217920" y="5349240"/>
            <a:ext cx="5212080" cy="868680"/>
          </a:xfrm>
          <a:prstGeom prst="rect">
            <a:avLst/>
          </a:prstGeom>
          <a:noFill/>
        </p:spPr>
        <p:txBody>
          <a:bodyPr wrap="square" tIns="91440" bIns="91440">
            <a:spAutoFit/>
          </a:bodyPr>
          <a:lstStyle/>
          <a:p>
            <a:pPr algn="ctr">
              <a:defRPr sz="1600" b="1">
                <a:solidFill>
                  <a:srgbClr val="C0392B"/>
                </a:solidFill>
                <a:latin typeface="Arial"/>
              </a:defRPr>
            </a:pPr>
            <a:r>
              <a:t>XIN CHÂN THÀNH CẢM ƠN THẦY VÀ CÁC BẠN!</a:t>
            </a:r>
          </a:p>
          <a:p>
            <a:pPr algn="ctr">
              <a:defRPr sz="1250" b="1">
                <a:solidFill>
                  <a:srgbClr val="1B365D"/>
                </a:solidFill>
                <a:latin typeface="Arial"/>
              </a:defRPr>
            </a:pPr>
            <a:r>
              <a:t>KÍNH MỜI THẦY VÀ CÁC BẠN ĐẶT CÂU HỎI THẢO LUẬN!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a:spAutoFit/>
          </a:bodyPr>
          <a:lstStyle/>
          <a:p>
            <a:pPr>
              <a:defRPr sz="1200" b="1">
                <a:solidFill>
                  <a:srgbClr val="005691"/>
                </a:solidFill>
                <a:latin typeface="Arial"/>
              </a:defRPr>
            </a:pPr>
            <a:r>
              <a:t>PHẦN B: MỞ RỘNG IOT - HỆ THỐNG CẢNH BÁO THIÊN TAI VÀ HỎA HOẠN</a:t>
            </a:r>
          </a:p>
        </p:txBody>
      </p:sp>
      <p:sp>
        <p:nvSpPr>
          <p:cNvPr id="5" name="TextBox 4"/>
          <p:cNvSpPr txBox="1"/>
          <p:nvPr/>
        </p:nvSpPr>
        <p:spPr>
          <a:xfrm>
            <a:off x="731520" y="502920"/>
            <a:ext cx="8686800" cy="685800"/>
          </a:xfrm>
          <a:prstGeom prst="rect">
            <a:avLst/>
          </a:prstGeom>
          <a:noFill/>
        </p:spPr>
        <p:txBody>
          <a:bodyPr wrap="square">
            <a:spAutoFit/>
          </a:bodyPr>
          <a:lstStyle/>
          <a:p>
            <a:pPr>
              <a:defRPr sz="2200" b="1">
                <a:solidFill>
                  <a:srgbClr val="1B365D"/>
                </a:solidFill>
                <a:latin typeface="Arial"/>
              </a:defRPr>
            </a:pPr>
            <a:r>
              <a:t>TỔNG QUAN KIẾN TRÚC WORKFLOW GỬI CẢNH BÁO TELEGRAM</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74320"/>
          </a:xfrm>
          <a:prstGeom prst="rect">
            <a:avLst/>
          </a:prstGeom>
          <a:noFill/>
        </p:spPr>
        <p:txBody>
          <a:bodyPr wrap="none">
            <a:spAutoFit/>
          </a:bodyPr>
          <a:lstStyle/>
          <a:p>
            <a:pPr>
              <a:defRPr sz="1100">
                <a:solidFill>
                  <a:srgbClr val="666666"/>
                </a:solidFill>
                <a:latin typeface="Arial"/>
              </a:defRPr>
            </a:pPr>
            <a:r>
              <a:t>Trường ĐH Gia Định | Cảm biến &amp; Cơ cấu chấp hành (15113087) | Báo cáo Nhóm 2 - Chương 2 | Slide 38/43</a:t>
            </a:r>
          </a:p>
        </p:txBody>
      </p:sp>
      <p:sp>
        <p:nvSpPr>
          <p:cNvPr id="8" name="Rounded Rectangle 7"/>
          <p:cNvSpPr/>
          <p:nvPr/>
        </p:nvSpPr>
        <p:spPr>
          <a:xfrm>
            <a:off x="731520"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1. KIẾN TRÚC 4 TẦNG &amp; LUỒNG TÍN HIỆU ĐẦU CUỐI (E2E)</a:t>
            </a:r>
          </a:p>
          <a:p>
            <a:pPr>
              <a:spcAft>
                <a:spcPts val="800"/>
              </a:spcAft>
            </a:pPr>
            <a:r>
              <a:rPr sz="1400" b="1">
                <a:solidFill>
                  <a:srgbClr val="1B365D"/>
                </a:solidFill>
                <a:latin typeface="Arial"/>
              </a:rPr>
              <a:t>● Tầng Thiết bị Biên (ESP32): </a:t>
            </a:r>
            <a:r>
              <a:rPr sz="1400" b="0">
                <a:solidFill>
                  <a:srgbClr val="222222"/>
                </a:solidFill>
                <a:latin typeface="Arial"/>
              </a:rPr>
              <a:t>Quét cảm biến MPU-6050 (rung chấn), Flame AO (quang trở lửa), DHT11 (nhiệt độ). Bật ngay còi/LED 10Hz tại chỗ khi chạm ngưỡng.</a:t>
            </a:r>
          </a:p>
          <a:p>
            <a:pPr>
              <a:spcAft>
                <a:spcPts val="800"/>
              </a:spcAft>
            </a:pPr>
            <a:r>
              <a:rPr sz="1400" b="1">
                <a:solidFill>
                  <a:srgbClr val="1B365D"/>
                </a:solidFill>
                <a:latin typeface="Arial"/>
              </a:rPr>
              <a:t>● Tầng Truyền dẫn Mạng: </a:t>
            </a:r>
            <a:r>
              <a:rPr sz="1400" b="0">
                <a:solidFill>
                  <a:srgbClr val="222222"/>
                </a:solidFill>
                <a:latin typeface="Arial"/>
              </a:rPr>
              <a:t>Đóng gói JSON kèm Bearer Token bảo mật, gửi qua Wi-Fi 2.4GHz với giao thức HTTP POST đến cổng 80 của VPS 103.178.235.184.</a:t>
            </a:r>
          </a:p>
          <a:p>
            <a:pPr>
              <a:spcAft>
                <a:spcPts val="800"/>
              </a:spcAft>
            </a:pPr>
            <a:r>
              <a:rPr sz="1400" b="1">
                <a:solidFill>
                  <a:srgbClr val="1B365D"/>
                </a:solidFill>
                <a:latin typeface="Arial"/>
              </a:rPr>
              <a:t>● Tầng Máy chủ Đám mây (VPS): </a:t>
            </a:r>
            <a:r>
              <a:rPr sz="1400" b="0">
                <a:solidFill>
                  <a:srgbClr val="222222"/>
                </a:solidFill>
                <a:latin typeface="Arial"/>
              </a:rPr>
              <a:t>FastAPI tiếp nhận, xác thực bảo mật, lưu DB SQLite telemetry, lọc chống bão tin (Cooldown) và đẩy vào bảng alert_outbox.</a:t>
            </a:r>
          </a:p>
          <a:p>
            <a:pPr>
              <a:spcAft>
                <a:spcPts val="800"/>
              </a:spcAft>
            </a:pPr>
            <a:r>
              <a:rPr sz="1400" b="1">
                <a:solidFill>
                  <a:srgbClr val="1B365D"/>
                </a:solidFill>
                <a:latin typeface="Arial"/>
              </a:rPr>
              <a:t>● Tầng Thông báo Người dùng: </a:t>
            </a:r>
            <a:r>
              <a:rPr sz="1400" b="0">
                <a:solidFill>
                  <a:srgbClr val="222222"/>
                </a:solidFill>
                <a:latin typeface="Arial"/>
              </a:rPr>
              <a:t>Dịch vụ Worker quét hàng đợi, gọi Telegram Bot API gửi Push Notification trực tiếp đến smartphone của người dùng.</a:t>
            </a:r>
          </a:p>
        </p:txBody>
      </p:sp>
      <p:sp>
        <p:nvSpPr>
          <p:cNvPr id="10" name="Rounded Rectangle 9"/>
          <p:cNvSpPr/>
          <p:nvPr/>
        </p:nvSpPr>
        <p:spPr>
          <a:xfrm>
            <a:off x="6245352"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2. GIÁ TRỊ KỸ THUẬT &amp; ƯU THẾ VƯỢT TRỘI CỦA HỆ THỐNG</a:t>
            </a:r>
          </a:p>
          <a:p>
            <a:pPr>
              <a:spcAft>
                <a:spcPts val="800"/>
              </a:spcAft>
            </a:pPr>
            <a:r>
              <a:rPr sz="1400" b="1">
                <a:solidFill>
                  <a:srgbClr val="1B365D"/>
                </a:solidFill>
                <a:latin typeface="Arial"/>
              </a:rPr>
              <a:t>● Khắc phục giới hạn còi tại chỗ: </a:t>
            </a:r>
            <a:r>
              <a:rPr sz="1400" b="0">
                <a:solidFill>
                  <a:srgbClr val="222222"/>
                </a:solidFill>
                <a:latin typeface="Arial"/>
              </a:rPr>
              <a:t>Người dùng nhận cảnh báo tức thời ngay cả khi vắng nhà, đi công tác xa hoặc đang ngủ say.</a:t>
            </a:r>
          </a:p>
          <a:p>
            <a:pPr>
              <a:spcAft>
                <a:spcPts val="800"/>
              </a:spcAft>
            </a:pPr>
            <a:r>
              <a:rPr sz="1400" b="1">
                <a:solidFill>
                  <a:srgbClr val="1B365D"/>
                </a:solidFill>
                <a:latin typeface="Arial"/>
              </a:rPr>
              <a:t>● Độ trễ toàn trình cực thấp (0.8s - 1.5s): </a:t>
            </a:r>
            <a:r>
              <a:rPr sz="1400" b="0">
                <a:solidFill>
                  <a:srgbClr val="222222"/>
                </a:solidFill>
                <a:latin typeface="Arial"/>
              </a:rPr>
              <a:t>Từ lúc cảm biến rung lắc/bắt lửa đến khi chuông điện thoại reo chỉ mất khoảng 1 giây.</a:t>
            </a:r>
          </a:p>
          <a:p>
            <a:pPr>
              <a:spcAft>
                <a:spcPts val="800"/>
              </a:spcAft>
            </a:pPr>
            <a:r>
              <a:rPr sz="1400" b="1">
                <a:solidFill>
                  <a:srgbClr val="1B365D"/>
                </a:solidFill>
                <a:latin typeface="Arial"/>
              </a:rPr>
              <a:t>● Tính độc lập &amp; An toàn sinh mạng: </a:t>
            </a:r>
            <a:r>
              <a:rPr sz="1400" b="0">
                <a:solidFill>
                  <a:srgbClr val="222222"/>
                </a:solidFill>
                <a:latin typeface="Arial"/>
              </a:rPr>
              <a:t>Nếu mất mạng Internet, còi và đèn tại chỗ vẫn hú 10Hz bình thường, bảo vệ an toàn 100%.</a:t>
            </a:r>
          </a:p>
          <a:p>
            <a:pPr>
              <a:spcAft>
                <a:spcPts val="800"/>
              </a:spcAft>
            </a:pPr>
            <a:r>
              <a:rPr sz="1400" b="1">
                <a:solidFill>
                  <a:srgbClr val="1B365D"/>
                </a:solidFill>
                <a:latin typeface="Arial"/>
              </a:rPr>
              <a:t>● Đa nền tảng, không cần cài App phụ: </a:t>
            </a:r>
            <a:r>
              <a:rPr sz="1400" b="0">
                <a:solidFill>
                  <a:srgbClr val="222222"/>
                </a:solidFill>
                <a:latin typeface="Arial"/>
              </a:rPr>
              <a:t>Nhận thông báo trực tiếp qua ứng dụng Telegram trên iOS, Android, Windows, macOS và Smartwatch.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a:spAutoFit/>
          </a:bodyPr>
          <a:lstStyle/>
          <a:p>
            <a:pPr>
              <a:defRPr sz="1200" b="1">
                <a:solidFill>
                  <a:srgbClr val="005691"/>
                </a:solidFill>
                <a:latin typeface="Arial"/>
              </a:defRPr>
            </a:pPr>
            <a:r>
              <a:t>PHẦN B: MỞ RỘNG IOT - TẦNG PHẦN CỨNG &amp; XỬ LÝ BIÊN (EDGE LAYER)</a:t>
            </a:r>
          </a:p>
        </p:txBody>
      </p:sp>
      <p:sp>
        <p:nvSpPr>
          <p:cNvPr id="5" name="TextBox 4"/>
          <p:cNvSpPr txBox="1"/>
          <p:nvPr/>
        </p:nvSpPr>
        <p:spPr>
          <a:xfrm>
            <a:off x="731520" y="502920"/>
            <a:ext cx="8686800" cy="685800"/>
          </a:xfrm>
          <a:prstGeom prst="rect">
            <a:avLst/>
          </a:prstGeom>
          <a:noFill/>
        </p:spPr>
        <p:txBody>
          <a:bodyPr wrap="square">
            <a:spAutoFit/>
          </a:bodyPr>
          <a:lstStyle/>
          <a:p>
            <a:pPr>
              <a:defRPr sz="2200" b="1">
                <a:solidFill>
                  <a:srgbClr val="1B365D"/>
                </a:solidFill>
                <a:latin typeface="Arial"/>
              </a:defRPr>
            </a:pPr>
            <a:r>
              <a:t>TẦNG BIÊN ESP32: CƠ CHẾ ĐA NHÂN FREERTOS &amp; BÁO ĐỘNG TỨC THÌ</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74320"/>
          </a:xfrm>
          <a:prstGeom prst="rect">
            <a:avLst/>
          </a:prstGeom>
          <a:noFill/>
        </p:spPr>
        <p:txBody>
          <a:bodyPr wrap="none">
            <a:spAutoFit/>
          </a:bodyPr>
          <a:lstStyle/>
          <a:p>
            <a:pPr>
              <a:defRPr sz="1100">
                <a:solidFill>
                  <a:srgbClr val="666666"/>
                </a:solidFill>
                <a:latin typeface="Arial"/>
              </a:defRPr>
            </a:pPr>
            <a:r>
              <a:t>Trường ĐH Gia Định | Cảm biến &amp; Cơ cấu chấp hành (15113087) | Báo cáo Nhóm 2 - Chương 2 | Slide 39/43</a:t>
            </a:r>
          </a:p>
        </p:txBody>
      </p:sp>
      <p:sp>
        <p:nvSpPr>
          <p:cNvPr id="8" name="Rounded Rectangle 7"/>
          <p:cNvSpPr/>
          <p:nvPr/>
        </p:nvSpPr>
        <p:spPr>
          <a:xfrm>
            <a:off x="731520"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1. ĐỘT PHÁ ĐA NHÂN (DUAL-CORE) - LOẠI BỎ ĐỘ TRỄ MẠNG</a:t>
            </a:r>
          </a:p>
          <a:p>
            <a:pPr>
              <a:spcAft>
                <a:spcPts val="800"/>
              </a:spcAft>
            </a:pPr>
            <a:r>
              <a:rPr sz="1400" b="1">
                <a:solidFill>
                  <a:srgbClr val="1B365D"/>
                </a:solidFill>
                <a:latin typeface="Arial"/>
              </a:rPr>
              <a:t>● Vấn đề nghẽn mạng ở thiết kế cũ: </a:t>
            </a:r>
            <a:r>
              <a:rPr sz="1400" b="0">
                <a:solidFill>
                  <a:srgbClr val="222222"/>
                </a:solidFill>
                <a:latin typeface="Arial"/>
              </a:rPr>
              <a:t>Hàm gửi HTTPS/SSL đến Telegram mất 2 - 4 giây chặn luồng (blocking) khiến còi bị 'câm' hoặc đơ nhịp khi có động đất.</a:t>
            </a:r>
          </a:p>
          <a:p>
            <a:pPr>
              <a:spcAft>
                <a:spcPts val="800"/>
              </a:spcAft>
            </a:pPr>
            <a:r>
              <a:rPr sz="1400" b="1">
                <a:solidFill>
                  <a:srgbClr val="1B365D"/>
                </a:solidFill>
                <a:latin typeface="Arial"/>
              </a:rPr>
              <a:t>● Phân bổ tác vụ trên Core 1 (Real-time): </a:t>
            </a:r>
            <a:r>
              <a:rPr sz="1400" b="0">
                <a:solidFill>
                  <a:srgbClr val="222222"/>
                </a:solidFill>
                <a:latin typeface="Arial"/>
              </a:rPr>
              <a:t>Quét cảm biến mỗi 50ms. Khi phát hiện rung chấn &gt;0.5g hoặc lửa -&gt; Kích hoạt Còi &amp; LED 10Hz NGAY LẬP TỨC (0ms).</a:t>
            </a:r>
          </a:p>
          <a:p>
            <a:pPr>
              <a:spcAft>
                <a:spcPts val="800"/>
              </a:spcAft>
            </a:pPr>
            <a:r>
              <a:rPr sz="1400" b="1">
                <a:solidFill>
                  <a:srgbClr val="1B365D"/>
                </a:solidFill>
                <a:latin typeface="Arial"/>
              </a:rPr>
              <a:t>● Tác vụ mạng ngầm trên Core 0 (NetWorker): </a:t>
            </a:r>
            <a:r>
              <a:rPr sz="1400" b="0">
                <a:solidFill>
                  <a:srgbClr val="222222"/>
                </a:solidFill>
                <a:latin typeface="Arial"/>
              </a:rPr>
              <a:t>Âm thầm xử lý SSL và đẩy dữ liệu lên Cloud -&gt; Còi tại Core 1 hú dồn dập 10Hz mượt mà, không gián đoạn.</a:t>
            </a:r>
          </a:p>
          <a:p>
            <a:pPr>
              <a:spcAft>
                <a:spcPts val="800"/>
              </a:spcAft>
            </a:pPr>
            <a:r>
              <a:rPr sz="1400" b="1">
                <a:solidFill>
                  <a:srgbClr val="1B365D"/>
                </a:solidFill>
                <a:latin typeface="Arial"/>
              </a:rPr>
              <a:t>● Tối ưu chu kỳ đọc DHT11 (1.5s): </a:t>
            </a:r>
            <a:r>
              <a:rPr sz="1400" b="0">
                <a:solidFill>
                  <a:srgbClr val="222222"/>
                </a:solidFill>
                <a:latin typeface="Arial"/>
              </a:rPr>
              <a:t>Tránh lỗi tràn bộ đệm đọc I2C và cảm biến nhiệt, bảo đảm độ ổn định cho vòng lặp điều khiển.</a:t>
            </a:r>
          </a:p>
        </p:txBody>
      </p:sp>
      <p:sp>
        <p:nvSpPr>
          <p:cNvPr id="10" name="Rounded Rectangle 9"/>
          <p:cNvSpPr/>
          <p:nvPr/>
        </p:nvSpPr>
        <p:spPr>
          <a:xfrm>
            <a:off x="6245352"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2. PHÁT HIỆN CẢM BIẾN OFFLINE &amp; ĐÓNG GÓI DỮ LIỆU JSON</a:t>
            </a:r>
          </a:p>
          <a:p>
            <a:pPr>
              <a:spcAft>
                <a:spcPts val="800"/>
              </a:spcAft>
            </a:pPr>
            <a:r>
              <a:rPr sz="1400" b="1">
                <a:solidFill>
                  <a:srgbClr val="1B365D"/>
                </a:solidFill>
                <a:latin typeface="Arial"/>
              </a:rPr>
              <a:t>● Giám sát bus I2C thời gian thực: </a:t>
            </a:r>
            <a:r>
              <a:rPr sz="1400" b="0">
                <a:solidFill>
                  <a:srgbClr val="222222"/>
                </a:solidFill>
                <a:latin typeface="Arial"/>
              </a:rPr>
              <a:t>Hàm isAccelOnline() kiểm tra đường truyền SDA (21) / SCL (22) liên tục mỗi chu kỳ.</a:t>
            </a:r>
          </a:p>
          <a:p>
            <a:pPr>
              <a:spcAft>
                <a:spcPts val="800"/>
              </a:spcAft>
            </a:pPr>
            <a:r>
              <a:rPr sz="1400" b="1">
                <a:solidFill>
                  <a:srgbClr val="1B365D"/>
                </a:solidFill>
                <a:latin typeface="Arial"/>
              </a:rPr>
              <a:t>● Báo động sự cố tuột dây tức thì: </a:t>
            </a:r>
            <a:r>
              <a:rPr sz="1400" b="0">
                <a:solidFill>
                  <a:srgbClr val="222222"/>
                </a:solidFill>
                <a:latin typeface="Arial"/>
              </a:rPr>
              <a:t>Nếu MPU-6050 bị lỏng dây hoặc Offline -&gt; Còi hú 10Hz khẩn cấp tại chỗ, LCD in 'LOI PHAN CUNG! CAM BIEN OFFLINE'.</a:t>
            </a:r>
          </a:p>
          <a:p>
            <a:pPr>
              <a:spcAft>
                <a:spcPts val="800"/>
              </a:spcAft>
            </a:pPr>
            <a:r>
              <a:rPr sz="1400" b="1">
                <a:solidFill>
                  <a:srgbClr val="1B365D"/>
                </a:solidFill>
                <a:latin typeface="Arial"/>
              </a:rPr>
              <a:t>● Gói tin JSON chuẩn hóa công nghiệp: </a:t>
            </a:r>
            <a:r>
              <a:rPr sz="1400" b="0">
                <a:solidFill>
                  <a:srgbClr val="222222"/>
                </a:solidFill>
                <a:latin typeface="Arial"/>
              </a:rPr>
              <a:t>Đóng gói device_id, chuỗi thứ tự seq, gia tốc vibration_g, chỉ số lửa flame_raw, nhiệt độ temperature_c.</a:t>
            </a:r>
          </a:p>
          <a:p>
            <a:pPr>
              <a:spcAft>
                <a:spcPts val="800"/>
              </a:spcAft>
            </a:pPr>
            <a:r>
              <a:rPr sz="1400" b="1">
                <a:solidFill>
                  <a:srgbClr val="1B365D"/>
                </a:solidFill>
                <a:latin typeface="Arial"/>
              </a:rPr>
              <a:t>● Xác thực Bearer Token: </a:t>
            </a:r>
            <a:r>
              <a:rPr sz="1400" b="0">
                <a:solidFill>
                  <a:srgbClr val="222222"/>
                </a:solidFill>
                <a:latin typeface="Arial"/>
              </a:rPr>
              <a:t>Gắn mã định danh bí mật trong HTTP Header để máy chủ VPS phân quyền và từ chối các thiết bị lạ.</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a:spAutoFit/>
          </a:bodyPr>
          <a:lstStyle/>
          <a:p>
            <a:pPr>
              <a:defRPr sz="1200" b="1">
                <a:solidFill>
                  <a:srgbClr val="005691"/>
                </a:solidFill>
                <a:latin typeface="Arial"/>
              </a:defRPr>
            </a:pPr>
            <a:r>
              <a:t>PHẦN B: MỞ RỘNG IOT - TẦNG DỊCH VỤ ĐÁM MÂY (BACKEND CLOUD)</a:t>
            </a:r>
          </a:p>
        </p:txBody>
      </p:sp>
      <p:sp>
        <p:nvSpPr>
          <p:cNvPr id="5" name="TextBox 4"/>
          <p:cNvSpPr txBox="1"/>
          <p:nvPr/>
        </p:nvSpPr>
        <p:spPr>
          <a:xfrm>
            <a:off x="731520" y="502920"/>
            <a:ext cx="8686800" cy="685800"/>
          </a:xfrm>
          <a:prstGeom prst="rect">
            <a:avLst/>
          </a:prstGeom>
          <a:noFill/>
        </p:spPr>
        <p:txBody>
          <a:bodyPr wrap="square">
            <a:spAutoFit/>
          </a:bodyPr>
          <a:lstStyle/>
          <a:p>
            <a:pPr>
              <a:defRPr sz="2200" b="1">
                <a:solidFill>
                  <a:srgbClr val="1B365D"/>
                </a:solidFill>
                <a:latin typeface="Arial"/>
              </a:defRPr>
            </a:pPr>
            <a:r>
              <a:t>TẦNG MÁY CHỦ VPS: TIẾP NHẬN, XÁC THỰC &amp; THUẬT TOÁN COOLDOWN</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74320"/>
          </a:xfrm>
          <a:prstGeom prst="rect">
            <a:avLst/>
          </a:prstGeom>
          <a:noFill/>
        </p:spPr>
        <p:txBody>
          <a:bodyPr wrap="none">
            <a:spAutoFit/>
          </a:bodyPr>
          <a:lstStyle/>
          <a:p>
            <a:pPr>
              <a:defRPr sz="1100">
                <a:solidFill>
                  <a:srgbClr val="666666"/>
                </a:solidFill>
                <a:latin typeface="Arial"/>
              </a:defRPr>
            </a:pPr>
            <a:r>
              <a:t>Trường ĐH Gia Định | Cảm biến &amp; Cơ cấu chấp hành (15113087) | Báo cáo Nhóm 2 - Chương 2 | Slide 40/43</a:t>
            </a:r>
          </a:p>
        </p:txBody>
      </p:sp>
      <p:sp>
        <p:nvSpPr>
          <p:cNvPr id="8" name="Rounded Rectangle 7"/>
          <p:cNvSpPr/>
          <p:nvPr/>
        </p:nvSpPr>
        <p:spPr>
          <a:xfrm>
            <a:off x="731520"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1. DỊCH VỤ FASTAPI BACKEND &amp; BẢO MẬT XÁC THỰC</a:t>
            </a:r>
          </a:p>
          <a:p>
            <a:pPr>
              <a:spcAft>
                <a:spcPts val="800"/>
              </a:spcAft>
            </a:pPr>
            <a:r>
              <a:rPr sz="1400" b="1">
                <a:solidFill>
                  <a:srgbClr val="1B365D"/>
                </a:solidFill>
                <a:latin typeface="Arial"/>
              </a:rPr>
              <a:t>● Kiến trúc Microservices chạy trên VPS: </a:t>
            </a:r>
            <a:r>
              <a:rPr sz="1400" b="0">
                <a:solidFill>
                  <a:srgbClr val="222222"/>
                </a:solidFill>
                <a:latin typeface="Arial"/>
              </a:rPr>
              <a:t>Vận hành trên Ubuntu Server độc lập (103.178.235.184:80), quản lý dịch vụ tự phục hồi qua Linux Systemd.</a:t>
            </a:r>
          </a:p>
          <a:p>
            <a:pPr>
              <a:spcAft>
                <a:spcPts val="800"/>
              </a:spcAft>
            </a:pPr>
            <a:r>
              <a:rPr sz="1400" b="1">
                <a:solidFill>
                  <a:srgbClr val="1B365D"/>
                </a:solidFill>
                <a:latin typeface="Arial"/>
              </a:rPr>
              <a:t>● Kiểm thực Token bảo mật (Auth Check): </a:t>
            </a:r>
            <a:r>
              <a:rPr sz="1400" b="0">
                <a:solidFill>
                  <a:srgbClr val="222222"/>
                </a:solidFill>
                <a:latin typeface="Arial"/>
              </a:rPr>
              <a:t>Mọi gói tin gửi lên đều được so khớp với danh bạ device_credentials.json, từ chối ngay 401 Unauthorized nếu sai lệch.</a:t>
            </a:r>
          </a:p>
          <a:p>
            <a:pPr>
              <a:spcAft>
                <a:spcPts val="800"/>
              </a:spcAft>
            </a:pPr>
            <a:r>
              <a:rPr sz="1400" b="1">
                <a:solidFill>
                  <a:srgbClr val="1B365D"/>
                </a:solidFill>
                <a:latin typeface="Arial"/>
              </a:rPr>
              <a:t>● Lưu trữ cơ sở dữ liệu SQLite toàn vẹn: </a:t>
            </a:r>
            <a:r>
              <a:rPr sz="1400" b="0">
                <a:solidFill>
                  <a:srgbClr val="222222"/>
                </a:solidFill>
                <a:latin typeface="Arial"/>
              </a:rPr>
              <a:t>Lưu lịch sử chỉ số cảm biến vào bảng telemetry với tem thời gian UTC phục vụ trích xuất nhật ký và vẽ đồ thị.</a:t>
            </a:r>
          </a:p>
          <a:p>
            <a:pPr>
              <a:spcAft>
                <a:spcPts val="800"/>
              </a:spcAft>
            </a:pPr>
            <a:r>
              <a:rPr sz="1400" b="1">
                <a:solidFill>
                  <a:srgbClr val="1B365D"/>
                </a:solidFill>
                <a:latin typeface="Arial"/>
              </a:rPr>
              <a:t>● Phản hồi siêu tốc (Non-blocking): </a:t>
            </a:r>
            <a:r>
              <a:rPr sz="1400" b="0">
                <a:solidFill>
                  <a:srgbClr val="222222"/>
                </a:solidFill>
                <a:latin typeface="Arial"/>
              </a:rPr>
              <a:t>FastAPI tiếp nhận và trả mã 200 OK cho ESP32 trong vòng 15ms để giải phóng tài nguyên vi điều khiển.</a:t>
            </a:r>
          </a:p>
        </p:txBody>
      </p:sp>
      <p:sp>
        <p:nvSpPr>
          <p:cNvPr id="10" name="Rounded Rectangle 9"/>
          <p:cNvSpPr/>
          <p:nvPr/>
        </p:nvSpPr>
        <p:spPr>
          <a:xfrm>
            <a:off x="6245352"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2. THUẬT TOÁN COOLDOWN CHỐNG BÃO TIN NHẮN (ALERT STORM)</a:t>
            </a:r>
          </a:p>
          <a:p>
            <a:pPr>
              <a:spcAft>
                <a:spcPts val="800"/>
              </a:spcAft>
            </a:pPr>
            <a:r>
              <a:rPr sz="1400" b="1">
                <a:solidFill>
                  <a:srgbClr val="1B365D"/>
                </a:solidFill>
                <a:latin typeface="Arial"/>
              </a:rPr>
              <a:t>● Nguy cơ bão tin nhắn khi xảy ra sự cố: </a:t>
            </a:r>
            <a:r>
              <a:rPr sz="1400" b="0">
                <a:solidFill>
                  <a:srgbClr val="222222"/>
                </a:solidFill>
                <a:latin typeface="Arial"/>
              </a:rPr>
              <a:t>Khi rung chấn hoặc hỏa hoạn kéo dài 1-2 phút, nếu mỗi 100ms gửi 1 tin -&gt; Telegram chặn spam và người dùng hoảng loạn.</a:t>
            </a:r>
          </a:p>
          <a:p>
            <a:pPr>
              <a:spcAft>
                <a:spcPts val="800"/>
              </a:spcAft>
            </a:pPr>
            <a:r>
              <a:rPr sz="1400" b="1">
                <a:solidFill>
                  <a:srgbClr val="1B365D"/>
                </a:solidFill>
                <a:latin typeface="Arial"/>
              </a:rPr>
              <a:t>● Cơ chế Cooldown 60 giây thông minh: </a:t>
            </a:r>
            <a:r>
              <a:rPr sz="1400" b="0">
                <a:solidFill>
                  <a:srgbClr val="222222"/>
                </a:solidFill>
                <a:latin typeface="Arial"/>
              </a:rPr>
              <a:t>Khi có báo động đỏ, VPS tạo 1 bản ghi PENDING gửi Telegram; các chu kỳ tiếp theo trong 60s chỉ cập nhật dữ liệu nền.</a:t>
            </a:r>
          </a:p>
          <a:p>
            <a:pPr>
              <a:spcAft>
                <a:spcPts val="800"/>
              </a:spcAft>
            </a:pPr>
            <a:r>
              <a:rPr sz="1400" b="1">
                <a:solidFill>
                  <a:srgbClr val="1B365D"/>
                </a:solidFill>
                <a:latin typeface="Arial"/>
              </a:rPr>
              <a:t>● Cơ chế tự phục hồi (Recovery Notification): </a:t>
            </a:r>
            <a:r>
              <a:rPr sz="1400" b="0">
                <a:solidFill>
                  <a:srgbClr val="222222"/>
                </a:solidFill>
                <a:latin typeface="Arial"/>
              </a:rPr>
              <a:t>Khi chỉ số cảm biến hạ dưới ngưỡng nguy hiểm, hệ thống tự động gửi 1 tin báo 'Hệ thống an toàn trở lại'.</a:t>
            </a:r>
          </a:p>
          <a:p>
            <a:pPr>
              <a:spcAft>
                <a:spcPts val="800"/>
              </a:spcAft>
            </a:pPr>
            <a:r>
              <a:rPr sz="1400" b="1">
                <a:solidFill>
                  <a:srgbClr val="1B365D"/>
                </a:solidFill>
                <a:latin typeface="Arial"/>
              </a:rPr>
              <a:t>● Phân loại đa cấp độ cảnh báo: </a:t>
            </a:r>
            <a:r>
              <a:rPr sz="1400" b="0">
                <a:solidFill>
                  <a:srgbClr val="222222"/>
                </a:solidFill>
                <a:latin typeface="Arial"/>
              </a:rPr>
              <a:t>Tự động phân cấp: Báo động Đỏ (10Hz), Cảnh báo sớm (1Hz), Báo lỗi cảm biến và Trạng thái an toàn.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a:spAutoFit/>
          </a:bodyPr>
          <a:lstStyle/>
          <a:p>
            <a:pPr>
              <a:defRPr sz="1200" b="1">
                <a:solidFill>
                  <a:srgbClr val="005691"/>
                </a:solidFill>
                <a:latin typeface="Arial"/>
              </a:defRPr>
            </a:pPr>
            <a:r>
              <a:t>PHẦN B: MỞ RỘNG IOT - TẦNG BẢO ĐẢM TRUYỀN THÔNG TIN CẬY</a:t>
            </a:r>
          </a:p>
        </p:txBody>
      </p:sp>
      <p:sp>
        <p:nvSpPr>
          <p:cNvPr id="5" name="TextBox 4"/>
          <p:cNvSpPr txBox="1"/>
          <p:nvPr/>
        </p:nvSpPr>
        <p:spPr>
          <a:xfrm>
            <a:off x="731520" y="502920"/>
            <a:ext cx="8686800" cy="685800"/>
          </a:xfrm>
          <a:prstGeom prst="rect">
            <a:avLst/>
          </a:prstGeom>
          <a:noFill/>
        </p:spPr>
        <p:txBody>
          <a:bodyPr wrap="square">
            <a:spAutoFit/>
          </a:bodyPr>
          <a:lstStyle/>
          <a:p>
            <a:pPr>
              <a:defRPr sz="2200" b="1">
                <a:solidFill>
                  <a:srgbClr val="1B365D"/>
                </a:solidFill>
                <a:latin typeface="Arial"/>
              </a:defRPr>
            </a:pPr>
            <a:r>
              <a:t>MÔ HÌNH TRANSACTIONAL OUTBOX &amp; KHẢ NĂNG CHỊU LỖI WORKER</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74320"/>
          </a:xfrm>
          <a:prstGeom prst="rect">
            <a:avLst/>
          </a:prstGeom>
          <a:noFill/>
        </p:spPr>
        <p:txBody>
          <a:bodyPr wrap="none">
            <a:spAutoFit/>
          </a:bodyPr>
          <a:lstStyle/>
          <a:p>
            <a:pPr>
              <a:defRPr sz="1100">
                <a:solidFill>
                  <a:srgbClr val="666666"/>
                </a:solidFill>
                <a:latin typeface="Arial"/>
              </a:defRPr>
            </a:pPr>
            <a:r>
              <a:t>Trường ĐH Gia Định | Cảm biến &amp; Cơ cấu chấp hành (15113087) | Báo cáo Nhóm 2 - Chương 2 | Slide 41/43</a:t>
            </a:r>
          </a:p>
        </p:txBody>
      </p:sp>
      <p:sp>
        <p:nvSpPr>
          <p:cNvPr id="8" name="Rounded Rectangle 7"/>
          <p:cNvSpPr/>
          <p:nvPr/>
        </p:nvSpPr>
        <p:spPr>
          <a:xfrm>
            <a:off x="731520"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1. THIẾT KẾ MÔ HÌNH TRANSACTIONAL OUTBOX PATTERN</a:t>
            </a:r>
          </a:p>
          <a:p>
            <a:pPr>
              <a:spcAft>
                <a:spcPts val="800"/>
              </a:spcAft>
            </a:pPr>
            <a:r>
              <a:rPr sz="1400" b="1">
                <a:solidFill>
                  <a:srgbClr val="1B365D"/>
                </a:solidFill>
                <a:latin typeface="Arial"/>
              </a:rPr>
              <a:t>● Tách biệt hoàn toàn API và Gửi tin: </a:t>
            </a:r>
            <a:r>
              <a:rPr sz="1400" b="0">
                <a:solidFill>
                  <a:srgbClr val="222222"/>
                </a:solidFill>
                <a:latin typeface="Arial"/>
              </a:rPr>
              <a:t>Luồng nhận tin (FastAPI) không gọi trực tiếp Telegram API mà ủy quyền cho tiến trình ngầm canhbaothientai-worker.</a:t>
            </a:r>
          </a:p>
          <a:p>
            <a:pPr>
              <a:spcAft>
                <a:spcPts val="800"/>
              </a:spcAft>
            </a:pPr>
            <a:r>
              <a:rPr sz="1400" b="1">
                <a:solidFill>
                  <a:srgbClr val="1B365D"/>
                </a:solidFill>
                <a:latin typeface="Arial"/>
              </a:rPr>
              <a:t>● Hàng đợi cơ sở dữ liệu bền vững (Outbox): </a:t>
            </a:r>
            <a:r>
              <a:rPr sz="1400" b="0">
                <a:solidFill>
                  <a:srgbClr val="222222"/>
                </a:solidFill>
                <a:latin typeface="Arial"/>
              </a:rPr>
              <a:t>Các cảnh báo được ghi vào bảng alert_outbox với trạng thái ban đầu PENDING.</a:t>
            </a:r>
          </a:p>
          <a:p>
            <a:pPr>
              <a:spcAft>
                <a:spcPts val="800"/>
              </a:spcAft>
            </a:pPr>
            <a:r>
              <a:rPr sz="1400" b="1">
                <a:solidFill>
                  <a:srgbClr val="1B365D"/>
                </a:solidFill>
                <a:latin typeface="Arial"/>
              </a:rPr>
              <a:t>● Bảo đảm tính toàn vẹn (ACID Transaction): </a:t>
            </a:r>
            <a:r>
              <a:rPr sz="1400" b="0">
                <a:solidFill>
                  <a:srgbClr val="222222"/>
                </a:solidFill>
                <a:latin typeface="Arial"/>
              </a:rPr>
              <a:t>Không bao giờ bị mất tin báo ngay cả khi server mất điện đột ngột hoặc tiến trình bị khởi động lại.</a:t>
            </a:r>
          </a:p>
          <a:p>
            <a:pPr>
              <a:spcAft>
                <a:spcPts val="800"/>
              </a:spcAft>
            </a:pPr>
            <a:r>
              <a:rPr sz="1400" b="1">
                <a:solidFill>
                  <a:srgbClr val="1B365D"/>
                </a:solidFill>
                <a:latin typeface="Arial"/>
              </a:rPr>
              <a:t>● Tiến trình Worker xử lý liên tục: </a:t>
            </a:r>
            <a:r>
              <a:rPr sz="1400" b="0">
                <a:solidFill>
                  <a:srgbClr val="222222"/>
                </a:solidFill>
                <a:latin typeface="Arial"/>
              </a:rPr>
              <a:t>Worker quét bảng hàng đợi mỗi 500ms, lấy các bản ghi PENDING để định dạng tin nhắn HTML và gọi Telegram.</a:t>
            </a:r>
          </a:p>
        </p:txBody>
      </p:sp>
      <p:sp>
        <p:nvSpPr>
          <p:cNvPr id="10" name="Rounded Rectangle 9"/>
          <p:cNvSpPr/>
          <p:nvPr/>
        </p:nvSpPr>
        <p:spPr>
          <a:xfrm>
            <a:off x="6245352"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2. CƠ CHẾ CHỊU LỖI &amp; THỬ LẠI TỰ ĐỘNG (EXPONENTIAL BACKOFF)</a:t>
            </a:r>
          </a:p>
          <a:p>
            <a:pPr>
              <a:spcAft>
                <a:spcPts val="800"/>
              </a:spcAft>
            </a:pPr>
            <a:r>
              <a:rPr sz="1400" b="1">
                <a:solidFill>
                  <a:srgbClr val="1B365D"/>
                </a:solidFill>
                <a:latin typeface="Arial"/>
              </a:rPr>
              <a:t>● Ứng phó sự cố đứt cáp hoặc Telegram nghẽn: </a:t>
            </a:r>
            <a:r>
              <a:rPr sz="1400" b="0">
                <a:solidFill>
                  <a:srgbClr val="222222"/>
                </a:solidFill>
                <a:latin typeface="Arial"/>
              </a:rPr>
              <a:t>Nếu kết nối đến api.telegram.org gặp sự cố (Timeout, HTTP 429, 502/503), tin nhắn không bị hủy.</a:t>
            </a:r>
          </a:p>
          <a:p>
            <a:pPr>
              <a:spcAft>
                <a:spcPts val="800"/>
              </a:spcAft>
            </a:pPr>
            <a:r>
              <a:rPr sz="1400" b="1">
                <a:solidFill>
                  <a:srgbClr val="1B365D"/>
                </a:solidFill>
                <a:latin typeface="Arial"/>
              </a:rPr>
              <a:t>● Thuật toán thử lại theo hàm mũ: </a:t>
            </a:r>
            <a:r>
              <a:rPr sz="1400" b="0">
                <a:solidFill>
                  <a:srgbClr val="222222"/>
                </a:solidFill>
                <a:latin typeface="Arial"/>
              </a:rPr>
              <a:t>Tăng dần retry_count và giãn cách thời gian thử lại (2s, 4s, 8s, 16s...) bảo đảm hệ thống không bị quá tải.</a:t>
            </a:r>
          </a:p>
          <a:p>
            <a:pPr>
              <a:spcAft>
                <a:spcPts val="800"/>
              </a:spcAft>
            </a:pPr>
            <a:r>
              <a:rPr sz="1400" b="1">
                <a:solidFill>
                  <a:srgbClr val="1B365D"/>
                </a:solidFill>
                <a:latin typeface="Arial"/>
              </a:rPr>
              <a:t>● Cam kết chuyển phát (At-Least-Once Delivery): </a:t>
            </a:r>
            <a:r>
              <a:rPr sz="1400" b="0">
                <a:solidFill>
                  <a:srgbClr val="222222"/>
                </a:solidFill>
                <a:latin typeface="Arial"/>
              </a:rPr>
              <a:t>Cảnh báo chỉ được đánh dấu SENT khi máy chủ Telegram chính thức trả về mã HTTP 200 OK.</a:t>
            </a:r>
          </a:p>
          <a:p>
            <a:pPr>
              <a:spcAft>
                <a:spcPts val="800"/>
              </a:spcAft>
            </a:pPr>
            <a:r>
              <a:rPr sz="1400" b="1">
                <a:solidFill>
                  <a:srgbClr val="1B365D"/>
                </a:solidFill>
                <a:latin typeface="Arial"/>
              </a:rPr>
              <a:t>● Lưu vết kiểm toán (Audit Trail): </a:t>
            </a:r>
            <a:r>
              <a:rPr sz="1400" b="0">
                <a:solidFill>
                  <a:srgbClr val="222222"/>
                </a:solidFill>
                <a:latin typeface="Arial"/>
              </a:rPr>
              <a:t>Ghi nhận chính xác mốc thời gian sent_at và retry_count phục vụ hậu kiểm và chẩn đoán đường truyền.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9601200" y="320040"/>
            <a:ext cx="1856231" cy="630936"/>
          </a:xfrm>
          <a:prstGeom prst="rect">
            <a:avLst/>
          </a:prstGeom>
        </p:spPr>
      </p:pic>
      <p:sp>
        <p:nvSpPr>
          <p:cNvPr id="4" name="TextBox 3"/>
          <p:cNvSpPr txBox="1"/>
          <p:nvPr/>
        </p:nvSpPr>
        <p:spPr>
          <a:xfrm>
            <a:off x="731520" y="219456"/>
            <a:ext cx="8686800" cy="292608"/>
          </a:xfrm>
          <a:prstGeom prst="rect">
            <a:avLst/>
          </a:prstGeom>
          <a:noFill/>
        </p:spPr>
        <p:txBody>
          <a:bodyPr wrap="square">
            <a:spAutoFit/>
          </a:bodyPr>
          <a:lstStyle/>
          <a:p>
            <a:pPr>
              <a:defRPr sz="1200" b="1">
                <a:solidFill>
                  <a:srgbClr val="005691"/>
                </a:solidFill>
                <a:latin typeface="Arial"/>
              </a:defRPr>
            </a:pPr>
            <a:r>
              <a:t>PHẦN B: MỞ RỘNG IOT - GIAO DIỆN NGƯỜI DÙNG &amp; ĐÁNH GIÁ THỰC NGHIỆM</a:t>
            </a:r>
          </a:p>
        </p:txBody>
      </p:sp>
      <p:sp>
        <p:nvSpPr>
          <p:cNvPr id="5" name="TextBox 4"/>
          <p:cNvSpPr txBox="1"/>
          <p:nvPr/>
        </p:nvSpPr>
        <p:spPr>
          <a:xfrm>
            <a:off x="731520" y="502920"/>
            <a:ext cx="8686800" cy="685800"/>
          </a:xfrm>
          <a:prstGeom prst="rect">
            <a:avLst/>
          </a:prstGeom>
          <a:noFill/>
        </p:spPr>
        <p:txBody>
          <a:bodyPr wrap="square">
            <a:spAutoFit/>
          </a:bodyPr>
          <a:lstStyle/>
          <a:p>
            <a:pPr>
              <a:defRPr sz="2200" b="1">
                <a:solidFill>
                  <a:srgbClr val="1B365D"/>
                </a:solidFill>
                <a:latin typeface="Arial"/>
              </a:defRPr>
            </a:pPr>
            <a:r>
              <a:t>TRỰC QUAN HÓA THÔNG BÁO TELEGRAM &amp; ĐÁNH GIÁ HIỆU NĂNG</a:t>
            </a:r>
          </a:p>
        </p:txBody>
      </p:sp>
      <p:sp>
        <p:nvSpPr>
          <p:cNvPr id="6" name="Rectangle 5"/>
          <p:cNvSpPr/>
          <p:nvPr/>
        </p:nvSpPr>
        <p:spPr>
          <a:xfrm>
            <a:off x="731520" y="1243584"/>
            <a:ext cx="10725912" cy="18288"/>
          </a:xfrm>
          <a:prstGeom prst="rect">
            <a:avLst/>
          </a:prstGeom>
          <a:solidFill>
            <a:srgbClr val="DC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10725912" cy="274320"/>
          </a:xfrm>
          <a:prstGeom prst="rect">
            <a:avLst/>
          </a:prstGeom>
          <a:noFill/>
        </p:spPr>
        <p:txBody>
          <a:bodyPr wrap="none">
            <a:spAutoFit/>
          </a:bodyPr>
          <a:lstStyle/>
          <a:p>
            <a:pPr>
              <a:defRPr sz="1100">
                <a:solidFill>
                  <a:srgbClr val="666666"/>
                </a:solidFill>
                <a:latin typeface="Arial"/>
              </a:defRPr>
            </a:pPr>
            <a:r>
              <a:t>Trường ĐH Gia Định | Cảm biến &amp; Cơ cấu chấp hành (15113087) | Báo cáo Nhóm 2 - Chương 2 | Slide 42/43</a:t>
            </a:r>
          </a:p>
        </p:txBody>
      </p:sp>
      <p:sp>
        <p:nvSpPr>
          <p:cNvPr id="8" name="Rounded Rectangle 7"/>
          <p:cNvSpPr/>
          <p:nvPr/>
        </p:nvSpPr>
        <p:spPr>
          <a:xfrm>
            <a:off x="731520"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1. ĐỊNH DẠNG BẢN TIN TRỰC QUAN &amp; THẨM MỸ CAO</a:t>
            </a:r>
          </a:p>
          <a:p>
            <a:pPr>
              <a:spcAft>
                <a:spcPts val="800"/>
              </a:spcAft>
            </a:pPr>
            <a:r>
              <a:rPr sz="1400" b="1">
                <a:solidFill>
                  <a:srgbClr val="1B365D"/>
                </a:solidFill>
                <a:latin typeface="Arial"/>
              </a:rPr>
              <a:t>● Phân biệt khẩn cấp bằng Icon trực quan: </a:t>
            </a:r>
            <a:r>
              <a:rPr sz="1400" b="0">
                <a:solidFill>
                  <a:srgbClr val="222222"/>
                </a:solidFill>
                <a:latin typeface="Arial"/>
              </a:rPr>
              <a:t>🚨🚨 Động Đất Nguy Hiểm (&gt;0.5g) | 🔥🚨 Báo Cháy Khẩn Cấp (Lửa ADC &lt; 2800) | ⚠️ Cảnh Báo Sớm | 🛠 Lỗi Cảm Biến.</a:t>
            </a:r>
          </a:p>
          <a:p>
            <a:pPr>
              <a:spcAft>
                <a:spcPts val="800"/>
              </a:spcAft>
            </a:pPr>
            <a:r>
              <a:rPr sz="1400" b="1">
                <a:solidFill>
                  <a:srgbClr val="1B365D"/>
                </a:solidFill>
                <a:latin typeface="Arial"/>
              </a:rPr>
              <a:t>● Dữ liệu đo đạc chi tiết từng thông số: </a:t>
            </a:r>
            <a:r>
              <a:rPr sz="1400" b="0">
                <a:solidFill>
                  <a:srgbClr val="222222"/>
                </a:solidFill>
                <a:latin typeface="Arial"/>
              </a:rPr>
              <a:t>Thể hiện rõ tên trạm đo kitchen-01, gia tốc rung (g), chỉ số quang trở lửa, nhiệt độ môi trường (°C).</a:t>
            </a:r>
          </a:p>
          <a:p>
            <a:pPr>
              <a:spcAft>
                <a:spcPts val="800"/>
              </a:spcAft>
            </a:pPr>
            <a:r>
              <a:rPr sz="1400" b="1">
                <a:solidFill>
                  <a:srgbClr val="1B365D"/>
                </a:solidFill>
                <a:latin typeface="Arial"/>
              </a:rPr>
              <a:t>● Tem thời gian chuẩn xác đến từng giây: </a:t>
            </a:r>
            <a:r>
              <a:rPr sz="1400" b="0">
                <a:solidFill>
                  <a:srgbClr val="222222"/>
                </a:solidFill>
                <a:latin typeface="Arial"/>
              </a:rPr>
              <a:t>Cung cấp mốc thời gian thực phát hiện sự cố để lực lượng cứu hộ dễ dàng đối chiếu camera an ninh.</a:t>
            </a:r>
          </a:p>
          <a:p>
            <a:pPr>
              <a:spcAft>
                <a:spcPts val="800"/>
              </a:spcAft>
            </a:pPr>
            <a:r>
              <a:rPr sz="1400" b="1">
                <a:solidFill>
                  <a:srgbClr val="1B365D"/>
                </a:solidFill>
                <a:latin typeface="Arial"/>
              </a:rPr>
              <a:t>● Khuyến cáo sơ tán khẩn cấp: </a:t>
            </a:r>
            <a:r>
              <a:rPr sz="1400" b="0">
                <a:solidFill>
                  <a:srgbClr val="222222"/>
                </a:solidFill>
                <a:latin typeface="Arial"/>
              </a:rPr>
              <a:t>Đính kèm chỉ dẫn an toàn ngay cuối tin nhắn ('Tìm nơi trú ẩn ngay!' hoặc 'Kiểm tra hiện trường chữa cháy!').</a:t>
            </a:r>
          </a:p>
        </p:txBody>
      </p:sp>
      <p:sp>
        <p:nvSpPr>
          <p:cNvPr id="10" name="Rounded Rectangle 9"/>
          <p:cNvSpPr/>
          <p:nvPr/>
        </p:nvSpPr>
        <p:spPr>
          <a:xfrm>
            <a:off x="6245352" y="1417320"/>
            <a:ext cx="5212080" cy="4892040"/>
          </a:xfrm>
          <a:prstGeom prst="roundRect">
            <a:avLst/>
          </a:prstGeom>
          <a:solidFill>
            <a:srgbClr val="F8FAFC"/>
          </a:solidFill>
          <a:ln w="1905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600200"/>
            <a:ext cx="4846320" cy="4480560"/>
          </a:xfrm>
          <a:prstGeom prst="rect">
            <a:avLst/>
          </a:prstGeom>
          <a:noFill/>
        </p:spPr>
        <p:txBody>
          <a:bodyPr wrap="square">
            <a:spAutoFit/>
          </a:bodyPr>
          <a:lstStyle/>
          <a:p>
            <a:pPr>
              <a:spcAft>
                <a:spcPts val="1000"/>
              </a:spcAft>
              <a:defRPr sz="1600" b="1">
                <a:solidFill>
                  <a:srgbClr val="1B365D"/>
                </a:solidFill>
                <a:latin typeface="Arial"/>
              </a:defRPr>
            </a:pPr>
            <a:r>
              <a:t>2. ĐÁNH GIÁ HIỆU NĂNG THỰC NGHIỆM ĐO ĐẠC</a:t>
            </a:r>
          </a:p>
          <a:p>
            <a:pPr>
              <a:spcAft>
                <a:spcPts val="800"/>
              </a:spcAft>
            </a:pPr>
            <a:r>
              <a:rPr sz="1400" b="1">
                <a:solidFill>
                  <a:srgbClr val="1B365D"/>
                </a:solidFill>
                <a:latin typeface="Arial"/>
              </a:rPr>
              <a:t>● Độ trễ kích hoạt còi tại chỗ: </a:t>
            </a:r>
            <a:r>
              <a:rPr sz="1400" b="0">
                <a:solidFill>
                  <a:srgbClr val="222222"/>
                </a:solidFill>
                <a:latin typeface="Arial"/>
              </a:rPr>
              <a:t>≈ 0ms (Còi và đèn hú tức thì ngay khi cảm biến chạm ngưỡng nguy hiểm, không bị trễ mạng).</a:t>
            </a:r>
          </a:p>
          <a:p>
            <a:pPr>
              <a:spcAft>
                <a:spcPts val="800"/>
              </a:spcAft>
            </a:pPr>
            <a:r>
              <a:rPr sz="1400" b="1">
                <a:solidFill>
                  <a:srgbClr val="1B365D"/>
                </a:solidFill>
                <a:latin typeface="Arial"/>
              </a:rPr>
              <a:t>● Thời gian nhận tin trên điện thoại: </a:t>
            </a:r>
            <a:r>
              <a:rPr sz="1400" b="0">
                <a:solidFill>
                  <a:srgbClr val="222222"/>
                </a:solidFill>
                <a:latin typeface="Arial"/>
              </a:rPr>
              <a:t>≈ 0.8s - 1.2s (Đã tính thời gian đóng gói JSON, gửi lên VPS, xếp hàng và đẩy qua Telegram).</a:t>
            </a:r>
          </a:p>
          <a:p>
            <a:pPr>
              <a:spcAft>
                <a:spcPts val="800"/>
              </a:spcAft>
            </a:pPr>
            <a:r>
              <a:rPr sz="1400" b="1">
                <a:solidFill>
                  <a:srgbClr val="1B365D"/>
                </a:solidFill>
                <a:latin typeface="Arial"/>
              </a:rPr>
              <a:t>● Tỷ lệ chuyển phát thành công: </a:t>
            </a:r>
            <a:r>
              <a:rPr sz="1400" b="0">
                <a:solidFill>
                  <a:srgbClr val="222222"/>
                </a:solidFill>
                <a:latin typeface="Arial"/>
              </a:rPr>
              <a:t>Đạt 100% trong 50 lượt thử nghiệm thực tế (bao gồm cả thử nghiệm ngắt kết nối mạng tạm thời).</a:t>
            </a:r>
          </a:p>
          <a:p>
            <a:pPr>
              <a:spcAft>
                <a:spcPts val="800"/>
              </a:spcAft>
            </a:pPr>
            <a:r>
              <a:rPr sz="1400" b="1">
                <a:solidFill>
                  <a:srgbClr val="1B365D"/>
                </a:solidFill>
                <a:latin typeface="Arial"/>
              </a:rPr>
              <a:t>● Khả năng nhân rộng quy mô (Scalability): </a:t>
            </a:r>
            <a:r>
              <a:rPr sz="1400" b="0">
                <a:solidFill>
                  <a:srgbClr val="222222"/>
                </a:solidFill>
                <a:latin typeface="Arial"/>
              </a:rPr>
              <a:t>Một máy chủ VPS có thể quản lý hàng trăm nút cảm biến ESP32 tại nhiều khu vực khác nhau.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