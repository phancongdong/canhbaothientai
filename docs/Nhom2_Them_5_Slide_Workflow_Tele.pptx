
<file path=[Content_Types].xml><?xml version="1.0" encoding="utf-8"?>
<Types xmlns="http://schemas.openxmlformats.org/package/2006/content-types">
  <Default Extension="fntdata" ContentType="application/x-fontdata"/>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4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2" r:id="rId1"/>
  </p:sldMasterIdLst>
  <p:notesMasterIdLst>
    <p:notesMasterId r:id="rId44"/>
  </p:notesMasterIdLst>
  <p:sldIdLst>
    <p:sldId id="256" r:id="rId2"/>
    <p:sldId id="257" r:id="rId3"/>
    <p:sldId id="258" r:id="rId4"/>
    <p:sldId id="259" r:id="rId5"/>
    <p:sldId id="344" r:id="rId6"/>
    <p:sldId id="260" r:id="rId7"/>
    <p:sldId id="359" r:id="rId8"/>
    <p:sldId id="354" r:id="rId9"/>
    <p:sldId id="261" r:id="rId10"/>
    <p:sldId id="266" r:id="rId11"/>
    <p:sldId id="338" r:id="rId12"/>
    <p:sldId id="355" r:id="rId13"/>
    <p:sldId id="356" r:id="rId14"/>
    <p:sldId id="269" r:id="rId15"/>
    <p:sldId id="334" r:id="rId16"/>
    <p:sldId id="340" r:id="rId17"/>
    <p:sldId id="348" r:id="rId18"/>
    <p:sldId id="345" r:id="rId19"/>
    <p:sldId id="350" r:id="rId20"/>
    <p:sldId id="339" r:id="rId21"/>
    <p:sldId id="349" r:id="rId22"/>
    <p:sldId id="270" r:id="rId23"/>
    <p:sldId id="351" r:id="rId24"/>
    <p:sldId id="361" r:id="rId25"/>
    <p:sldId id="362" r:id="rId26"/>
    <p:sldId id="363" r:id="rId27"/>
    <p:sldId id="336" r:id="rId28"/>
    <p:sldId id="360" r:id="rId29"/>
    <p:sldId id="343" r:id="rId30"/>
    <p:sldId id="271" r:id="rId31"/>
    <p:sldId id="342" r:id="rId32"/>
    <p:sldId id="272" r:id="rId33"/>
    <p:sldId id="291" r:id="rId34"/>
    <p:sldId id="292" r:id="rId35"/>
    <p:sldId id="293" r:id="rId36"/>
    <p:sldId id="294" r:id="rId37"/>
    <p:sldId id="295" r:id="rId38"/>
    <p:sldId id="364" r:id="rId55"/>
    <p:sldId id="365" r:id="rId56"/>
    <p:sldId id="366" r:id="rId57"/>
    <p:sldId id="367" r:id="rId58"/>
    <p:sldId id="368" r:id="rId59"/>
    <p:sldId id="296" r:id="rId39"/>
    <p:sldId id="314" r:id="rId40"/>
    <p:sldId id="315" r:id="rId41"/>
    <p:sldId id="316" r:id="rId42"/>
    <p:sldId id="303" r:id="rId43"/>
  </p:sldIdLst>
  <p:sldSz cx="18288000" cy="10287000"/>
  <p:notesSz cx="6858000" cy="9144000"/>
  <p:embeddedFontLst>
    <p:embeddedFont>
      <p:font typeface="Montserrat" panose="00000500000000000000" pitchFamily="2" charset="0"/>
      <p:regular r:id="rId45"/>
      <p:bold r:id="rId46"/>
      <p:italic r:id="rId47"/>
      <p:boldItalic r:id="rId48"/>
    </p:embeddedFont>
    <p:embeddedFont>
      <p:font typeface="Montserrat Bold" panose="00000800000000000000" charset="0"/>
      <p:bold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288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87771166" name="Nguyễn Trung" initials="N" lastIdx="1" clrIdx="0"/>
  <p:cmAuthor id="687771167" name="TUONG VI" initials="TV"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14" autoAdjust="0"/>
  </p:normalViewPr>
  <p:slideViewPr>
    <p:cSldViewPr showGuides="1">
      <p:cViewPr varScale="1">
        <p:scale>
          <a:sx n="45" d="100"/>
          <a:sy n="45" d="100"/>
        </p:scale>
        <p:origin x="834" y="30"/>
      </p:cViewPr>
      <p:guideLst>
        <p:guide orient="horz" pos="2182"/>
        <p:guide pos="288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font" Target="fonts/font4.fntdata"/><Relationship Id="rId49" Type="http://schemas.openxmlformats.org/officeDocument/2006/relationships/font" Target="fonts/font5.fntdata"/><Relationship Id="rId50" Type="http://schemas.openxmlformats.org/officeDocument/2006/relationships/commentAuthors" Target="commentAuthors.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691A4-6F1B-4A33-A99E-F45919C3A1E2}"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7857A-200F-4E9B-9DAF-47FEF0DEC2AF}" type="slidenum">
              <a:rPr lang="en-US" smtClean="0"/>
              <a:t>‹#›</a:t>
            </a:fld>
            <a:endParaRPr lang="en-US"/>
          </a:p>
        </p:txBody>
      </p:sp>
    </p:spTree>
    <p:extLst>
      <p:ext uri="{BB962C8B-B14F-4D97-AF65-F5344CB8AC3E}">
        <p14:creationId xmlns:p14="http://schemas.microsoft.com/office/powerpoint/2010/main" val="2706926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7857A-200F-4E9B-9DAF-47FEF0DEC2AF}" type="slidenum">
              <a:rPr lang="en-US" smtClean="0"/>
              <a:t>5</a:t>
            </a:fld>
            <a:endParaRPr lang="en-US"/>
          </a:p>
        </p:txBody>
      </p:sp>
    </p:spTree>
    <p:extLst>
      <p:ext uri="{BB962C8B-B14F-4D97-AF65-F5344CB8AC3E}">
        <p14:creationId xmlns:p14="http://schemas.microsoft.com/office/powerpoint/2010/main" val="943930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7857A-200F-4E9B-9DAF-47FEF0DEC2AF}" type="slidenum">
              <a:rPr lang="en-US" smtClean="0"/>
              <a:t>10</a:t>
            </a:fld>
            <a:endParaRPr lang="en-US"/>
          </a:p>
        </p:txBody>
      </p:sp>
    </p:spTree>
    <p:extLst>
      <p:ext uri="{BB962C8B-B14F-4D97-AF65-F5344CB8AC3E}">
        <p14:creationId xmlns:p14="http://schemas.microsoft.com/office/powerpoint/2010/main" val="2168663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7857A-200F-4E9B-9DAF-47FEF0DEC2AF}" type="slidenum">
              <a:rPr lang="en-US" smtClean="0"/>
              <a:t>14</a:t>
            </a:fld>
            <a:endParaRPr lang="en-US"/>
          </a:p>
        </p:txBody>
      </p:sp>
    </p:spTree>
    <p:extLst>
      <p:ext uri="{BB962C8B-B14F-4D97-AF65-F5344CB8AC3E}">
        <p14:creationId xmlns:p14="http://schemas.microsoft.com/office/powerpoint/2010/main" val="4250707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7857A-200F-4E9B-9DAF-47FEF0DEC2AF}" type="slidenum">
              <a:rPr lang="en-US" smtClean="0"/>
              <a:t>15</a:t>
            </a:fld>
            <a:endParaRPr lang="en-US"/>
          </a:p>
        </p:txBody>
      </p:sp>
    </p:spTree>
    <p:extLst>
      <p:ext uri="{BB962C8B-B14F-4D97-AF65-F5344CB8AC3E}">
        <p14:creationId xmlns:p14="http://schemas.microsoft.com/office/powerpoint/2010/main" val="678016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7857A-200F-4E9B-9DAF-47FEF0DEC2AF}" type="slidenum">
              <a:rPr lang="en-US" smtClean="0"/>
              <a:t>29</a:t>
            </a:fld>
            <a:endParaRPr lang="en-US"/>
          </a:p>
        </p:txBody>
      </p:sp>
    </p:spTree>
    <p:extLst>
      <p:ext uri="{BB962C8B-B14F-4D97-AF65-F5344CB8AC3E}">
        <p14:creationId xmlns:p14="http://schemas.microsoft.com/office/powerpoint/2010/main" val="3311379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EE77857A-200F-4E9B-9DAF-47FEF0DEC2AF}" type="slidenum">
              <a:rPr lang="en-US" smtClean="0"/>
              <a:t>37</a:t>
            </a:fld>
            <a:endParaRPr lang="en-US"/>
          </a:p>
        </p:txBody>
      </p:sp>
    </p:spTree>
    <p:extLst>
      <p:ext uri="{BB962C8B-B14F-4D97-AF65-F5344CB8AC3E}">
        <p14:creationId xmlns:p14="http://schemas.microsoft.com/office/powerpoint/2010/main" val="278709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AAADE-D696-8B43-DEB1-FE5699AEDD68}"/>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FE01F8EF-E10E-845A-627B-F9BB363CFA70}"/>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C489E2EA-022A-D748-7DAF-1B79E77A5BC0}"/>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1278FC3A-9F84-5126-705D-04524E05E3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FD2E3-B4D5-3061-DFAD-E262B18DF54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0012072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544DF-D90A-A6DB-7B9E-899F07ADC3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F049A0-070D-4208-6381-0B72EF03E4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44C987-B984-8592-B593-7B5F666D85B7}"/>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6FB1B829-1900-0AA3-0989-81BD9F075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511D0-49D0-A718-E8CC-F77747C590B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481319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59EC6-7E29-7C6F-9CFF-A1A79517B86E}"/>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62D0046F-1D3B-0293-F29E-E8CFB13C13E4}"/>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313D5F-90EA-B9CA-3A4B-B42D4665689A}"/>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810471B2-E058-4B30-CFB0-577F90C89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A77E8-FD47-2AC6-81B5-C6807D99E61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99411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DE53B-F8D0-888B-F816-4529279E2A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24164-CB0D-3A44-5BB8-B528EC89625F}"/>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8A6536-6793-2801-FAE0-EB1C64C8E9DB}"/>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B6CC7-E607-FE33-B636-5BFBF2FF7A4E}"/>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a:extLst>
              <a:ext uri="{FF2B5EF4-FFF2-40B4-BE49-F238E27FC236}">
                <a16:creationId xmlns:a16="http://schemas.microsoft.com/office/drawing/2014/main" id="{2096288E-9E5D-2FDA-6C1F-41EE9C6C68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AA27D1-FD3F-FB7D-5A70-BAEC42D1932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275044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2CD07-EA58-7909-888C-CD332CCBB522}"/>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1FE004-D45D-EC64-7FA8-DC5F3642AF19}"/>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117105F0-0732-CDC1-AA0A-DE229DD84BC9}"/>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66458C-C0A7-9951-1AEF-8D195621B259}"/>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D3CA34F2-1AB5-1132-8A0B-BF1066B2864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518ED6-6DD6-6BA9-E380-EC5CBC8E525C}"/>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8" name="Footer Placeholder 7">
            <a:extLst>
              <a:ext uri="{FF2B5EF4-FFF2-40B4-BE49-F238E27FC236}">
                <a16:creationId xmlns:a16="http://schemas.microsoft.com/office/drawing/2014/main" id="{EEEADCB9-1CF6-53EF-FC60-828750397D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F0AC26-9984-4A16-D0BA-3FF8BE566D8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9587444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140D2-928A-7185-CE20-D6BF81AFB7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E0FCFF-6514-7399-0A29-34A3A48C5AA7}"/>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4" name="Footer Placeholder 3">
            <a:extLst>
              <a:ext uri="{FF2B5EF4-FFF2-40B4-BE49-F238E27FC236}">
                <a16:creationId xmlns:a16="http://schemas.microsoft.com/office/drawing/2014/main" id="{148AB548-D75E-4D24-73C1-9AA5ED96A9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200E14-7E3A-2ECA-F032-DFCAE677C93B}"/>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0609759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602C07-2E8A-03D5-F800-D49945AB2DC9}"/>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3" name="Footer Placeholder 2">
            <a:extLst>
              <a:ext uri="{FF2B5EF4-FFF2-40B4-BE49-F238E27FC236}">
                <a16:creationId xmlns:a16="http://schemas.microsoft.com/office/drawing/2014/main" id="{7CB6CA5F-D4F6-85EA-503A-EB3680E08D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17B439-C15F-FFE9-6B79-5FD3063FE0B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91974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02F6-F744-E557-C030-6F2DABEEF266}"/>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CB89EB95-EC92-26D3-77C0-136037A8B4C1}"/>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86FDE0-AAFC-336A-6AD0-5247AA610695}"/>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B9F50899-C557-3CEE-F11F-2A769C887130}"/>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a:extLst>
              <a:ext uri="{FF2B5EF4-FFF2-40B4-BE49-F238E27FC236}">
                <a16:creationId xmlns:a16="http://schemas.microsoft.com/office/drawing/2014/main" id="{3B99A6CD-A206-B911-7FEF-E30C3CC249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66C98-37EE-ABF7-0C89-6EEB2B592E0C}"/>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330320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0D60-A292-A1A7-BF32-55F384FB7717}"/>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BD504E41-4D0B-2612-9CE8-DA064D086056}"/>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0EE0A7FC-3CB3-B3DD-71BE-F31C93D9CC5B}"/>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0C3111D5-EC4C-2A42-0BC3-3F7B51ADAEA8}"/>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a:extLst>
              <a:ext uri="{FF2B5EF4-FFF2-40B4-BE49-F238E27FC236}">
                <a16:creationId xmlns:a16="http://schemas.microsoft.com/office/drawing/2014/main" id="{4ED5E3A9-FCFD-6891-2E35-DFBBC3EBB0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3A418-7D3D-C7DA-FAB7-5F2033A6AA6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354198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97EE-4615-8D32-DFFB-21D345171A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B95283-2F28-17C6-988D-357FD6BB3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96F00-13F7-0489-374E-01946FF0419C}"/>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44E3B102-C6DF-D07D-6EA1-E4E152C16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68676C-E53B-69D7-810F-12ECC7E188BC}"/>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195503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D0D4A-D905-541F-29F2-17A8342E7344}"/>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50CF1-9F68-BDDA-EF4B-F05E9AFB8317}"/>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0034AB-A4AB-B297-97AA-199BCD63BAF0}"/>
              </a:ext>
            </a:extLst>
          </p:cNvPr>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F9DF202E-1F9E-42C1-E59E-1DCF45E2F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09BCD3-23D7-660E-CA58-5E2BE002BF9B}"/>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120574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F3406C-3AE4-23C8-9BC1-B777B777459C}"/>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3F0869-29A4-7975-0945-5C9B16C5F3C6}"/>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D8C17-9606-BB81-388F-0AC48BDEB90C}"/>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t>10/22/2026</a:t>
            </a:fld>
            <a:endParaRPr lang="en-US"/>
          </a:p>
        </p:txBody>
      </p:sp>
      <p:sp>
        <p:nvSpPr>
          <p:cNvPr id="5" name="Footer Placeholder 4">
            <a:extLst>
              <a:ext uri="{FF2B5EF4-FFF2-40B4-BE49-F238E27FC236}">
                <a16:creationId xmlns:a16="http://schemas.microsoft.com/office/drawing/2014/main" id="{BECDE4F6-CEE4-7BF6-312F-0F70FE6FAE31}"/>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1B366D-58C1-9C50-B199-ACD666E90068}"/>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70716980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8.jpe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gif"/><Relationship Id="rId3" Type="http://schemas.openxmlformats.org/officeDocument/2006/relationships/image" Target="../media/image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webp"/></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microsoft.com/office/2007/relationships/hdphoto" Target="../media/hdphoto1.wd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25.png"/><Relationship Id="rId5"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6000">
            <a:off x="14356652" y="315592"/>
            <a:ext cx="3270954" cy="3237441"/>
          </a:xfrm>
          <a:custGeom>
            <a:avLst/>
            <a:gdLst/>
            <a:ahLst/>
            <a:cxnLst/>
            <a:rect l="l" t="t" r="r" b="b"/>
            <a:pathLst>
              <a:path w="3901952" h="3814776">
                <a:moveTo>
                  <a:pt x="6646" y="0"/>
                </a:moveTo>
                <a:lnTo>
                  <a:pt x="3901952" y="6798"/>
                </a:lnTo>
                <a:lnTo>
                  <a:pt x="3895306" y="3814775"/>
                </a:lnTo>
                <a:lnTo>
                  <a:pt x="0" y="3807977"/>
                </a:lnTo>
                <a:lnTo>
                  <a:pt x="6646" y="0"/>
                </a:lnTo>
                <a:close/>
              </a:path>
            </a:pathLst>
          </a:custGeom>
          <a:blipFill>
            <a:blip r:embed="rId2"/>
            <a:stretch>
              <a:fillRect l="-9737" t="-16903" r="-13066" b="-8706"/>
            </a:stretch>
          </a:blipFill>
        </p:spPr>
        <p:txBody>
          <a:bodyPr/>
          <a:lstStyle/>
          <a:p>
            <a:endParaRPr lang="en-US"/>
          </a:p>
        </p:txBody>
      </p:sp>
      <p:sp>
        <p:nvSpPr>
          <p:cNvPr id="6" name="TextBox 6"/>
          <p:cNvSpPr txBox="1"/>
          <p:nvPr/>
        </p:nvSpPr>
        <p:spPr>
          <a:xfrm>
            <a:off x="0" y="3933423"/>
            <a:ext cx="18288000" cy="1384995"/>
          </a:xfrm>
          <a:prstGeom prst="rect">
            <a:avLst/>
          </a:prstGeom>
        </p:spPr>
        <p:txBody>
          <a:bodyPr wrap="square" lIns="0" tIns="0" rIns="0" bIns="0" rtlCol="0" anchor="ctr">
            <a:spAutoFit/>
          </a:bodyPr>
          <a:lstStyle/>
          <a:p>
            <a:pPr algn="ctr">
              <a:defRPr sz="2800" b="1">
                <a:solidFill>
                  <a:srgbClr val="FFFFFF"/>
                </a:solidFill>
                <a:latin typeface="Arial" panose="020B0604020202020204"/>
              </a:defRPr>
            </a:pPr>
            <a:r>
              <a:rPr lang="en-US" sz="5400" dirty="0">
                <a:solidFill>
                  <a:schemeClr val="tx1">
                    <a:lumMod val="85000"/>
                    <a:lumOff val="15000"/>
                  </a:schemeClr>
                </a:solidFill>
              </a:rPr>
              <a:t>ĐỀ TÀI 5: HỆ THỐNG CẢNH BÁO THIÊN TAI ĐA NĂNG</a:t>
            </a:r>
          </a:p>
          <a:p>
            <a:pPr algn="ctr">
              <a:defRPr sz="1600">
                <a:solidFill>
                  <a:srgbClr val="E6F0FA"/>
                </a:solidFill>
                <a:latin typeface="Arial" panose="020B0604020202020204"/>
              </a:defRPr>
            </a:pPr>
            <a:r>
              <a:rPr lang="en-US" sz="3600" dirty="0">
                <a:solidFill>
                  <a:schemeClr val="tx1">
                    <a:lumMod val="85000"/>
                    <a:lumOff val="15000"/>
                  </a:schemeClr>
                </a:solidFill>
              </a:rPr>
              <a:t>(ĐỘNG ĐẤT ADXL345 • CHÁY FLAME SENSOR • NHIỆT ĐỘ DHT11 • ESP32)</a:t>
            </a:r>
          </a:p>
        </p:txBody>
      </p:sp>
      <p:sp>
        <p:nvSpPr>
          <p:cNvPr id="10" name="TextBox 10"/>
          <p:cNvSpPr txBox="1"/>
          <p:nvPr/>
        </p:nvSpPr>
        <p:spPr>
          <a:xfrm>
            <a:off x="183284" y="1129010"/>
            <a:ext cx="18288000" cy="1436291"/>
          </a:xfrm>
          <a:prstGeom prst="rect">
            <a:avLst/>
          </a:prstGeom>
        </p:spPr>
        <p:txBody>
          <a:bodyPr wrap="square" lIns="0" tIns="0" rIns="0" bIns="0" rtlCol="0" anchor="ctr">
            <a:spAutoFit/>
          </a:bodyPr>
          <a:lstStyle/>
          <a:p>
            <a:pPr algn="ctr">
              <a:lnSpc>
                <a:spcPts val="5600"/>
              </a:lnSpc>
              <a:spcBef>
                <a:spcPct val="0"/>
              </a:spcBef>
            </a:pPr>
            <a:r>
              <a:rPr lang="en-US" sz="5400" b="1" dirty="0">
                <a:solidFill>
                  <a:srgbClr val="000000"/>
                </a:solidFill>
                <a:ea typeface="Montserrat Bold" panose="00000800000000000000"/>
                <a:cs typeface="Montserrat Bold" panose="00000800000000000000"/>
                <a:sym typeface="Montserrat Bold" panose="00000800000000000000"/>
              </a:rPr>
              <a:t>TRƯỜNG ĐẠI HỌC GIA ĐỊNH</a:t>
            </a:r>
          </a:p>
          <a:p>
            <a:pPr algn="ctr">
              <a:lnSpc>
                <a:spcPts val="5600"/>
              </a:lnSpc>
              <a:spcBef>
                <a:spcPct val="0"/>
              </a:spcBef>
            </a:pPr>
            <a:r>
              <a:rPr lang="en-US" sz="4400" b="1" dirty="0" err="1">
                <a:solidFill>
                  <a:srgbClr val="000000"/>
                </a:solidFill>
                <a:ea typeface="Montserrat Bold" panose="00000800000000000000"/>
                <a:cs typeface="Montserrat Bold" panose="00000800000000000000"/>
                <a:sym typeface="Montserrat Bold" panose="00000800000000000000"/>
              </a:rPr>
              <a:t>Khoa</a:t>
            </a:r>
            <a:r>
              <a:rPr lang="en-US" sz="4400" b="1" dirty="0">
                <a:solidFill>
                  <a:srgbClr val="000000"/>
                </a:solidFill>
                <a:ea typeface="Montserrat Bold" panose="00000800000000000000"/>
                <a:cs typeface="Montserrat Bold" panose="00000800000000000000"/>
                <a:sym typeface="Montserrat Bold" panose="00000800000000000000"/>
              </a:rPr>
              <a:t>: </a:t>
            </a:r>
            <a:r>
              <a:rPr lang="en-US" sz="4400" b="1" dirty="0" err="1">
                <a:solidFill>
                  <a:srgbClr val="000000"/>
                </a:solidFill>
                <a:ea typeface="Montserrat Bold" panose="00000800000000000000"/>
                <a:cs typeface="Montserrat Bold" panose="00000800000000000000"/>
                <a:sym typeface="Montserrat Bold" panose="00000800000000000000"/>
              </a:rPr>
              <a:t>Công</a:t>
            </a:r>
            <a:r>
              <a:rPr lang="en-US" sz="4400" b="1" dirty="0">
                <a:solidFill>
                  <a:srgbClr val="000000"/>
                </a:solidFill>
                <a:ea typeface="Montserrat Bold" panose="00000800000000000000"/>
                <a:cs typeface="Montserrat Bold" panose="00000800000000000000"/>
                <a:sym typeface="Montserrat Bold" panose="00000800000000000000"/>
              </a:rPr>
              <a:t> </a:t>
            </a:r>
            <a:r>
              <a:rPr lang="en-US" sz="4400" b="1" dirty="0" err="1">
                <a:solidFill>
                  <a:srgbClr val="000000"/>
                </a:solidFill>
                <a:ea typeface="Montserrat Bold" panose="00000800000000000000"/>
                <a:cs typeface="Montserrat Bold" panose="00000800000000000000"/>
                <a:sym typeface="Montserrat Bold" panose="00000800000000000000"/>
              </a:rPr>
              <a:t>nghệ</a:t>
            </a:r>
            <a:r>
              <a:rPr lang="en-US" sz="4400" b="1" dirty="0">
                <a:solidFill>
                  <a:srgbClr val="000000"/>
                </a:solidFill>
                <a:ea typeface="Montserrat Bold" panose="00000800000000000000"/>
                <a:cs typeface="Montserrat Bold" panose="00000800000000000000"/>
                <a:sym typeface="Montserrat Bold" panose="00000800000000000000"/>
              </a:rPr>
              <a:t> </a:t>
            </a:r>
            <a:r>
              <a:rPr lang="en-US" sz="4400" b="1" dirty="0" err="1">
                <a:solidFill>
                  <a:srgbClr val="000000"/>
                </a:solidFill>
                <a:ea typeface="Montserrat Bold" panose="00000800000000000000"/>
                <a:cs typeface="Montserrat Bold" panose="00000800000000000000"/>
                <a:sym typeface="Montserrat Bold" panose="00000800000000000000"/>
              </a:rPr>
              <a:t>thông</a:t>
            </a:r>
            <a:r>
              <a:rPr lang="en-US" sz="4400" b="1" dirty="0">
                <a:solidFill>
                  <a:srgbClr val="000000"/>
                </a:solidFill>
                <a:ea typeface="Montserrat Bold" panose="00000800000000000000"/>
                <a:cs typeface="Montserrat Bold" panose="00000800000000000000"/>
                <a:sym typeface="Montserrat Bold" panose="00000800000000000000"/>
              </a:rPr>
              <a:t> tin</a:t>
            </a:r>
            <a:endParaRPr lang="en-US" sz="4400" b="1" dirty="0">
              <a:solidFill>
                <a:srgbClr val="000000"/>
              </a:solidFill>
              <a:ea typeface="Montserrat" panose="00000500000000000000"/>
              <a:cs typeface="Montserrat" panose="00000500000000000000"/>
              <a:sym typeface="Montserrat" panose="00000500000000000000"/>
            </a:endParaRPr>
          </a:p>
        </p:txBody>
      </p:sp>
      <p:sp>
        <p:nvSpPr>
          <p:cNvPr id="13" name="AutoShape 2" descr="https://lh3.googleusercontent.com/gg/AAHar4eszCBGJpEZkM90VPHeJ46fbTTkyTemCJjHehBV4fqjJZCpj89ej0e9rKrXDTHDjV6G7mfNd6ksLEpFwNEHUTMLwizjAsXkhUIZsMP_zqwYkc11-cvbkflUoKXAuXtDv-JmdXsvz7ktVN2n6gdkgh5O3sRQEF89OLfidoaBRMCBmrA-SUKOM76SC431QbLy2fg4Y9eXkHSrwLAZlT7lpjfFci4Quz8MJ0kksr7z-IUacp76zHS1fn05T4VF8-bms9GVtDj1KNrDJxazDqKfui0J1XtqjZMkHee0zl0vqwVSLyJx0hBad2p-L5658o4cJyRUuXHfQ-Hw3XjOxc0y8zMO=s1024-rj"/>
          <p:cNvSpPr>
            <a:spLocks noChangeAspect="1" noChangeArrowheads="1"/>
          </p:cNvSpPr>
          <p:nvPr/>
        </p:nvSpPr>
        <p:spPr bwMode="auto">
          <a:xfrm>
            <a:off x="155576" y="-144463"/>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14" name="AutoShape 6" descr="What is IoT | TEKTELIC Glossary"/>
          <p:cNvSpPr>
            <a:spLocks noChangeAspect="1" noChangeArrowheads="1"/>
          </p:cNvSpPr>
          <p:nvPr/>
        </p:nvSpPr>
        <p:spPr bwMode="auto">
          <a:xfrm>
            <a:off x="307976" y="7940"/>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15" name="AutoShape 8" descr="What is IoT | TEKTELIC Glossary"/>
          <p:cNvSpPr>
            <a:spLocks noChangeAspect="1" noChangeArrowheads="1"/>
          </p:cNvSpPr>
          <p:nvPr/>
        </p:nvSpPr>
        <p:spPr bwMode="auto">
          <a:xfrm>
            <a:off x="460376" y="160340"/>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16" name="AutoShape 10" descr="What is IoT | TEKTELIC Glossary"/>
          <p:cNvSpPr>
            <a:spLocks noChangeAspect="1" noChangeArrowheads="1"/>
          </p:cNvSpPr>
          <p:nvPr/>
        </p:nvSpPr>
        <p:spPr bwMode="auto">
          <a:xfrm>
            <a:off x="612776" y="312740"/>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17" name="AutoShape 12" descr="What is IoT | TEKTELIC Glossary"/>
          <p:cNvSpPr>
            <a:spLocks noChangeAspect="1" noChangeArrowheads="1"/>
          </p:cNvSpPr>
          <p:nvPr/>
        </p:nvSpPr>
        <p:spPr bwMode="auto">
          <a:xfrm>
            <a:off x="765176" y="465140"/>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19" name="AutoShape 14" descr="What is IoT | TEKTELIC Glossary"/>
          <p:cNvSpPr>
            <a:spLocks noChangeAspect="1" noChangeArrowheads="1"/>
          </p:cNvSpPr>
          <p:nvPr/>
        </p:nvSpPr>
        <p:spPr bwMode="auto">
          <a:xfrm>
            <a:off x="1079500" y="2112821"/>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7" name="TextBox 7"/>
          <p:cNvSpPr txBox="1"/>
          <p:nvPr/>
        </p:nvSpPr>
        <p:spPr>
          <a:xfrm>
            <a:off x="2703225" y="6667500"/>
            <a:ext cx="9677400" cy="2513509"/>
          </a:xfrm>
          <a:prstGeom prst="rect">
            <a:avLst/>
          </a:prstGeom>
        </p:spPr>
        <p:txBody>
          <a:bodyPr wrap="square" lIns="0" tIns="0" rIns="0" bIns="0" rtlCol="0" anchor="t">
            <a:spAutoFit/>
          </a:bodyPr>
          <a:lstStyle/>
          <a:p>
            <a:pPr algn="just">
              <a:lnSpc>
                <a:spcPts val="4900"/>
              </a:lnSpc>
              <a:spcBef>
                <a:spcPct val="0"/>
              </a:spcBef>
            </a:pPr>
            <a:r>
              <a:rPr lang="en-US" sz="3600" b="1" dirty="0">
                <a:solidFill>
                  <a:srgbClr val="000000"/>
                </a:solidFill>
                <a:ea typeface="Montserrat Bold" panose="00000800000000000000"/>
                <a:cs typeface="Arial" panose="020B0604020202020204" pitchFamily="34" charset="0"/>
                <a:sym typeface="Montserrat Bold" panose="00000800000000000000"/>
              </a:rPr>
              <a:t>Môn:</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Cảm</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biến</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và</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cơ</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cấu</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chấp</a:t>
            </a: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hành</a:t>
            </a:r>
            <a:endParaRPr lang="en-US" sz="3600" dirty="0">
              <a:solidFill>
                <a:srgbClr val="000000"/>
              </a:solidFill>
              <a:ea typeface="Montserrat" panose="00000500000000000000"/>
              <a:cs typeface="Arial" panose="020B0604020202020204" pitchFamily="34" charset="0"/>
              <a:sym typeface="Montserrat" panose="00000500000000000000"/>
            </a:endParaRPr>
          </a:p>
          <a:p>
            <a:pPr algn="just">
              <a:lnSpc>
                <a:spcPts val="4900"/>
              </a:lnSpc>
              <a:spcBef>
                <a:spcPct val="0"/>
              </a:spcBef>
            </a:pPr>
            <a:r>
              <a:rPr lang="en-US" sz="3600" b="1" dirty="0" err="1">
                <a:solidFill>
                  <a:srgbClr val="000000"/>
                </a:solidFill>
                <a:ea typeface="Montserrat Bold" panose="00000800000000000000"/>
                <a:cs typeface="Arial" panose="020B0604020202020204" pitchFamily="34" charset="0"/>
                <a:sym typeface="Montserrat Bold" panose="00000800000000000000"/>
              </a:rPr>
              <a:t>Nhóm</a:t>
            </a:r>
            <a:r>
              <a:rPr lang="en-US" sz="3600" b="1" dirty="0">
                <a:solidFill>
                  <a:srgbClr val="000000"/>
                </a:solidFill>
                <a:ea typeface="Montserrat Bold" panose="00000800000000000000"/>
                <a:cs typeface="Arial" panose="020B0604020202020204" pitchFamily="34" charset="0"/>
                <a:sym typeface="Montserrat Bold" panose="00000800000000000000"/>
              </a:rPr>
              <a:t>:</a:t>
            </a:r>
            <a:r>
              <a:rPr lang="en-US" sz="3600" dirty="0">
                <a:solidFill>
                  <a:srgbClr val="000000"/>
                </a:solidFill>
                <a:ea typeface="Montserrat" panose="00000500000000000000"/>
                <a:cs typeface="Arial" panose="020B0604020202020204" pitchFamily="34" charset="0"/>
                <a:sym typeface="Montserrat" panose="00000500000000000000"/>
              </a:rPr>
              <a:t> 2</a:t>
            </a:r>
          </a:p>
          <a:p>
            <a:pPr algn="just">
              <a:lnSpc>
                <a:spcPts val="4900"/>
              </a:lnSpc>
              <a:spcBef>
                <a:spcPct val="0"/>
              </a:spcBef>
            </a:pPr>
            <a:r>
              <a:rPr lang="en-US" sz="3600" b="1" dirty="0">
                <a:solidFill>
                  <a:srgbClr val="000000"/>
                </a:solidFill>
                <a:ea typeface="Montserrat Bold" panose="00000800000000000000"/>
                <a:cs typeface="Arial" panose="020B0604020202020204" pitchFamily="34" charset="0"/>
                <a:sym typeface="Montserrat Bold" panose="00000800000000000000"/>
              </a:rPr>
              <a:t>GVHD:</a:t>
            </a:r>
            <a:r>
              <a:rPr lang="en-US" sz="3600" b="1" dirty="0">
                <a:solidFill>
                  <a:srgbClr val="000000"/>
                </a:solidFill>
                <a:ea typeface="Montserrat Bold" panose="00000800000000000000"/>
                <a:cs typeface="Arial" panose="020B0604020202020204" pitchFamily="34" charset="0"/>
                <a:sym typeface="Montserrat" panose="00000500000000000000"/>
              </a:rPr>
              <a:t> </a:t>
            </a:r>
            <a:r>
              <a:rPr lang="en-US" sz="3600" dirty="0">
                <a:solidFill>
                  <a:srgbClr val="000000"/>
                </a:solidFill>
                <a:ea typeface="Montserrat" panose="00000500000000000000"/>
                <a:cs typeface="Arial" panose="020B0604020202020204" pitchFamily="34" charset="0"/>
                <a:sym typeface="Montserrat" panose="00000500000000000000"/>
              </a:rPr>
              <a:t>TS. Phan Văn Đức</a:t>
            </a:r>
          </a:p>
          <a:p>
            <a:pPr algn="just">
              <a:lnSpc>
                <a:spcPts val="4900"/>
              </a:lnSpc>
              <a:spcBef>
                <a:spcPct val="0"/>
              </a:spcBef>
            </a:pPr>
            <a:r>
              <a:rPr lang="en-US" sz="3600" dirty="0">
                <a:solidFill>
                  <a:srgbClr val="000000"/>
                </a:solidFill>
                <a:ea typeface="Montserrat" panose="00000500000000000000"/>
                <a:cs typeface="Arial" panose="020B0604020202020204" pitchFamily="34" charset="0"/>
                <a:sym typeface="Montserrat" panose="00000500000000000000"/>
              </a:rPr>
              <a:t>	     </a:t>
            </a:r>
            <a:r>
              <a:rPr lang="en-US" sz="3600" dirty="0" err="1">
                <a:solidFill>
                  <a:srgbClr val="000000"/>
                </a:solidFill>
                <a:ea typeface="Montserrat" panose="00000500000000000000"/>
                <a:cs typeface="Arial" panose="020B0604020202020204" pitchFamily="34" charset="0"/>
                <a:sym typeface="Montserrat" panose="00000500000000000000"/>
              </a:rPr>
              <a:t>ThS</a:t>
            </a:r>
            <a:r>
              <a:rPr lang="en-US" sz="3600" dirty="0">
                <a:solidFill>
                  <a:srgbClr val="000000"/>
                </a:solidFill>
                <a:ea typeface="Montserrat" panose="00000500000000000000"/>
                <a:cs typeface="Arial" panose="020B0604020202020204" pitchFamily="34" charset="0"/>
                <a:sym typeface="Montserrat" panose="00000500000000000000"/>
              </a:rPr>
              <a:t>. Nguyễn Lê Tuấn Vũ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028700" y="2595017"/>
            <a:ext cx="1452704" cy="1454922"/>
            <a:chOff x="0" y="0"/>
            <a:chExt cx="1007351" cy="1008890"/>
          </a:xfrm>
        </p:grpSpPr>
        <p:sp>
          <p:nvSpPr>
            <p:cNvPr id="6" name="Freeform 6"/>
            <p:cNvSpPr/>
            <p:nvPr/>
          </p:nvSpPr>
          <p:spPr>
            <a:xfrm>
              <a:off x="0" y="0"/>
              <a:ext cx="1007351" cy="1008889"/>
            </a:xfrm>
            <a:custGeom>
              <a:avLst/>
              <a:gdLst/>
              <a:ahLst/>
              <a:cxnLst/>
              <a:rect l="l" t="t" r="r" b="b"/>
              <a:pathLst>
                <a:path w="1007351" h="1008889">
                  <a:moveTo>
                    <a:pt x="503676" y="0"/>
                  </a:moveTo>
                  <a:cubicBezTo>
                    <a:pt x="225503" y="0"/>
                    <a:pt x="0" y="225848"/>
                    <a:pt x="0" y="504445"/>
                  </a:cubicBezTo>
                  <a:cubicBezTo>
                    <a:pt x="0" y="783042"/>
                    <a:pt x="225503" y="1008889"/>
                    <a:pt x="503676" y="1008889"/>
                  </a:cubicBezTo>
                  <a:cubicBezTo>
                    <a:pt x="781848" y="1008889"/>
                    <a:pt x="1007351" y="783042"/>
                    <a:pt x="1007351" y="504445"/>
                  </a:cubicBezTo>
                  <a:cubicBezTo>
                    <a:pt x="1007351" y="225848"/>
                    <a:pt x="781848" y="0"/>
                    <a:pt x="503676" y="0"/>
                  </a:cubicBezTo>
                  <a:close/>
                </a:path>
              </a:pathLst>
            </a:custGeom>
            <a:solidFill>
              <a:srgbClr val="91E1D5"/>
            </a:solidFill>
          </p:spPr>
          <p:txBody>
            <a:bodyPr/>
            <a:lstStyle/>
            <a:p>
              <a:endParaRPr lang="en-US" dirty="0"/>
            </a:p>
          </p:txBody>
        </p:sp>
        <p:sp>
          <p:nvSpPr>
            <p:cNvPr id="7" name="TextBox 7"/>
            <p:cNvSpPr txBox="1"/>
            <p:nvPr/>
          </p:nvSpPr>
          <p:spPr>
            <a:xfrm>
              <a:off x="94439" y="18383"/>
              <a:ext cx="818473" cy="895923"/>
            </a:xfrm>
            <a:prstGeom prst="rect">
              <a:avLst/>
            </a:prstGeom>
          </p:spPr>
          <p:txBody>
            <a:bodyPr lIns="50800" tIns="50800" rIns="50800" bIns="50800" rtlCol="0" anchor="ctr"/>
            <a:lstStyle/>
            <a:p>
              <a:pPr algn="ctr">
                <a:lnSpc>
                  <a:spcPts val="5460"/>
                </a:lnSpc>
              </a:pPr>
              <a:r>
                <a:rPr lang="en-US" sz="39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ontserrat Bold" panose="00000800000000000000"/>
                  <a:ea typeface="Montserrat Bold" panose="00000800000000000000"/>
                  <a:cs typeface="Montserrat Bold" panose="00000800000000000000"/>
                  <a:sym typeface="Montserrat Bold" panose="00000800000000000000"/>
                </a:rPr>
                <a:t>01</a:t>
              </a:r>
            </a:p>
          </p:txBody>
        </p:sp>
      </p:grpSp>
      <p:sp>
        <p:nvSpPr>
          <p:cNvPr id="11" name="TextBox 11"/>
          <p:cNvSpPr txBox="1"/>
          <p:nvPr/>
        </p:nvSpPr>
        <p:spPr>
          <a:xfrm>
            <a:off x="3292569" y="946736"/>
            <a:ext cx="11294938" cy="841321"/>
          </a:xfrm>
          <a:prstGeom prst="rect">
            <a:avLst/>
          </a:prstGeom>
        </p:spPr>
        <p:txBody>
          <a:bodyPr lIns="0" tIns="0" rIns="0" bIns="0" rtlCol="0" anchor="t">
            <a:spAutoFit/>
          </a:bodyPr>
          <a:lstStyle/>
          <a:p>
            <a:pPr algn="ctr">
              <a:lnSpc>
                <a:spcPts val="7075"/>
              </a:lnSpc>
              <a:spcBef>
                <a:spcPct val="0"/>
              </a:spcBef>
            </a:pPr>
            <a:r>
              <a:rPr lang="en-US" sz="5000" b="1" spc="307" dirty="0">
                <a:ln/>
                <a:solidFill>
                  <a:schemeClr val="tx1"/>
                </a:solidFill>
                <a:effectLst>
                  <a:outerShdw blurRad="38100" dist="19050" dir="2700000" algn="tl" rotWithShape="0">
                    <a:schemeClr val="dk1">
                      <a:alpha val="40000"/>
                    </a:schemeClr>
                  </a:outerShdw>
                </a:effectLst>
                <a:latin typeface="Montserrat Bold" panose="00000800000000000000"/>
                <a:ea typeface="Montserrat Bold" panose="00000800000000000000"/>
                <a:cs typeface="Montserrat Bold" panose="00000800000000000000"/>
                <a:sym typeface="Montserrat Bold" panose="00000800000000000000"/>
              </a:rPr>
              <a:t>THÀNH VIÊN NHÓM 2</a:t>
            </a:r>
          </a:p>
        </p:txBody>
      </p:sp>
      <p:sp>
        <p:nvSpPr>
          <p:cNvPr id="21" name="TextBox 21"/>
          <p:cNvSpPr txBox="1"/>
          <p:nvPr/>
        </p:nvSpPr>
        <p:spPr>
          <a:xfrm>
            <a:off x="2893745" y="3008290"/>
            <a:ext cx="5072486" cy="585353"/>
          </a:xfrm>
          <a:prstGeom prst="rect">
            <a:avLst/>
          </a:prstGeom>
        </p:spPr>
        <p:txBody>
          <a:bodyPr wrap="square" lIns="0" tIns="0" rIns="0" bIns="0" rtlCol="0" anchor="t">
            <a:spAutoFit/>
          </a:bodyPr>
          <a:lstStyle/>
          <a:p>
            <a:pPr algn="ctr">
              <a:lnSpc>
                <a:spcPts val="4900"/>
              </a:lnSpc>
              <a:spcBef>
                <a:spcPct val="0"/>
              </a:spcBef>
            </a:pPr>
            <a:r>
              <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Võ Trần Công Doanh</a:t>
            </a:r>
          </a:p>
        </p:txBody>
      </p:sp>
      <p:sp>
        <p:nvSpPr>
          <p:cNvPr id="22" name="TextBox 22"/>
          <p:cNvSpPr txBox="1"/>
          <p:nvPr/>
        </p:nvSpPr>
        <p:spPr>
          <a:xfrm>
            <a:off x="2815590" y="5300345"/>
            <a:ext cx="5429885" cy="585353"/>
          </a:xfrm>
          <a:prstGeom prst="rect">
            <a:avLst/>
          </a:prstGeom>
        </p:spPr>
        <p:txBody>
          <a:bodyPr wrap="square" lIns="0" tIns="0" rIns="0" bIns="0" rtlCol="0" anchor="t">
            <a:spAutoFit/>
          </a:bodyPr>
          <a:lstStyle/>
          <a:p>
            <a:pPr algn="ctr">
              <a:lnSpc>
                <a:spcPts val="4900"/>
              </a:lnSpc>
              <a:spcBef>
                <a:spcPct val="0"/>
              </a:spcBef>
            </a:pPr>
            <a:r>
              <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Phan Công Đông</a:t>
            </a:r>
          </a:p>
        </p:txBody>
      </p:sp>
      <p:sp>
        <p:nvSpPr>
          <p:cNvPr id="23" name="TextBox 23"/>
          <p:cNvSpPr txBox="1"/>
          <p:nvPr/>
        </p:nvSpPr>
        <p:spPr>
          <a:xfrm>
            <a:off x="2704465" y="7538085"/>
            <a:ext cx="6142990" cy="585353"/>
          </a:xfrm>
          <a:prstGeom prst="rect">
            <a:avLst/>
          </a:prstGeom>
        </p:spPr>
        <p:txBody>
          <a:bodyPr wrap="square" lIns="0" tIns="0" rIns="0" bIns="0" rtlCol="0" anchor="t">
            <a:spAutoFit/>
          </a:bodyPr>
          <a:lstStyle/>
          <a:p>
            <a:pPr algn="ctr">
              <a:lnSpc>
                <a:spcPts val="4900"/>
              </a:lnSpc>
              <a:spcBef>
                <a:spcPct val="0"/>
              </a:spcBef>
            </a:pPr>
            <a:r>
              <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Nguyễn Hữu </a:t>
            </a:r>
            <a:r>
              <a:rPr lang="en-US" sz="3600" dirty="0" err="1">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Phước</a:t>
            </a:r>
            <a:endPar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endParaRPr>
          </a:p>
        </p:txBody>
      </p:sp>
      <p:sp>
        <p:nvSpPr>
          <p:cNvPr id="24" name="TextBox 24"/>
          <p:cNvSpPr txBox="1"/>
          <p:nvPr/>
        </p:nvSpPr>
        <p:spPr>
          <a:xfrm>
            <a:off x="11579495" y="2969084"/>
            <a:ext cx="4390662" cy="585353"/>
          </a:xfrm>
          <a:prstGeom prst="rect">
            <a:avLst/>
          </a:prstGeom>
        </p:spPr>
        <p:txBody>
          <a:bodyPr wrap="square" lIns="0" tIns="0" rIns="0" bIns="0" rtlCol="0" anchor="t">
            <a:spAutoFit/>
          </a:bodyPr>
          <a:lstStyle/>
          <a:p>
            <a:pPr algn="ctr">
              <a:lnSpc>
                <a:spcPts val="4900"/>
              </a:lnSpc>
              <a:spcBef>
                <a:spcPct val="0"/>
              </a:spcBef>
            </a:pPr>
            <a:r>
              <a:rPr lang="en-US" sz="3600" dirty="0" err="1">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Hồ</a:t>
            </a:r>
            <a:r>
              <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 Hoàng </a:t>
            </a:r>
            <a:r>
              <a:rPr lang="en-US" sz="3600" dirty="0" err="1">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Hiệp</a:t>
            </a:r>
            <a:endPar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endParaRPr>
          </a:p>
        </p:txBody>
      </p:sp>
      <p:sp>
        <p:nvSpPr>
          <p:cNvPr id="25" name="TextBox 25"/>
          <p:cNvSpPr txBox="1"/>
          <p:nvPr/>
        </p:nvSpPr>
        <p:spPr>
          <a:xfrm>
            <a:off x="11198225" y="5278755"/>
            <a:ext cx="5207000" cy="585353"/>
          </a:xfrm>
          <a:prstGeom prst="rect">
            <a:avLst/>
          </a:prstGeom>
        </p:spPr>
        <p:txBody>
          <a:bodyPr wrap="square" lIns="0" tIns="0" rIns="0" bIns="0" rtlCol="0" anchor="t">
            <a:spAutoFit/>
          </a:bodyPr>
          <a:lstStyle/>
          <a:p>
            <a:pPr algn="ctr">
              <a:lnSpc>
                <a:spcPts val="4900"/>
              </a:lnSpc>
              <a:spcBef>
                <a:spcPct val="0"/>
              </a:spcBef>
            </a:pPr>
            <a:r>
              <a:rPr lang="en-US" sz="3600" dirty="0">
                <a:ln w="0"/>
                <a:effectLst>
                  <a:outerShdw blurRad="38100" dist="19050" dir="2700000" algn="tl" rotWithShape="0">
                    <a:schemeClr val="dk1">
                      <a:alpha val="40000"/>
                    </a:schemeClr>
                  </a:outerShdw>
                </a:effectLst>
                <a:latin typeface="Montserrat" panose="00000500000000000000"/>
                <a:ea typeface="Montserrat" panose="00000500000000000000"/>
                <a:cs typeface="Montserrat" panose="00000500000000000000"/>
                <a:sym typeface="Montserrat" panose="00000500000000000000"/>
              </a:rPr>
              <a:t>Bùi Minh Huy</a:t>
            </a:r>
          </a:p>
        </p:txBody>
      </p:sp>
      <p:grpSp>
        <p:nvGrpSpPr>
          <p:cNvPr id="26" name="Group 26"/>
          <p:cNvGrpSpPr/>
          <p:nvPr/>
        </p:nvGrpSpPr>
        <p:grpSpPr>
          <a:xfrm>
            <a:off x="1028700" y="4886915"/>
            <a:ext cx="1452704" cy="1454922"/>
            <a:chOff x="0" y="0"/>
            <a:chExt cx="1007351" cy="1008890"/>
          </a:xfrm>
        </p:grpSpPr>
        <p:sp>
          <p:nvSpPr>
            <p:cNvPr id="27" name="Freeform 27"/>
            <p:cNvSpPr/>
            <p:nvPr/>
          </p:nvSpPr>
          <p:spPr>
            <a:xfrm>
              <a:off x="0" y="0"/>
              <a:ext cx="1007351" cy="1008889"/>
            </a:xfrm>
            <a:custGeom>
              <a:avLst/>
              <a:gdLst/>
              <a:ahLst/>
              <a:cxnLst/>
              <a:rect l="l" t="t" r="r" b="b"/>
              <a:pathLst>
                <a:path w="1007351" h="1008889">
                  <a:moveTo>
                    <a:pt x="503676" y="0"/>
                  </a:moveTo>
                  <a:cubicBezTo>
                    <a:pt x="225503" y="0"/>
                    <a:pt x="0" y="225848"/>
                    <a:pt x="0" y="504445"/>
                  </a:cubicBezTo>
                  <a:cubicBezTo>
                    <a:pt x="0" y="783042"/>
                    <a:pt x="225503" y="1008889"/>
                    <a:pt x="503676" y="1008889"/>
                  </a:cubicBezTo>
                  <a:cubicBezTo>
                    <a:pt x="781848" y="1008889"/>
                    <a:pt x="1007351" y="783042"/>
                    <a:pt x="1007351" y="504445"/>
                  </a:cubicBezTo>
                  <a:cubicBezTo>
                    <a:pt x="1007351" y="225848"/>
                    <a:pt x="781848" y="0"/>
                    <a:pt x="503676" y="0"/>
                  </a:cubicBezTo>
                  <a:close/>
                </a:path>
              </a:pathLst>
            </a:custGeom>
            <a:solidFill>
              <a:srgbClr val="F8D389"/>
            </a:solidFill>
          </p:spPr>
          <p:txBody>
            <a:bodyPr/>
            <a:lstStyle/>
            <a:p>
              <a:endParaRPr lang="en-US"/>
            </a:p>
          </p:txBody>
        </p:sp>
        <p:sp>
          <p:nvSpPr>
            <p:cNvPr id="28" name="TextBox 28"/>
            <p:cNvSpPr txBox="1"/>
            <p:nvPr/>
          </p:nvSpPr>
          <p:spPr>
            <a:xfrm>
              <a:off x="94439" y="18383"/>
              <a:ext cx="818473" cy="895923"/>
            </a:xfrm>
            <a:prstGeom prst="rect">
              <a:avLst/>
            </a:prstGeom>
          </p:spPr>
          <p:txBody>
            <a:bodyPr lIns="50800" tIns="50800" rIns="50800" bIns="50800" rtlCol="0" anchor="ctr"/>
            <a:lstStyle/>
            <a:p>
              <a:pPr algn="ctr">
                <a:lnSpc>
                  <a:spcPts val="5460"/>
                </a:lnSpc>
              </a:pPr>
              <a:r>
                <a:rPr lang="en-US" sz="39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ontserrat Bold" panose="00000800000000000000"/>
                  <a:ea typeface="Montserrat Bold" panose="00000800000000000000"/>
                  <a:cs typeface="Montserrat Bold" panose="00000800000000000000"/>
                  <a:sym typeface="Montserrat Bold" panose="00000800000000000000"/>
                </a:rPr>
                <a:t>02</a:t>
              </a:r>
            </a:p>
          </p:txBody>
        </p:sp>
      </p:grpSp>
      <p:grpSp>
        <p:nvGrpSpPr>
          <p:cNvPr id="29" name="Group 29"/>
          <p:cNvGrpSpPr/>
          <p:nvPr/>
        </p:nvGrpSpPr>
        <p:grpSpPr>
          <a:xfrm>
            <a:off x="1028700" y="7180037"/>
            <a:ext cx="1452704" cy="1454922"/>
            <a:chOff x="0" y="0"/>
            <a:chExt cx="1007351" cy="1008890"/>
          </a:xfrm>
        </p:grpSpPr>
        <p:sp>
          <p:nvSpPr>
            <p:cNvPr id="30" name="Freeform 30"/>
            <p:cNvSpPr/>
            <p:nvPr/>
          </p:nvSpPr>
          <p:spPr>
            <a:xfrm>
              <a:off x="0" y="0"/>
              <a:ext cx="1007351" cy="1008889"/>
            </a:xfrm>
            <a:custGeom>
              <a:avLst/>
              <a:gdLst/>
              <a:ahLst/>
              <a:cxnLst/>
              <a:rect l="l" t="t" r="r" b="b"/>
              <a:pathLst>
                <a:path w="1007351" h="1008889">
                  <a:moveTo>
                    <a:pt x="503676" y="0"/>
                  </a:moveTo>
                  <a:cubicBezTo>
                    <a:pt x="225503" y="0"/>
                    <a:pt x="0" y="225848"/>
                    <a:pt x="0" y="504445"/>
                  </a:cubicBezTo>
                  <a:cubicBezTo>
                    <a:pt x="0" y="783042"/>
                    <a:pt x="225503" y="1008889"/>
                    <a:pt x="503676" y="1008889"/>
                  </a:cubicBezTo>
                  <a:cubicBezTo>
                    <a:pt x="781848" y="1008889"/>
                    <a:pt x="1007351" y="783042"/>
                    <a:pt x="1007351" y="504445"/>
                  </a:cubicBezTo>
                  <a:cubicBezTo>
                    <a:pt x="1007351" y="225848"/>
                    <a:pt x="781848" y="0"/>
                    <a:pt x="503676" y="0"/>
                  </a:cubicBezTo>
                  <a:close/>
                </a:path>
              </a:pathLst>
            </a:custGeom>
            <a:solidFill>
              <a:srgbClr val="F8B27C"/>
            </a:solidFill>
          </p:spPr>
          <p:txBody>
            <a:bodyPr/>
            <a:lstStyle/>
            <a:p>
              <a:endParaRPr lang="en-US"/>
            </a:p>
          </p:txBody>
        </p:sp>
        <p:sp>
          <p:nvSpPr>
            <p:cNvPr id="31" name="TextBox 31"/>
            <p:cNvSpPr txBox="1"/>
            <p:nvPr/>
          </p:nvSpPr>
          <p:spPr>
            <a:xfrm>
              <a:off x="94439" y="18383"/>
              <a:ext cx="818473" cy="895923"/>
            </a:xfrm>
            <a:prstGeom prst="rect">
              <a:avLst/>
            </a:prstGeom>
          </p:spPr>
          <p:txBody>
            <a:bodyPr lIns="50800" tIns="50800" rIns="50800" bIns="50800" rtlCol="0" anchor="ctr"/>
            <a:lstStyle/>
            <a:p>
              <a:pPr algn="ctr">
                <a:lnSpc>
                  <a:spcPts val="5460"/>
                </a:lnSpc>
              </a:pPr>
              <a:r>
                <a:rPr lang="en-US" sz="39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ontserrat Bold" panose="00000800000000000000"/>
                  <a:ea typeface="Montserrat Bold" panose="00000800000000000000"/>
                  <a:cs typeface="Montserrat Bold" panose="00000800000000000000"/>
                  <a:sym typeface="Montserrat Bold" panose="00000800000000000000"/>
                </a:rPr>
                <a:t>03</a:t>
              </a:r>
            </a:p>
          </p:txBody>
        </p:sp>
      </p:grpSp>
      <p:grpSp>
        <p:nvGrpSpPr>
          <p:cNvPr id="32" name="Group 32"/>
          <p:cNvGrpSpPr/>
          <p:nvPr/>
        </p:nvGrpSpPr>
        <p:grpSpPr>
          <a:xfrm>
            <a:off x="9519390" y="2584121"/>
            <a:ext cx="1452704" cy="1454922"/>
            <a:chOff x="0" y="0"/>
            <a:chExt cx="1007351" cy="1008890"/>
          </a:xfrm>
        </p:grpSpPr>
        <p:sp>
          <p:nvSpPr>
            <p:cNvPr id="33" name="Freeform 33"/>
            <p:cNvSpPr/>
            <p:nvPr/>
          </p:nvSpPr>
          <p:spPr>
            <a:xfrm>
              <a:off x="0" y="0"/>
              <a:ext cx="1007351" cy="1008889"/>
            </a:xfrm>
            <a:custGeom>
              <a:avLst/>
              <a:gdLst/>
              <a:ahLst/>
              <a:cxnLst/>
              <a:rect l="l" t="t" r="r" b="b"/>
              <a:pathLst>
                <a:path w="1007351" h="1008889">
                  <a:moveTo>
                    <a:pt x="503676" y="0"/>
                  </a:moveTo>
                  <a:cubicBezTo>
                    <a:pt x="225503" y="0"/>
                    <a:pt x="0" y="225848"/>
                    <a:pt x="0" y="504445"/>
                  </a:cubicBezTo>
                  <a:cubicBezTo>
                    <a:pt x="0" y="783042"/>
                    <a:pt x="225503" y="1008889"/>
                    <a:pt x="503676" y="1008889"/>
                  </a:cubicBezTo>
                  <a:cubicBezTo>
                    <a:pt x="781848" y="1008889"/>
                    <a:pt x="1007351" y="783042"/>
                    <a:pt x="1007351" y="504445"/>
                  </a:cubicBezTo>
                  <a:cubicBezTo>
                    <a:pt x="1007351" y="225848"/>
                    <a:pt x="781848" y="0"/>
                    <a:pt x="503676" y="0"/>
                  </a:cubicBezTo>
                  <a:close/>
                </a:path>
              </a:pathLst>
            </a:custGeom>
            <a:solidFill>
              <a:srgbClr val="FF8379"/>
            </a:solidFill>
          </p:spPr>
          <p:txBody>
            <a:bodyPr/>
            <a:lstStyle/>
            <a:p>
              <a:endParaRPr lang="en-US"/>
            </a:p>
          </p:txBody>
        </p:sp>
        <p:sp>
          <p:nvSpPr>
            <p:cNvPr id="34" name="TextBox 34"/>
            <p:cNvSpPr txBox="1"/>
            <p:nvPr/>
          </p:nvSpPr>
          <p:spPr>
            <a:xfrm>
              <a:off x="94439" y="18383"/>
              <a:ext cx="818473" cy="895923"/>
            </a:xfrm>
            <a:prstGeom prst="rect">
              <a:avLst/>
            </a:prstGeom>
          </p:spPr>
          <p:txBody>
            <a:bodyPr lIns="50800" tIns="50800" rIns="50800" bIns="50800" rtlCol="0" anchor="ctr"/>
            <a:lstStyle/>
            <a:p>
              <a:pPr algn="ctr">
                <a:lnSpc>
                  <a:spcPts val="5460"/>
                </a:lnSpc>
              </a:pPr>
              <a:r>
                <a:rPr lang="en-US" sz="39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ontserrat Bold" panose="00000800000000000000"/>
                  <a:ea typeface="Montserrat Bold" panose="00000800000000000000"/>
                  <a:cs typeface="Montserrat Bold" panose="00000800000000000000"/>
                  <a:sym typeface="Montserrat Bold" panose="00000800000000000000"/>
                </a:rPr>
                <a:t>04</a:t>
              </a:r>
            </a:p>
          </p:txBody>
        </p:sp>
      </p:grpSp>
      <p:grpSp>
        <p:nvGrpSpPr>
          <p:cNvPr id="35" name="Group 35"/>
          <p:cNvGrpSpPr/>
          <p:nvPr/>
        </p:nvGrpSpPr>
        <p:grpSpPr>
          <a:xfrm>
            <a:off x="9519390" y="4878614"/>
            <a:ext cx="1452704" cy="1454922"/>
            <a:chOff x="0" y="0"/>
            <a:chExt cx="1007351" cy="1008890"/>
          </a:xfrm>
        </p:grpSpPr>
        <p:sp>
          <p:nvSpPr>
            <p:cNvPr id="36" name="Freeform 36"/>
            <p:cNvSpPr/>
            <p:nvPr/>
          </p:nvSpPr>
          <p:spPr>
            <a:xfrm>
              <a:off x="0" y="0"/>
              <a:ext cx="1007351" cy="1008889"/>
            </a:xfrm>
            <a:custGeom>
              <a:avLst/>
              <a:gdLst/>
              <a:ahLst/>
              <a:cxnLst/>
              <a:rect l="l" t="t" r="r" b="b"/>
              <a:pathLst>
                <a:path w="1007351" h="1008889">
                  <a:moveTo>
                    <a:pt x="503676" y="0"/>
                  </a:moveTo>
                  <a:cubicBezTo>
                    <a:pt x="225503" y="0"/>
                    <a:pt x="0" y="225848"/>
                    <a:pt x="0" y="504445"/>
                  </a:cubicBezTo>
                  <a:cubicBezTo>
                    <a:pt x="0" y="783042"/>
                    <a:pt x="225503" y="1008889"/>
                    <a:pt x="503676" y="1008889"/>
                  </a:cubicBezTo>
                  <a:cubicBezTo>
                    <a:pt x="781848" y="1008889"/>
                    <a:pt x="1007351" y="783042"/>
                    <a:pt x="1007351" y="504445"/>
                  </a:cubicBezTo>
                  <a:cubicBezTo>
                    <a:pt x="1007351" y="225848"/>
                    <a:pt x="781848" y="0"/>
                    <a:pt x="503676" y="0"/>
                  </a:cubicBezTo>
                  <a:close/>
                </a:path>
              </a:pathLst>
            </a:custGeom>
            <a:solidFill>
              <a:srgbClr val="63B1DB"/>
            </a:solidFill>
          </p:spPr>
          <p:txBody>
            <a:bodyPr/>
            <a:lstStyle/>
            <a:p>
              <a:endParaRPr lang="en-US"/>
            </a:p>
          </p:txBody>
        </p:sp>
        <p:sp>
          <p:nvSpPr>
            <p:cNvPr id="37" name="TextBox 37"/>
            <p:cNvSpPr txBox="1"/>
            <p:nvPr/>
          </p:nvSpPr>
          <p:spPr>
            <a:xfrm>
              <a:off x="94439" y="18383"/>
              <a:ext cx="818473" cy="895923"/>
            </a:xfrm>
            <a:prstGeom prst="rect">
              <a:avLst/>
            </a:prstGeom>
          </p:spPr>
          <p:txBody>
            <a:bodyPr lIns="50800" tIns="50800" rIns="50800" bIns="50800" rtlCol="0" anchor="ctr"/>
            <a:lstStyle/>
            <a:p>
              <a:pPr algn="ctr">
                <a:lnSpc>
                  <a:spcPts val="5460"/>
                </a:lnSpc>
              </a:pPr>
              <a:r>
                <a:rPr lang="en-US" sz="39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ontserrat Bold" panose="00000800000000000000"/>
                  <a:ea typeface="Montserrat Bold" panose="00000800000000000000"/>
                  <a:cs typeface="Montserrat Bold" panose="00000800000000000000"/>
                  <a:sym typeface="Montserrat Bold" panose="00000800000000000000"/>
                </a:rPr>
                <a:t>05</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custDataLst>
              <p:tags r:id="rId1"/>
            </p:custDataLst>
            <p:extLst>
              <p:ext uri="{D42A27DB-BD31-4B8C-83A1-F6EECF244321}">
                <p14:modId xmlns:p14="http://schemas.microsoft.com/office/powerpoint/2010/main" val="2581193242"/>
              </p:ext>
            </p:extLst>
          </p:nvPr>
        </p:nvGraphicFramePr>
        <p:xfrm>
          <a:off x="647700" y="753804"/>
          <a:ext cx="16992599" cy="9400161"/>
        </p:xfrm>
        <a:graphic>
          <a:graphicData uri="http://schemas.openxmlformats.org/drawingml/2006/table">
            <a:tbl>
              <a:tblPr>
                <a:tableStyleId>{35758FB7-9AC5-4552-8A53-C91805E547FA}</a:tableStyleId>
              </a:tblPr>
              <a:tblGrid>
                <a:gridCol w="1279853">
                  <a:extLst>
                    <a:ext uri="{9D8B030D-6E8A-4147-A177-3AD203B41FA5}">
                      <a16:colId xmlns:a16="http://schemas.microsoft.com/office/drawing/2014/main" val="3202089186"/>
                    </a:ext>
                  </a:extLst>
                </a:gridCol>
                <a:gridCol w="6075599">
                  <a:extLst>
                    <a:ext uri="{9D8B030D-6E8A-4147-A177-3AD203B41FA5}">
                      <a16:colId xmlns:a16="http://schemas.microsoft.com/office/drawing/2014/main" val="20000"/>
                    </a:ext>
                  </a:extLst>
                </a:gridCol>
                <a:gridCol w="3472734">
                  <a:extLst>
                    <a:ext uri="{9D8B030D-6E8A-4147-A177-3AD203B41FA5}">
                      <a16:colId xmlns:a16="http://schemas.microsoft.com/office/drawing/2014/main" val="20001"/>
                    </a:ext>
                  </a:extLst>
                </a:gridCol>
                <a:gridCol w="4069931">
                  <a:extLst>
                    <a:ext uri="{9D8B030D-6E8A-4147-A177-3AD203B41FA5}">
                      <a16:colId xmlns:a16="http://schemas.microsoft.com/office/drawing/2014/main" val="20002"/>
                    </a:ext>
                  </a:extLst>
                </a:gridCol>
                <a:gridCol w="2094482">
                  <a:extLst>
                    <a:ext uri="{9D8B030D-6E8A-4147-A177-3AD203B41FA5}">
                      <a16:colId xmlns:a16="http://schemas.microsoft.com/office/drawing/2014/main" val="20003"/>
                    </a:ext>
                  </a:extLst>
                </a:gridCol>
              </a:tblGrid>
              <a:tr h="1601540">
                <a:tc>
                  <a:txBody>
                    <a:bodyPr/>
                    <a:lstStyle/>
                    <a:p>
                      <a:pPr algn="ctr">
                        <a:lnSpc>
                          <a:spcPts val="3920"/>
                        </a:lnSpc>
                        <a:defRPr/>
                      </a:pPr>
                      <a:r>
                        <a:rPr lang="en-US" sz="2400" dirty="0"/>
                        <a:t>STT</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3920"/>
                        </a:lnSpc>
                        <a:defRPr/>
                      </a:pPr>
                      <a:r>
                        <a:rPr lang="en-US" sz="2400" dirty="0"/>
                        <a:t>HỌ VÀ TÊN</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3920"/>
                        </a:lnSpc>
                        <a:defRPr/>
                      </a:pPr>
                      <a:r>
                        <a:rPr lang="en-US" sz="2400" dirty="0"/>
                        <a:t>PHÂN CÔNG THUYẾT TRÌNH</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3920"/>
                        </a:lnSpc>
                        <a:defRPr/>
                      </a:pPr>
                      <a:r>
                        <a:rPr lang="en-US" sz="2400" dirty="0"/>
                        <a:t>NHIỆM VỤ</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3920"/>
                        </a:lnSpc>
                        <a:defRPr/>
                      </a:pPr>
                      <a:r>
                        <a:rPr lang="en-US" sz="2400" dirty="0"/>
                        <a:t>MỨC ĐỘ HOÀN THÀNH</a:t>
                      </a:r>
                      <a:endParaRPr lang="en-US" sz="2400" dirty="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0"/>
                  </a:ext>
                </a:extLst>
              </a:tr>
              <a:tr h="1381979">
                <a:tc>
                  <a:txBody>
                    <a:bodyPr/>
                    <a:lstStyle/>
                    <a:p>
                      <a:pPr algn="ctr">
                        <a:lnSpc>
                          <a:spcPts val="3920"/>
                        </a:lnSpc>
                        <a:defRPr/>
                      </a:pPr>
                      <a:r>
                        <a:rPr lang="en-US" sz="2400" baseline="0" dirty="0"/>
                        <a:t>1</a:t>
                      </a:r>
                      <a:endParaRPr lang="en-US" sz="2400" baseline="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3920"/>
                        </a:lnSpc>
                        <a:defRPr/>
                      </a:pPr>
                      <a:r>
                        <a:rPr lang="en-US" sz="2400" dirty="0">
                          <a:latin typeface="Times New Roman" panose="02020603050405020304" pitchFamily="18" charset="0"/>
                          <a:cs typeface="Times New Roman" panose="02020603050405020304" pitchFamily="18" charset="0"/>
                        </a:rPr>
                        <a:t>Võ Trần Công Doanh</a:t>
                      </a:r>
                      <a:endParaRPr lang="en-US" sz="2400" baseline="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nSpc>
                          <a:spcPts val="3920"/>
                        </a:lnSpc>
                        <a:spcBef>
                          <a:spcPct val="0"/>
                        </a:spcBef>
                      </a:pPr>
                      <a:r>
                        <a:rPr lang="en-US" sz="2400" dirty="0">
                          <a:solidFill>
                            <a:srgbClr val="343432"/>
                          </a:solidFill>
                          <a:latin typeface="+mn-lt"/>
                          <a:ea typeface="Montserrat" panose="00000500000000000000"/>
                          <a:cs typeface="Montserrat" panose="00000500000000000000"/>
                          <a:sym typeface="Montserrat" panose="00000500000000000000"/>
                        </a:rPr>
                        <a:t>Lưu </a:t>
                      </a:r>
                      <a:r>
                        <a:rPr lang="en-US" sz="2400" dirty="0" err="1">
                          <a:solidFill>
                            <a:srgbClr val="343432"/>
                          </a:solidFill>
                          <a:latin typeface="+mn-lt"/>
                          <a:ea typeface="Montserrat" panose="00000500000000000000"/>
                          <a:cs typeface="Montserrat" panose="00000500000000000000"/>
                          <a:sym typeface="Montserrat" panose="00000500000000000000"/>
                        </a:rPr>
                        <a:t>đồ</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thuật</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toán</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sơ</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đồ</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khối</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sơ</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đồ</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kết</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nối</a:t>
                      </a:r>
                      <a:r>
                        <a:rPr lang="en-US" sz="2400" dirty="0">
                          <a:solidFill>
                            <a:srgbClr val="343432"/>
                          </a:solidFill>
                          <a:latin typeface="+mn-lt"/>
                          <a:ea typeface="Montserrat" panose="00000500000000000000"/>
                          <a:cs typeface="Montserrat" panose="00000500000000000000"/>
                          <a:sym typeface="Montserrat" panose="00000500000000000000"/>
                        </a:rPr>
                        <a:t> </a:t>
                      </a:r>
                    </a:p>
                  </a:txBody>
                  <a:tcPr marL="190500" marR="190500" marT="190500" marB="190500" anchor="ctr"/>
                </a:tc>
                <a:tc>
                  <a:txBody>
                    <a:bodyPr/>
                    <a:lstStyle/>
                    <a:p>
                      <a:pPr algn="ctr">
                        <a:lnSpc>
                          <a:spcPts val="3920"/>
                        </a:lnSpc>
                        <a:defRPr/>
                      </a:pPr>
                      <a:r>
                        <a:rPr lang="en-US" sz="2400" dirty="0" err="1">
                          <a:latin typeface="Arial" panose="020B0604020202020204" pitchFamily="34" charset="0"/>
                          <a:cs typeface="Arial" panose="020B0604020202020204" pitchFamily="34" charset="0"/>
                        </a:rPr>
                        <a:t>Vẽ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làm</a:t>
                      </a:r>
                      <a:r>
                        <a:rPr lang="en-US" sz="2400" dirty="0">
                          <a:latin typeface="Arial" panose="020B0604020202020204" pitchFamily="34" charset="0"/>
                          <a:cs typeface="Arial" panose="020B0604020202020204" pitchFamily="34" charset="0"/>
                        </a:rPr>
                        <a:t> slide</a:t>
                      </a:r>
                    </a:p>
                  </a:txBody>
                  <a:tcPr marL="190500" marR="190500" marT="190500" marB="190500" anchor="ctr"/>
                </a:tc>
                <a:tc>
                  <a:txBody>
                    <a:bodyPr/>
                    <a:lstStyle/>
                    <a:p>
                      <a:pPr algn="ctr">
                        <a:lnSpc>
                          <a:spcPts val="3920"/>
                        </a:lnSpc>
                        <a:defRPr/>
                      </a:pPr>
                      <a:r>
                        <a:rPr lang="en-US" sz="2400" dirty="0"/>
                        <a:t>100%</a:t>
                      </a:r>
                      <a:endParaRPr lang="en-US" sz="2400" dirty="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1"/>
                  </a:ext>
                </a:extLst>
              </a:tr>
              <a:tr h="1415137">
                <a:tc>
                  <a:txBody>
                    <a:bodyPr/>
                    <a:lstStyle/>
                    <a:p>
                      <a:pPr algn="ctr">
                        <a:lnSpc>
                          <a:spcPts val="3920"/>
                        </a:lnSpc>
                        <a:defRPr/>
                      </a:pPr>
                      <a:r>
                        <a:rPr lang="en-US" sz="2400" baseline="0" dirty="0"/>
                        <a:t>2</a:t>
                      </a:r>
                      <a:endParaRPr lang="en-US" sz="2400" baseline="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4900"/>
                        </a:lnSpc>
                        <a:spcBef>
                          <a:spcPct val="0"/>
                        </a:spcBef>
                      </a:pPr>
                      <a:r>
                        <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Phan Công Đông</a:t>
                      </a:r>
                    </a:p>
                  </a:txBody>
                  <a:tcPr marL="190500" marR="190500" marT="190500" marB="190500" anchor="ctr"/>
                </a:tc>
                <a:tc>
                  <a:txBody>
                    <a:bodyPr/>
                    <a:lstStyle/>
                    <a:p>
                      <a:pPr>
                        <a:lnSpc>
                          <a:spcPts val="3920"/>
                        </a:lnSpc>
                        <a:spcBef>
                          <a:spcPct val="0"/>
                        </a:spcBef>
                      </a:pPr>
                      <a:r>
                        <a:rPr lang="en-US" sz="2400" dirty="0" err="1">
                          <a:solidFill>
                            <a:srgbClr val="343432"/>
                          </a:solidFill>
                          <a:latin typeface="+mn-lt"/>
                          <a:ea typeface="Montserrat" panose="00000500000000000000"/>
                          <a:cs typeface="Montserrat" panose="00000500000000000000"/>
                          <a:sym typeface="Montserrat" panose="00000500000000000000"/>
                        </a:rPr>
                        <a:t>Kết</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luận</a:t>
                      </a:r>
                      <a:r>
                        <a:rPr lang="en-US" sz="2400" dirty="0">
                          <a:solidFill>
                            <a:srgbClr val="343432"/>
                          </a:solidFill>
                          <a:latin typeface="+mn-lt"/>
                          <a:ea typeface="Montserrat" panose="00000500000000000000"/>
                          <a:cs typeface="Montserrat" panose="00000500000000000000"/>
                          <a:sym typeface="Montserrat" panose="00000500000000000000"/>
                        </a:rPr>
                        <a:t> &amp; </a:t>
                      </a:r>
                      <a:r>
                        <a:rPr lang="en-US" sz="2400" dirty="0" err="1">
                          <a:solidFill>
                            <a:srgbClr val="343432"/>
                          </a:solidFill>
                          <a:latin typeface="+mn-lt"/>
                          <a:ea typeface="Montserrat" panose="00000500000000000000"/>
                          <a:cs typeface="Montserrat" panose="00000500000000000000"/>
                          <a:sym typeface="Montserrat" panose="00000500000000000000"/>
                        </a:rPr>
                        <a:t>Hướng</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phát</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triển</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hệ</a:t>
                      </a:r>
                      <a:r>
                        <a:rPr lang="en-US" sz="2400" dirty="0">
                          <a:solidFill>
                            <a:srgbClr val="343432"/>
                          </a:solidFill>
                          <a:latin typeface="+mn-lt"/>
                          <a:ea typeface="Montserrat" panose="00000500000000000000"/>
                          <a:cs typeface="Montserrat" panose="00000500000000000000"/>
                          <a:sym typeface="Montserrat" panose="00000500000000000000"/>
                        </a:rPr>
                        <a:t> </a:t>
                      </a:r>
                      <a:r>
                        <a:rPr lang="en-US" sz="2400" dirty="0" err="1">
                          <a:solidFill>
                            <a:srgbClr val="343432"/>
                          </a:solidFill>
                          <a:latin typeface="+mn-lt"/>
                          <a:ea typeface="Montserrat" panose="00000500000000000000"/>
                          <a:cs typeface="Montserrat" panose="00000500000000000000"/>
                          <a:sym typeface="Montserrat" panose="00000500000000000000"/>
                        </a:rPr>
                        <a:t>thống</a:t>
                      </a:r>
                      <a:r>
                        <a:rPr lang="en-US" sz="2400" dirty="0">
                          <a:solidFill>
                            <a:srgbClr val="343432"/>
                          </a:solidFill>
                          <a:latin typeface="+mn-lt"/>
                          <a:ea typeface="Montserrat" panose="00000500000000000000"/>
                          <a:cs typeface="Montserrat" panose="00000500000000000000"/>
                          <a:sym typeface="Montserrat" panose="00000500000000000000"/>
                        </a:rPr>
                        <a:t> telegram</a:t>
                      </a:r>
                    </a:p>
                  </a:txBody>
                  <a:tcPr marL="190500" marR="190500" marT="190500" marB="190500" anchor="ctr"/>
                </a:tc>
                <a:tc>
                  <a:txBody>
                    <a:bodyPr/>
                    <a:lstStyle/>
                    <a:p>
                      <a:pPr algn="ctr">
                        <a:lnSpc>
                          <a:spcPts val="3920"/>
                        </a:lnSpc>
                        <a:defRPr/>
                      </a:pP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silide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thống</a:t>
                      </a:r>
                      <a:r>
                        <a:rPr lang="en-US" sz="2400" dirty="0">
                          <a:latin typeface="Arial" panose="020B0604020202020204" pitchFamily="34" charset="0"/>
                          <a:cs typeface="Arial" panose="020B0604020202020204" pitchFamily="34" charset="0"/>
                        </a:rPr>
                        <a:t> Telegram </a:t>
                      </a:r>
                    </a:p>
                  </a:txBody>
                  <a:tcPr marL="190500" marR="190500" marT="190500" marB="190500" anchor="ctr"/>
                </a:tc>
                <a:tc>
                  <a:txBody>
                    <a:bodyPr/>
                    <a:lstStyle/>
                    <a:p>
                      <a:pPr algn="ctr">
                        <a:lnSpc>
                          <a:spcPts val="3920"/>
                        </a:lnSpc>
                        <a:defRPr/>
                      </a:pPr>
                      <a:r>
                        <a:rPr lang="en-US" sz="2400"/>
                        <a:t>100%</a:t>
                      </a:r>
                      <a:endParaRPr lang="en-US" sz="240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2"/>
                  </a:ext>
                </a:extLst>
              </a:tr>
              <a:tr h="909637">
                <a:tc>
                  <a:txBody>
                    <a:bodyPr/>
                    <a:lstStyle/>
                    <a:p>
                      <a:pPr algn="ctr">
                        <a:lnSpc>
                          <a:spcPts val="3920"/>
                        </a:lnSpc>
                        <a:defRPr/>
                      </a:pPr>
                      <a:r>
                        <a:rPr lang="en-US" sz="2400" dirty="0"/>
                        <a:t>3</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4900"/>
                        </a:lnSpc>
                        <a:spcBef>
                          <a:spcPct val="0"/>
                        </a:spcBef>
                      </a:pPr>
                      <a:r>
                        <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Nguyễn Hữu </a:t>
                      </a:r>
                      <a:r>
                        <a:rPr lang="en-US" sz="2400" dirty="0" err="1">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Phước</a:t>
                      </a:r>
                      <a:endPar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endParaRPr>
                    </a:p>
                  </a:txBody>
                  <a:tcPr marL="190500" marR="190500" marT="190500" marB="190500" anchor="ctr"/>
                </a:tc>
                <a:tc>
                  <a:txBody>
                    <a:bodyPr/>
                    <a:lstStyle/>
                    <a:p>
                      <a:pPr>
                        <a:lnSpc>
                          <a:spcPts val="3920"/>
                        </a:lnSpc>
                        <a:spcBef>
                          <a:spcPct val="0"/>
                        </a:spcBef>
                      </a:pPr>
                      <a:r>
                        <a:rPr lang="en-US" sz="2400" dirty="0" err="1">
                          <a:solidFill>
                            <a:srgbClr val="343432"/>
                          </a:solidFill>
                          <a:ea typeface="Montserrat" panose="00000500000000000000"/>
                          <a:cs typeface="Montserrat" panose="00000500000000000000"/>
                          <a:sym typeface="Montserrat" panose="00000500000000000000"/>
                        </a:rPr>
                        <a:t>Tổng</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quan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đề</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tài</a:t>
                      </a:r>
                      <a:r>
                        <a:rPr lang="en-US" sz="2400" dirty="0">
                          <a:solidFill>
                            <a:srgbClr val="343432"/>
                          </a:solidFill>
                          <a:ea typeface="Montserrat" panose="00000500000000000000"/>
                          <a:cs typeface="Montserrat" panose="00000500000000000000"/>
                          <a:sym typeface="Montserrat" panose="00000500000000000000"/>
                        </a:rPr>
                        <a:t> </a:t>
                      </a:r>
                    </a:p>
                  </a:txBody>
                  <a:tcPr marL="190500" marR="190500" marT="190500" marB="190500" anchor="ctr"/>
                </a:tc>
                <a:tc>
                  <a:txBody>
                    <a:bodyPr/>
                    <a:lstStyle/>
                    <a:p>
                      <a:pPr algn="ctr">
                        <a:lnSpc>
                          <a:spcPts val="3920"/>
                        </a:lnSpc>
                        <a:defRPr/>
                      </a:pP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nguyên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word</a:t>
                      </a:r>
                    </a:p>
                  </a:txBody>
                  <a:tcPr marL="190500" marR="190500" marT="190500" marB="190500" anchor="ctr"/>
                </a:tc>
                <a:tc>
                  <a:txBody>
                    <a:bodyPr/>
                    <a:lstStyle/>
                    <a:p>
                      <a:pPr algn="ctr">
                        <a:lnSpc>
                          <a:spcPts val="3920"/>
                        </a:lnSpc>
                        <a:defRPr/>
                      </a:pPr>
                      <a:r>
                        <a:rPr lang="en-US" sz="2400"/>
                        <a:t>100%</a:t>
                      </a:r>
                      <a:endParaRPr lang="en-US" sz="240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3"/>
                  </a:ext>
                </a:extLst>
              </a:tr>
              <a:tr h="1603607">
                <a:tc>
                  <a:txBody>
                    <a:bodyPr/>
                    <a:lstStyle/>
                    <a:p>
                      <a:pPr algn="ctr">
                        <a:lnSpc>
                          <a:spcPts val="3920"/>
                        </a:lnSpc>
                        <a:defRPr/>
                      </a:pPr>
                      <a:r>
                        <a:rPr lang="en-US" sz="2400" baseline="0" dirty="0"/>
                        <a:t>4</a:t>
                      </a:r>
                      <a:endParaRPr lang="en-US" sz="2400" baseline="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4900"/>
                        </a:lnSpc>
                        <a:spcBef>
                          <a:spcPct val="0"/>
                        </a:spcBef>
                      </a:pPr>
                      <a:r>
                        <a:rPr lang="en-US" sz="2400" dirty="0" err="1">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Hồ</a:t>
                      </a:r>
                      <a:r>
                        <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 Hoàng </a:t>
                      </a:r>
                      <a:r>
                        <a:rPr lang="en-US" sz="2400" dirty="0" err="1">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Hiệp</a:t>
                      </a:r>
                      <a:endPar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endParaRPr>
                    </a:p>
                  </a:txBody>
                  <a:tcPr marL="190500" marR="190500" marT="190500" marB="190500" anchor="ctr"/>
                </a:tc>
                <a:tc>
                  <a:txBody>
                    <a:bodyPr/>
                    <a:lstStyle/>
                    <a:p>
                      <a:pPr>
                        <a:lnSpc>
                          <a:spcPts val="3920"/>
                        </a:lnSpc>
                      </a:pPr>
                      <a:r>
                        <a:rPr lang="en-US" sz="2400" dirty="0" err="1">
                          <a:solidFill>
                            <a:srgbClr val="343432"/>
                          </a:solidFill>
                          <a:ea typeface="Montserrat" panose="00000500000000000000"/>
                          <a:cs typeface="Montserrat" panose="00000500000000000000"/>
                          <a:sym typeface="Montserrat" panose="00000500000000000000"/>
                        </a:rPr>
                        <a:t>Tổng</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quan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về</a:t>
                      </a:r>
                      <a:r>
                        <a:rPr lang="en-US" sz="2400" dirty="0">
                          <a:solidFill>
                            <a:srgbClr val="343432"/>
                          </a:solidFill>
                          <a:ea typeface="Montserrat" panose="00000500000000000000"/>
                          <a:cs typeface="Montserrat" panose="00000500000000000000"/>
                          <a:sym typeface="Montserrat" panose="00000500000000000000"/>
                        </a:rPr>
                        <a:t> ESP32</a:t>
                      </a:r>
                    </a:p>
                    <a:p>
                      <a:pPr>
                        <a:lnSpc>
                          <a:spcPts val="3920"/>
                        </a:lnSpc>
                      </a:pPr>
                      <a:r>
                        <a:rPr lang="en-US" sz="2400" dirty="0" err="1">
                          <a:solidFill>
                            <a:srgbClr val="343432"/>
                          </a:solidFill>
                          <a:ea typeface="Montserrat" panose="00000500000000000000"/>
                          <a:cs typeface="Montserrat" panose="00000500000000000000"/>
                          <a:sym typeface="Montserrat" panose="00000500000000000000"/>
                        </a:rPr>
                        <a:t>Tổng</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quan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môn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học</a:t>
                      </a:r>
                      <a:endParaRPr lang="en-US" sz="2400" dirty="0">
                        <a:solidFill>
                          <a:srgbClr val="343432"/>
                        </a:solidFill>
                        <a:ea typeface="Montserrat" panose="00000500000000000000"/>
                        <a:cs typeface="Montserrat" panose="00000500000000000000"/>
                        <a:sym typeface="Montserrat" panose="00000500000000000000"/>
                      </a:endParaRPr>
                    </a:p>
                    <a:p>
                      <a:pPr>
                        <a:lnSpc>
                          <a:spcPts val="3920"/>
                        </a:lnSpc>
                        <a:spcBef>
                          <a:spcPct val="0"/>
                        </a:spcBef>
                      </a:pPr>
                      <a:r>
                        <a:rPr lang="en-US" sz="2400" dirty="0">
                          <a:solidFill>
                            <a:srgbClr val="343432"/>
                          </a:solidFill>
                          <a:ea typeface="Montserrat" panose="00000500000000000000"/>
                          <a:cs typeface="Montserrat" panose="00000500000000000000"/>
                          <a:sym typeface="Montserrat" panose="00000500000000000000"/>
                        </a:rPr>
                        <a:t>Lý do </a:t>
                      </a:r>
                      <a:r>
                        <a:rPr lang="en-US" sz="2400" dirty="0" err="1">
                          <a:solidFill>
                            <a:srgbClr val="343432"/>
                          </a:solidFill>
                          <a:ea typeface="Montserrat" panose="00000500000000000000"/>
                          <a:cs typeface="Montserrat" panose="00000500000000000000"/>
                          <a:sym typeface="Montserrat" panose="00000500000000000000"/>
                        </a:rPr>
                        <a:t>chọn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đề</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tài</a:t>
                      </a:r>
                      <a:endParaRPr lang="en-US" sz="2400" dirty="0">
                        <a:solidFill>
                          <a:srgbClr val="343432"/>
                        </a:solidFill>
                        <a:ea typeface="Montserrat" panose="00000500000000000000"/>
                        <a:cs typeface="Montserrat" panose="00000500000000000000"/>
                        <a:sym typeface="Montserrat" panose="00000500000000000000"/>
                      </a:endParaRPr>
                    </a:p>
                  </a:txBody>
                  <a:tcPr marL="190500" marR="190500" marT="190500" marB="190500" anchor="ctr"/>
                </a:tc>
                <a:tc>
                  <a:txBody>
                    <a:bodyPr/>
                    <a:lstStyle/>
                    <a:p>
                      <a:pPr algn="ctr">
                        <a:lnSpc>
                          <a:spcPts val="3920"/>
                        </a:lnSpc>
                        <a:defRPr/>
                      </a:pPr>
                      <a:r>
                        <a:rPr lang="en-US" sz="2400" dirty="0" err="1">
                          <a:latin typeface="Arial" panose="020B0604020202020204" pitchFamily="34" charset="0"/>
                          <a:cs typeface="Arial" panose="020B0604020202020204" pitchFamily="34" charset="0"/>
                        </a:rPr>
                        <a:t>Làm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cứng</a:t>
                      </a:r>
                      <a:r>
                        <a:rPr lang="en-US" sz="2400" dirty="0">
                          <a:latin typeface="Arial" panose="020B0604020202020204" pitchFamily="34" charset="0"/>
                          <a:cs typeface="Arial" panose="020B0604020202020204" pitchFamily="34" charset="0"/>
                        </a:rPr>
                        <a:t>, word </a:t>
                      </a:r>
                    </a:p>
                  </a:txBody>
                  <a:tcPr marL="190500" marR="190500" marT="190500" marB="190500" anchor="ctr"/>
                </a:tc>
                <a:tc>
                  <a:txBody>
                    <a:bodyPr/>
                    <a:lstStyle/>
                    <a:p>
                      <a:pPr algn="ctr">
                        <a:lnSpc>
                          <a:spcPts val="3920"/>
                        </a:lnSpc>
                        <a:defRPr/>
                      </a:pPr>
                      <a:r>
                        <a:rPr lang="en-US" sz="2400"/>
                        <a:t>100%</a:t>
                      </a:r>
                      <a:endParaRPr lang="en-US" sz="240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4"/>
                  </a:ext>
                </a:extLst>
              </a:tr>
              <a:tr h="2039172">
                <a:tc>
                  <a:txBody>
                    <a:bodyPr/>
                    <a:lstStyle/>
                    <a:p>
                      <a:pPr algn="ctr">
                        <a:lnSpc>
                          <a:spcPts val="3920"/>
                        </a:lnSpc>
                        <a:defRPr/>
                      </a:pPr>
                      <a:r>
                        <a:rPr lang="en-US" sz="2400" dirty="0"/>
                        <a:t>5</a:t>
                      </a:r>
                      <a:endParaRPr lang="en-US" sz="2400" dirty="0">
                        <a:latin typeface="Arial" panose="020B0604020202020204" pitchFamily="34" charset="0"/>
                        <a:cs typeface="Arial" panose="020B0604020202020204" pitchFamily="34" charset="0"/>
                      </a:endParaRPr>
                    </a:p>
                  </a:txBody>
                  <a:tcPr marL="190500" marR="190500" marT="190500" marB="190500" anchor="ctr"/>
                </a:tc>
                <a:tc>
                  <a:txBody>
                    <a:bodyPr/>
                    <a:lstStyle/>
                    <a:p>
                      <a:pPr algn="ctr">
                        <a:lnSpc>
                          <a:spcPts val="4900"/>
                        </a:lnSpc>
                        <a:spcBef>
                          <a:spcPct val="0"/>
                        </a:spcBef>
                      </a:pPr>
                      <a:r>
                        <a:rPr lang="en-US" sz="2400" dirty="0">
                          <a:ln w="0"/>
                          <a:effectLst/>
                          <a:latin typeface="Times New Roman" panose="02020603050405020304" pitchFamily="18" charset="0"/>
                          <a:ea typeface="Montserrat" panose="00000500000000000000"/>
                          <a:cs typeface="Times New Roman" panose="02020603050405020304" pitchFamily="18" charset="0"/>
                          <a:sym typeface="Montserrat" panose="00000500000000000000"/>
                        </a:rPr>
                        <a:t>Bùi Minh Huy</a:t>
                      </a:r>
                    </a:p>
                  </a:txBody>
                  <a:tcPr marL="190500" marR="190500" marT="190500" marB="190500" anchor="ctr"/>
                </a:tc>
                <a:tc>
                  <a:txBody>
                    <a:bodyPr/>
                    <a:lstStyle/>
                    <a:p>
                      <a:pPr>
                        <a:lnSpc>
                          <a:spcPts val="3920"/>
                        </a:lnSpc>
                        <a:spcBef>
                          <a:spcPct val="0"/>
                        </a:spcBef>
                      </a:pPr>
                      <a:r>
                        <a:rPr lang="en-US" sz="2400" dirty="0" err="1">
                          <a:solidFill>
                            <a:srgbClr val="343432"/>
                          </a:solidFill>
                          <a:ea typeface="Montserrat" panose="00000500000000000000"/>
                          <a:cs typeface="Montserrat" panose="00000500000000000000"/>
                          <a:sym typeface="Montserrat" panose="00000500000000000000"/>
                        </a:rPr>
                        <a:t>Giới</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thiệu</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Phần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cứng</a:t>
                      </a:r>
                      <a:r>
                        <a:rPr lang="en-US" sz="2400" dirty="0">
                          <a:solidFill>
                            <a:srgbClr val="343432"/>
                          </a:solidFill>
                          <a:ea typeface="Montserrat" panose="00000500000000000000"/>
                          <a:cs typeface="Montserrat" panose="00000500000000000000"/>
                          <a:sym typeface="Montserrat" panose="00000500000000000000"/>
                        </a:rPr>
                        <a:t> &amp; </a:t>
                      </a:r>
                      <a:r>
                        <a:rPr lang="en-US" sz="2400" dirty="0" err="1">
                          <a:solidFill>
                            <a:srgbClr val="343432"/>
                          </a:solidFill>
                          <a:ea typeface="Montserrat" panose="00000500000000000000"/>
                          <a:cs typeface="Montserrat" panose="00000500000000000000"/>
                          <a:sym typeface="Montserrat" panose="00000500000000000000"/>
                        </a:rPr>
                        <a:t>Phần</a:t>
                      </a:r>
                      <a:r>
                        <a:rPr lang="en-US" sz="2400" dirty="0">
                          <a:solidFill>
                            <a:srgbClr val="343432"/>
                          </a:solidFill>
                          <a:ea typeface="Montserrat" panose="00000500000000000000"/>
                          <a:cs typeface="Montserrat" panose="00000500000000000000"/>
                          <a:sym typeface="Montserrat" panose="00000500000000000000"/>
                        </a:rPr>
                        <a:t> </a:t>
                      </a:r>
                      <a:r>
                        <a:rPr lang="en-US" sz="2400" dirty="0" err="1">
                          <a:solidFill>
                            <a:srgbClr val="343432"/>
                          </a:solidFill>
                          <a:ea typeface="Montserrat" panose="00000500000000000000"/>
                          <a:cs typeface="Montserrat" panose="00000500000000000000"/>
                          <a:sym typeface="Montserrat" panose="00000500000000000000"/>
                        </a:rPr>
                        <a:t>mềm</a:t>
                      </a:r>
                      <a:endParaRPr lang="en-US" sz="2400" dirty="0">
                        <a:solidFill>
                          <a:srgbClr val="343432"/>
                        </a:solidFill>
                        <a:ea typeface="Montserrat" panose="00000500000000000000"/>
                        <a:cs typeface="Montserrat" panose="00000500000000000000"/>
                        <a:sym typeface="Montserrat" panose="00000500000000000000"/>
                      </a:endParaRPr>
                    </a:p>
                  </a:txBody>
                  <a:tcPr marL="190500" marR="190500" marT="190500" marB="190500" anchor="ctr"/>
                </a:tc>
                <a:tc>
                  <a:txBody>
                    <a:bodyPr/>
                    <a:lstStyle/>
                    <a:p>
                      <a:pPr algn="ctr">
                        <a:lnSpc>
                          <a:spcPts val="3920"/>
                        </a:lnSpc>
                        <a:defRPr/>
                      </a:pPr>
                      <a:r>
                        <a:rPr lang="en-US" sz="2400" dirty="0" err="1">
                          <a:latin typeface="Arial" panose="020B0604020202020204" pitchFamily="34" charset="0"/>
                          <a:cs typeface="Arial" panose="020B0604020202020204" pitchFamily="34" charset="0"/>
                        </a:rPr>
                        <a:t>Tìm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kiếm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thông</a:t>
                      </a:r>
                      <a:r>
                        <a:rPr lang="en-US" sz="2400" dirty="0">
                          <a:latin typeface="Arial" panose="020B0604020202020204" pitchFamily="34" charset="0"/>
                          <a:cs typeface="Arial" panose="020B0604020202020204" pitchFamily="34" charset="0"/>
                        </a:rPr>
                        <a:t> tin, </a:t>
                      </a: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ảnh</a:t>
                      </a:r>
                      <a:r>
                        <a:rPr lang="en-US" sz="2400" dirty="0">
                          <a:latin typeface="Arial" panose="020B0604020202020204" pitchFamily="34" charset="0"/>
                          <a:cs typeface="Arial" panose="020B0604020202020204" pitchFamily="34" charset="0"/>
                        </a:rPr>
                        <a:t>, word</a:t>
                      </a:r>
                    </a:p>
                  </a:txBody>
                  <a:tcPr marL="190500" marR="190500" marT="190500" marB="190500" anchor="ctr"/>
                </a:tc>
                <a:tc>
                  <a:txBody>
                    <a:bodyPr/>
                    <a:lstStyle/>
                    <a:p>
                      <a:pPr algn="ctr">
                        <a:lnSpc>
                          <a:spcPts val="3920"/>
                        </a:lnSpc>
                        <a:defRPr/>
                      </a:pPr>
                      <a:r>
                        <a:rPr lang="en-US" sz="2400" dirty="0"/>
                        <a:t>100%</a:t>
                      </a:r>
                      <a:endParaRPr lang="en-US" sz="2400" dirty="0">
                        <a:latin typeface="Arial" panose="020B0604020202020204" pitchFamily="34" charset="0"/>
                        <a:cs typeface="Arial" panose="020B0604020202020204" pitchFamily="34" charset="0"/>
                      </a:endParaRPr>
                    </a:p>
                  </a:txBody>
                  <a:tcPr marL="190500" marR="190500" marT="190500" marB="190500" anchor="ctr"/>
                </a:tc>
                <a:extLst>
                  <a:ext uri="{0D108BD9-81ED-4DB2-BD59-A6C34878D82A}">
                    <a16:rowId xmlns:a16="http://schemas.microsoft.com/office/drawing/2014/main" val="10005"/>
                  </a:ext>
                </a:extLst>
              </a:tr>
            </a:tbl>
          </a:graphicData>
        </a:graphic>
      </p:graphicFrame>
      <p:sp>
        <p:nvSpPr>
          <p:cNvPr id="3" name="TextBox 3"/>
          <p:cNvSpPr txBox="1"/>
          <p:nvPr/>
        </p:nvSpPr>
        <p:spPr>
          <a:xfrm>
            <a:off x="3496531" y="-106326"/>
            <a:ext cx="11294938" cy="852156"/>
          </a:xfrm>
          <a:prstGeom prst="rect">
            <a:avLst/>
          </a:prstGeom>
        </p:spPr>
        <p:style>
          <a:lnRef idx="2">
            <a:schemeClr val="accent1"/>
          </a:lnRef>
          <a:fillRef idx="1">
            <a:schemeClr val="lt1"/>
          </a:fillRef>
          <a:effectRef idx="0">
            <a:schemeClr val="accent1"/>
          </a:effectRef>
          <a:fontRef idx="minor">
            <a:schemeClr val="dk1"/>
          </a:fontRef>
        </p:style>
        <p:txBody>
          <a:bodyPr lIns="0" tIns="0" rIns="0" bIns="0" rtlCol="0" anchor="t">
            <a:spAutoFit/>
            <a:scene3d>
              <a:camera prst="orthographicFront"/>
              <a:lightRig rig="threePt" dir="t"/>
            </a:scene3d>
          </a:bodyPr>
          <a:lstStyle/>
          <a:p>
            <a:pPr algn="ctr">
              <a:lnSpc>
                <a:spcPts val="7075"/>
              </a:lnSpc>
            </a:pPr>
            <a:r>
              <a:rPr lang="en-US" sz="4200" b="1" dirty="0">
                <a:ln w="0"/>
                <a:solidFill>
                  <a:schemeClr val="tx1"/>
                </a:solidFill>
                <a:effectLst>
                  <a:outerShdw blurRad="38100" dist="19050" dir="2700000" algn="tl" rotWithShape="0">
                    <a:schemeClr val="dk1">
                      <a:alpha val="40000"/>
                    </a:schemeClr>
                  </a:outerShdw>
                </a:effectLst>
                <a:ea typeface="Montserrat Bold" panose="00000800000000000000"/>
                <a:cs typeface="Montserrat Bold" panose="00000800000000000000"/>
                <a:sym typeface="Montserrat Bold" panose="00000800000000000000"/>
              </a:rPr>
              <a:t>PHÂN CÔNG NHIỆM VỤ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109460" y="499343"/>
            <a:ext cx="5562600" cy="1515223"/>
          </a:xfrm>
          <a:prstGeom prst="rect">
            <a:avLst/>
          </a:prstGeom>
        </p:spPr>
        <p:txBody>
          <a:bodyPr wrap="square" lIns="0" tIns="0" rIns="0" bIns="0" rtlCol="0" anchor="t">
            <a:spAutoFit/>
          </a:bodyPr>
          <a:lstStyle/>
          <a:p>
            <a:pPr algn="ctr">
              <a:lnSpc>
                <a:spcPts val="6320"/>
              </a:lnSpc>
              <a:spcBef>
                <a:spcPct val="0"/>
              </a:spcBef>
            </a:pPr>
            <a:r>
              <a:rPr lang="en-US" sz="4000" b="1" dirty="0">
                <a:ln w="0"/>
                <a:effectLst>
                  <a:outerShdw blurRad="38100" dist="19050" dir="2700000" algn="tl" rotWithShape="0">
                    <a:schemeClr val="dk1">
                      <a:alpha val="40000"/>
                    </a:schemeClr>
                  </a:outerShdw>
                </a:effectLst>
                <a:ea typeface="Montserrat Bold" panose="00000800000000000000"/>
                <a:cs typeface="Montserrat Bold" panose="00000800000000000000"/>
                <a:sym typeface="Montserrat Bold" panose="00000800000000000000"/>
              </a:rPr>
              <a:t>NỘI DUNG THUYẾT TRÌNH</a:t>
            </a:r>
          </a:p>
          <a:p>
            <a:pPr algn="ctr">
              <a:lnSpc>
                <a:spcPts val="6320"/>
              </a:lnSpc>
              <a:spcBef>
                <a:spcPct val="0"/>
              </a:spcBef>
            </a:pPr>
            <a:endParaRPr lang="en-US" sz="3200" b="1" spc="275" dirty="0">
              <a:solidFill>
                <a:srgbClr val="343432"/>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5" name="Group 5"/>
          <p:cNvGrpSpPr/>
          <p:nvPr/>
        </p:nvGrpSpPr>
        <p:grpSpPr>
          <a:xfrm>
            <a:off x="2205350" y="3090243"/>
            <a:ext cx="6614120" cy="1804228"/>
            <a:chOff x="-125292" y="-33552"/>
            <a:chExt cx="8495542" cy="1863511"/>
          </a:xfrm>
        </p:grpSpPr>
        <p:grpSp>
          <p:nvGrpSpPr>
            <p:cNvPr id="6" name="Group 6"/>
            <p:cNvGrpSpPr/>
            <p:nvPr/>
          </p:nvGrpSpPr>
          <p:grpSpPr>
            <a:xfrm>
              <a:off x="-125292" y="-33552"/>
              <a:ext cx="8495542" cy="1863511"/>
              <a:chOff x="-142275" y="-38100"/>
              <a:chExt cx="9647063" cy="2116099"/>
            </a:xfrm>
          </p:grpSpPr>
          <p:sp>
            <p:nvSpPr>
              <p:cNvPr id="7" name="Freeform 7"/>
              <p:cNvSpPr/>
              <p:nvPr/>
            </p:nvSpPr>
            <p:spPr>
              <a:xfrm>
                <a:off x="-142275" y="0"/>
                <a:ext cx="9504787" cy="2077999"/>
              </a:xfrm>
              <a:custGeom>
                <a:avLst/>
                <a:gdLst/>
                <a:ahLst/>
                <a:cxnLst/>
                <a:rect l="l" t="t" r="r" b="b"/>
                <a:pathLst>
                  <a:path w="9504787" h="2077999">
                    <a:moveTo>
                      <a:pt x="39464" y="0"/>
                    </a:moveTo>
                    <a:lnTo>
                      <a:pt x="9465324" y="0"/>
                    </a:lnTo>
                    <a:cubicBezTo>
                      <a:pt x="9475790" y="0"/>
                      <a:pt x="9485828" y="4158"/>
                      <a:pt x="9493228" y="11559"/>
                    </a:cubicBezTo>
                    <a:cubicBezTo>
                      <a:pt x="9500629" y="18960"/>
                      <a:pt x="9504787" y="28997"/>
                      <a:pt x="9504787" y="39464"/>
                    </a:cubicBezTo>
                    <a:lnTo>
                      <a:pt x="9504787" y="2038535"/>
                    </a:lnTo>
                    <a:cubicBezTo>
                      <a:pt x="9504787" y="2049002"/>
                      <a:pt x="9500629" y="2059039"/>
                      <a:pt x="9493228" y="2066440"/>
                    </a:cubicBezTo>
                    <a:cubicBezTo>
                      <a:pt x="9485828" y="2073841"/>
                      <a:pt x="9475790" y="2077999"/>
                      <a:pt x="9465324" y="2077999"/>
                    </a:cubicBezTo>
                    <a:lnTo>
                      <a:pt x="39464" y="2077999"/>
                    </a:lnTo>
                    <a:cubicBezTo>
                      <a:pt x="28997" y="2077999"/>
                      <a:pt x="18960" y="2073841"/>
                      <a:pt x="11559" y="2066440"/>
                    </a:cubicBezTo>
                    <a:cubicBezTo>
                      <a:pt x="4158" y="2059039"/>
                      <a:pt x="0" y="2049002"/>
                      <a:pt x="0" y="2038535"/>
                    </a:cubicBezTo>
                    <a:lnTo>
                      <a:pt x="0" y="39464"/>
                    </a:lnTo>
                    <a:cubicBezTo>
                      <a:pt x="0" y="28997"/>
                      <a:pt x="4158" y="18960"/>
                      <a:pt x="11559" y="11559"/>
                    </a:cubicBezTo>
                    <a:cubicBezTo>
                      <a:pt x="18960" y="4158"/>
                      <a:pt x="28997" y="0"/>
                      <a:pt x="39464" y="0"/>
                    </a:cubicBezTo>
                    <a:close/>
                  </a:path>
                </a:pathLst>
              </a:custGeom>
              <a:solidFill>
                <a:srgbClr val="FFFFFF"/>
              </a:solidFill>
              <a:ln w="66675" cap="rnd">
                <a:solidFill>
                  <a:srgbClr val="9397D8"/>
                </a:solidFill>
                <a:prstDash val="solid"/>
                <a:round/>
              </a:ln>
            </p:spPr>
            <p:txBody>
              <a:bodyPr/>
              <a:lstStyle/>
              <a:p>
                <a:endParaRPr lang="en-US" sz="3200"/>
              </a:p>
            </p:txBody>
          </p:sp>
          <p:sp>
            <p:nvSpPr>
              <p:cNvPr id="8" name="TextBox 8"/>
              <p:cNvSpPr txBox="1"/>
              <p:nvPr/>
            </p:nvSpPr>
            <p:spPr>
              <a:xfrm>
                <a:off x="0" y="-38100"/>
                <a:ext cx="9504788" cy="2116099"/>
              </a:xfrm>
              <a:prstGeom prst="rect">
                <a:avLst/>
              </a:prstGeom>
            </p:spPr>
            <p:txBody>
              <a:bodyPr lIns="50800" tIns="50800" rIns="50800" bIns="50800" rtlCol="0" anchor="ctr"/>
              <a:lstStyle/>
              <a:p>
                <a:pPr algn="ctr">
                  <a:lnSpc>
                    <a:spcPts val="2755"/>
                  </a:lnSpc>
                  <a:spcBef>
                    <a:spcPct val="0"/>
                  </a:spcBef>
                </a:pPr>
                <a:endParaRPr sz="3200"/>
              </a:p>
            </p:txBody>
          </p:sp>
        </p:grpSp>
        <p:sp>
          <p:nvSpPr>
            <p:cNvPr id="9" name="TextBox 9"/>
            <p:cNvSpPr txBox="1"/>
            <p:nvPr/>
          </p:nvSpPr>
          <p:spPr>
            <a:xfrm>
              <a:off x="560398" y="186264"/>
              <a:ext cx="7264497" cy="1008704"/>
            </a:xfrm>
            <a:prstGeom prst="rect">
              <a:avLst/>
            </a:prstGeom>
          </p:spPr>
          <p:txBody>
            <a:bodyPr wrap="square" lIns="0" tIns="0" rIns="0" bIns="0" rtlCol="0" anchor="t">
              <a:spAutoFit/>
            </a:bodyPr>
            <a:lstStyle/>
            <a:p>
              <a:pPr>
                <a:lnSpc>
                  <a:spcPts val="3920"/>
                </a:lnSpc>
              </a:pPr>
              <a:r>
                <a:rPr lang="en-US" sz="3200" dirty="0" err="1">
                  <a:solidFill>
                    <a:srgbClr val="343432"/>
                  </a:solidFill>
                  <a:ea typeface="Montserrat" panose="00000500000000000000"/>
                  <a:cs typeface="Montserrat" panose="00000500000000000000"/>
                  <a:sym typeface="Montserrat" panose="00000500000000000000"/>
                </a:rPr>
                <a:t>Tổng</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quan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về</a:t>
              </a:r>
              <a:r>
                <a:rPr lang="en-US" sz="3200" dirty="0">
                  <a:solidFill>
                    <a:srgbClr val="343432"/>
                  </a:solidFill>
                  <a:ea typeface="Montserrat" panose="00000500000000000000"/>
                  <a:cs typeface="Montserrat" panose="00000500000000000000"/>
                  <a:sym typeface="Montserrat" panose="00000500000000000000"/>
                </a:rPr>
                <a:t> ESP32</a:t>
              </a:r>
            </a:p>
            <a:p>
              <a:pPr>
                <a:lnSpc>
                  <a:spcPts val="3920"/>
                </a:lnSpc>
              </a:pPr>
              <a:r>
                <a:rPr lang="en-US" sz="3200" dirty="0" err="1">
                  <a:solidFill>
                    <a:srgbClr val="343432"/>
                  </a:solidFill>
                  <a:ea typeface="Montserrat" panose="00000500000000000000"/>
                  <a:cs typeface="Montserrat" panose="00000500000000000000"/>
                  <a:sym typeface="Montserrat" panose="00000500000000000000"/>
                </a:rPr>
                <a:t>Tổng</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quan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môn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học</a:t>
              </a:r>
              <a:endParaRPr lang="en-US" sz="3200" dirty="0">
                <a:solidFill>
                  <a:srgbClr val="343432"/>
                </a:solidFill>
                <a:ea typeface="Montserrat" panose="00000500000000000000"/>
                <a:cs typeface="Montserrat" panose="00000500000000000000"/>
                <a:sym typeface="Montserrat" panose="00000500000000000000"/>
              </a:endParaRPr>
            </a:p>
          </p:txBody>
        </p:sp>
        <p:sp>
          <p:nvSpPr>
            <p:cNvPr id="10" name="TextBox 10"/>
            <p:cNvSpPr txBox="1"/>
            <p:nvPr/>
          </p:nvSpPr>
          <p:spPr>
            <a:xfrm>
              <a:off x="552876" y="1285587"/>
              <a:ext cx="7264497" cy="499352"/>
            </a:xfrm>
            <a:prstGeom prst="rect">
              <a:avLst/>
            </a:prstGeom>
          </p:spPr>
          <p:txBody>
            <a:bodyPr wrap="square" lIns="0" tIns="0" rIns="0" bIns="0" rtlCol="0" anchor="t">
              <a:spAutoFit/>
            </a:bodyPr>
            <a:lstStyle/>
            <a:p>
              <a:pPr>
                <a:lnSpc>
                  <a:spcPts val="3920"/>
                </a:lnSpc>
                <a:spcBef>
                  <a:spcPct val="0"/>
                </a:spcBef>
              </a:pPr>
              <a:r>
                <a:rPr lang="en-US" sz="3200" dirty="0">
                  <a:solidFill>
                    <a:srgbClr val="343432"/>
                  </a:solidFill>
                  <a:ea typeface="Montserrat" panose="00000500000000000000"/>
                  <a:cs typeface="Montserrat" panose="00000500000000000000"/>
                  <a:sym typeface="Montserrat" panose="00000500000000000000"/>
                </a:rPr>
                <a:t>Lý do </a:t>
              </a:r>
              <a:r>
                <a:rPr lang="en-US" sz="3200" dirty="0" err="1">
                  <a:solidFill>
                    <a:srgbClr val="343432"/>
                  </a:solidFill>
                  <a:ea typeface="Montserrat" panose="00000500000000000000"/>
                  <a:cs typeface="Montserrat" panose="00000500000000000000"/>
                  <a:sym typeface="Montserrat" panose="00000500000000000000"/>
                </a:rPr>
                <a:t>chọn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đề</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tài</a:t>
              </a:r>
              <a:endParaRPr lang="en-US" sz="3200" dirty="0">
                <a:solidFill>
                  <a:srgbClr val="343432"/>
                </a:solidFill>
                <a:ea typeface="Montserrat" panose="00000500000000000000"/>
                <a:cs typeface="Montserrat" panose="00000500000000000000"/>
                <a:sym typeface="Montserrat" panose="00000500000000000000"/>
              </a:endParaRPr>
            </a:p>
          </p:txBody>
        </p:sp>
      </p:grpSp>
      <p:grpSp>
        <p:nvGrpSpPr>
          <p:cNvPr id="11" name="Group 11"/>
          <p:cNvGrpSpPr/>
          <p:nvPr/>
        </p:nvGrpSpPr>
        <p:grpSpPr>
          <a:xfrm>
            <a:off x="2222633" y="5432416"/>
            <a:ext cx="6277688" cy="1941737"/>
            <a:chOff x="0" y="-33552"/>
            <a:chExt cx="8370250" cy="2230723"/>
          </a:xfrm>
        </p:grpSpPr>
        <p:grpSp>
          <p:nvGrpSpPr>
            <p:cNvPr id="12" name="Group 12"/>
            <p:cNvGrpSpPr/>
            <p:nvPr/>
          </p:nvGrpSpPr>
          <p:grpSpPr>
            <a:xfrm>
              <a:off x="0" y="-33552"/>
              <a:ext cx="8370250" cy="2230723"/>
              <a:chOff x="0" y="-38100"/>
              <a:chExt cx="9504788" cy="2533083"/>
            </a:xfrm>
          </p:grpSpPr>
          <p:sp>
            <p:nvSpPr>
              <p:cNvPr id="13" name="Freeform 13"/>
              <p:cNvSpPr/>
              <p:nvPr/>
            </p:nvSpPr>
            <p:spPr>
              <a:xfrm>
                <a:off x="0" y="-1"/>
                <a:ext cx="9504786" cy="2494983"/>
              </a:xfrm>
              <a:custGeom>
                <a:avLst/>
                <a:gdLst/>
                <a:ahLst/>
                <a:cxnLst/>
                <a:rect l="l" t="t" r="r" b="b"/>
                <a:pathLst>
                  <a:path w="9504787" h="2494984">
                    <a:moveTo>
                      <a:pt x="39464" y="0"/>
                    </a:moveTo>
                    <a:lnTo>
                      <a:pt x="9465324" y="0"/>
                    </a:lnTo>
                    <a:cubicBezTo>
                      <a:pt x="9475790" y="0"/>
                      <a:pt x="9485828" y="4158"/>
                      <a:pt x="9493228" y="11559"/>
                    </a:cubicBezTo>
                    <a:cubicBezTo>
                      <a:pt x="9500629" y="18960"/>
                      <a:pt x="9504787" y="28997"/>
                      <a:pt x="9504787" y="39464"/>
                    </a:cubicBezTo>
                    <a:lnTo>
                      <a:pt x="9504787" y="2455520"/>
                    </a:lnTo>
                    <a:cubicBezTo>
                      <a:pt x="9504787" y="2465986"/>
                      <a:pt x="9500629" y="2476024"/>
                      <a:pt x="9493228" y="2483425"/>
                    </a:cubicBezTo>
                    <a:cubicBezTo>
                      <a:pt x="9485828" y="2490826"/>
                      <a:pt x="9475790" y="2494984"/>
                      <a:pt x="9465324" y="2494984"/>
                    </a:cubicBezTo>
                    <a:lnTo>
                      <a:pt x="39464" y="2494984"/>
                    </a:lnTo>
                    <a:cubicBezTo>
                      <a:pt x="28997" y="2494984"/>
                      <a:pt x="18960" y="2490826"/>
                      <a:pt x="11559" y="2483425"/>
                    </a:cubicBezTo>
                    <a:cubicBezTo>
                      <a:pt x="4158" y="2476024"/>
                      <a:pt x="0" y="2465986"/>
                      <a:pt x="0" y="2455520"/>
                    </a:cubicBezTo>
                    <a:lnTo>
                      <a:pt x="0" y="39464"/>
                    </a:lnTo>
                    <a:cubicBezTo>
                      <a:pt x="0" y="28997"/>
                      <a:pt x="4158" y="18960"/>
                      <a:pt x="11559" y="11559"/>
                    </a:cubicBezTo>
                    <a:cubicBezTo>
                      <a:pt x="18960" y="4158"/>
                      <a:pt x="28997" y="0"/>
                      <a:pt x="39464" y="0"/>
                    </a:cubicBezTo>
                    <a:close/>
                  </a:path>
                </a:pathLst>
              </a:custGeom>
              <a:solidFill>
                <a:srgbClr val="FFFFFF"/>
              </a:solidFill>
              <a:ln w="66675" cap="rnd">
                <a:solidFill>
                  <a:srgbClr val="91DFB1"/>
                </a:solidFill>
                <a:prstDash val="solid"/>
                <a:round/>
              </a:ln>
            </p:spPr>
            <p:txBody>
              <a:bodyPr/>
              <a:lstStyle/>
              <a:p>
                <a:endParaRPr lang="en-US" sz="3200" dirty="0"/>
              </a:p>
            </p:txBody>
          </p:sp>
          <p:sp>
            <p:nvSpPr>
              <p:cNvPr id="14" name="TextBox 14"/>
              <p:cNvSpPr txBox="1"/>
              <p:nvPr/>
            </p:nvSpPr>
            <p:spPr>
              <a:xfrm>
                <a:off x="0" y="-38100"/>
                <a:ext cx="9504788" cy="2533083"/>
              </a:xfrm>
              <a:prstGeom prst="rect">
                <a:avLst/>
              </a:prstGeom>
            </p:spPr>
            <p:txBody>
              <a:bodyPr lIns="50800" tIns="50800" rIns="50800" bIns="50800" rtlCol="0" anchor="ctr"/>
              <a:lstStyle/>
              <a:p>
                <a:pPr algn="ctr">
                  <a:lnSpc>
                    <a:spcPts val="2755"/>
                  </a:lnSpc>
                  <a:spcBef>
                    <a:spcPct val="0"/>
                  </a:spcBef>
                </a:pPr>
                <a:endParaRPr sz="3200"/>
              </a:p>
            </p:txBody>
          </p:sp>
        </p:grpSp>
        <p:sp>
          <p:nvSpPr>
            <p:cNvPr id="15" name="TextBox 15"/>
            <p:cNvSpPr txBox="1"/>
            <p:nvPr/>
          </p:nvSpPr>
          <p:spPr>
            <a:xfrm>
              <a:off x="510859" y="146751"/>
              <a:ext cx="6676407" cy="555420"/>
            </a:xfrm>
            <a:prstGeom prst="rect">
              <a:avLst/>
            </a:prstGeom>
          </p:spPr>
          <p:txBody>
            <a:bodyPr wrap="square" lIns="0" tIns="0" rIns="0" bIns="0" rtlCol="0" anchor="t">
              <a:spAutoFit/>
            </a:bodyPr>
            <a:lstStyle/>
            <a:p>
              <a:pPr>
                <a:lnSpc>
                  <a:spcPts val="3920"/>
                </a:lnSpc>
                <a:spcBef>
                  <a:spcPct val="0"/>
                </a:spcBef>
              </a:pPr>
              <a:r>
                <a:rPr lang="en-US" sz="3200" dirty="0" err="1">
                  <a:solidFill>
                    <a:srgbClr val="343432"/>
                  </a:solidFill>
                  <a:ea typeface="Montserrat" panose="00000500000000000000"/>
                  <a:cs typeface="Montserrat" panose="00000500000000000000"/>
                  <a:sym typeface="Montserrat" panose="00000500000000000000"/>
                </a:rPr>
                <a:t>Tổng</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quan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đề</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tài</a:t>
              </a:r>
              <a:endParaRPr lang="en-US" sz="3200" dirty="0">
                <a:solidFill>
                  <a:srgbClr val="343432"/>
                </a:solidFill>
                <a:ea typeface="Montserrat" panose="00000500000000000000"/>
                <a:cs typeface="Montserrat" panose="00000500000000000000"/>
                <a:sym typeface="Montserrat" panose="00000500000000000000"/>
              </a:endParaRPr>
            </a:p>
          </p:txBody>
        </p:sp>
        <p:sp>
          <p:nvSpPr>
            <p:cNvPr id="16" name="TextBox 16"/>
            <p:cNvSpPr txBox="1"/>
            <p:nvPr/>
          </p:nvSpPr>
          <p:spPr>
            <a:xfrm>
              <a:off x="510859" y="864728"/>
              <a:ext cx="7489207" cy="1121963"/>
            </a:xfrm>
            <a:prstGeom prst="rect">
              <a:avLst/>
            </a:prstGeom>
          </p:spPr>
          <p:txBody>
            <a:bodyPr wrap="square" lIns="0" tIns="0" rIns="0" bIns="0" rtlCol="0" anchor="t">
              <a:spAutoFit/>
            </a:bodyPr>
            <a:lstStyle/>
            <a:p>
              <a:pPr>
                <a:lnSpc>
                  <a:spcPts val="3920"/>
                </a:lnSpc>
                <a:spcBef>
                  <a:spcPct val="0"/>
                </a:spcBef>
              </a:pPr>
              <a:r>
                <a:rPr lang="en-US" sz="3200" dirty="0" err="1">
                  <a:solidFill>
                    <a:srgbClr val="343432"/>
                  </a:solidFill>
                  <a:ea typeface="Montserrat" panose="00000500000000000000"/>
                  <a:cs typeface="Montserrat" panose="00000500000000000000"/>
                  <a:sym typeface="Montserrat" panose="00000500000000000000"/>
                </a:rPr>
                <a:t>Giới</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thiệu</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Phần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cứng</a:t>
              </a:r>
              <a:r>
                <a:rPr lang="en-US" sz="3200" dirty="0">
                  <a:solidFill>
                    <a:srgbClr val="343432"/>
                  </a:solidFill>
                  <a:ea typeface="Montserrat" panose="00000500000000000000"/>
                  <a:cs typeface="Montserrat" panose="00000500000000000000"/>
                  <a:sym typeface="Montserrat" panose="00000500000000000000"/>
                </a:rPr>
                <a:t> &amp; </a:t>
              </a:r>
              <a:r>
                <a:rPr lang="en-US" sz="3200" dirty="0" err="1">
                  <a:solidFill>
                    <a:srgbClr val="343432"/>
                  </a:solidFill>
                  <a:ea typeface="Montserrat" panose="00000500000000000000"/>
                  <a:cs typeface="Montserrat" panose="00000500000000000000"/>
                  <a:sym typeface="Montserrat" panose="00000500000000000000"/>
                </a:rPr>
                <a:t>Phần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mềm</a:t>
              </a:r>
              <a:r>
                <a:rPr lang="en-US" sz="3200" dirty="0">
                  <a:solidFill>
                    <a:srgbClr val="343432"/>
                  </a:solidFill>
                  <a:ea typeface="Montserrat" panose="00000500000000000000"/>
                  <a:cs typeface="Montserrat" panose="00000500000000000000"/>
                  <a:sym typeface="Montserrat" panose="00000500000000000000"/>
                </a:rPr>
                <a:t>  (input/output)</a:t>
              </a:r>
            </a:p>
          </p:txBody>
        </p:sp>
      </p:grpSp>
      <p:grpSp>
        <p:nvGrpSpPr>
          <p:cNvPr id="17" name="Group 17"/>
          <p:cNvGrpSpPr/>
          <p:nvPr/>
        </p:nvGrpSpPr>
        <p:grpSpPr>
          <a:xfrm>
            <a:off x="2205350" y="7771288"/>
            <a:ext cx="6277688" cy="2250500"/>
            <a:chOff x="72570" y="-12774"/>
            <a:chExt cx="8370250" cy="1982668"/>
          </a:xfrm>
        </p:grpSpPr>
        <p:grpSp>
          <p:nvGrpSpPr>
            <p:cNvPr id="18" name="Group 18"/>
            <p:cNvGrpSpPr/>
            <p:nvPr/>
          </p:nvGrpSpPr>
          <p:grpSpPr>
            <a:xfrm>
              <a:off x="72570" y="-12774"/>
              <a:ext cx="8370250" cy="1982668"/>
              <a:chOff x="82406" y="-14505"/>
              <a:chExt cx="9504788" cy="2251407"/>
            </a:xfrm>
          </p:grpSpPr>
          <p:sp>
            <p:nvSpPr>
              <p:cNvPr id="19" name="Freeform 19"/>
              <p:cNvSpPr/>
              <p:nvPr/>
            </p:nvSpPr>
            <p:spPr>
              <a:xfrm>
                <a:off x="82409" y="-14505"/>
                <a:ext cx="9504785" cy="2077999"/>
              </a:xfrm>
              <a:custGeom>
                <a:avLst/>
                <a:gdLst/>
                <a:ahLst/>
                <a:cxnLst/>
                <a:rect l="l" t="t" r="r" b="b"/>
                <a:pathLst>
                  <a:path w="9504787" h="2077999">
                    <a:moveTo>
                      <a:pt x="39464" y="0"/>
                    </a:moveTo>
                    <a:lnTo>
                      <a:pt x="9465324" y="0"/>
                    </a:lnTo>
                    <a:cubicBezTo>
                      <a:pt x="9475790" y="0"/>
                      <a:pt x="9485828" y="4158"/>
                      <a:pt x="9493228" y="11559"/>
                    </a:cubicBezTo>
                    <a:cubicBezTo>
                      <a:pt x="9500629" y="18960"/>
                      <a:pt x="9504787" y="28997"/>
                      <a:pt x="9504787" y="39464"/>
                    </a:cubicBezTo>
                    <a:lnTo>
                      <a:pt x="9504787" y="2038535"/>
                    </a:lnTo>
                    <a:cubicBezTo>
                      <a:pt x="9504787" y="2049002"/>
                      <a:pt x="9500629" y="2059039"/>
                      <a:pt x="9493228" y="2066440"/>
                    </a:cubicBezTo>
                    <a:cubicBezTo>
                      <a:pt x="9485828" y="2073841"/>
                      <a:pt x="9475790" y="2077999"/>
                      <a:pt x="9465324" y="2077999"/>
                    </a:cubicBezTo>
                    <a:lnTo>
                      <a:pt x="39464" y="2077999"/>
                    </a:lnTo>
                    <a:cubicBezTo>
                      <a:pt x="28997" y="2077999"/>
                      <a:pt x="18960" y="2073841"/>
                      <a:pt x="11559" y="2066440"/>
                    </a:cubicBezTo>
                    <a:cubicBezTo>
                      <a:pt x="4158" y="2059039"/>
                      <a:pt x="0" y="2049002"/>
                      <a:pt x="0" y="2038535"/>
                    </a:cubicBezTo>
                    <a:lnTo>
                      <a:pt x="0" y="39464"/>
                    </a:lnTo>
                    <a:cubicBezTo>
                      <a:pt x="0" y="28997"/>
                      <a:pt x="4158" y="18960"/>
                      <a:pt x="11559" y="11559"/>
                    </a:cubicBezTo>
                    <a:cubicBezTo>
                      <a:pt x="18960" y="4158"/>
                      <a:pt x="28997" y="0"/>
                      <a:pt x="39464" y="0"/>
                    </a:cubicBezTo>
                    <a:close/>
                  </a:path>
                </a:pathLst>
              </a:custGeom>
              <a:solidFill>
                <a:srgbClr val="FFFFFF"/>
              </a:solidFill>
              <a:ln w="66675" cap="rnd">
                <a:solidFill>
                  <a:srgbClr val="F8D389"/>
                </a:solidFill>
                <a:prstDash val="solid"/>
                <a:round/>
              </a:ln>
            </p:spPr>
            <p:txBody>
              <a:bodyPr/>
              <a:lstStyle/>
              <a:p>
                <a:endParaRPr lang="en-US" sz="3200"/>
              </a:p>
            </p:txBody>
          </p:sp>
          <p:sp>
            <p:nvSpPr>
              <p:cNvPr id="20" name="TextBox 20"/>
              <p:cNvSpPr txBox="1"/>
              <p:nvPr/>
            </p:nvSpPr>
            <p:spPr>
              <a:xfrm>
                <a:off x="82406" y="120803"/>
                <a:ext cx="9504788" cy="2116099"/>
              </a:xfrm>
              <a:prstGeom prst="rect">
                <a:avLst/>
              </a:prstGeom>
            </p:spPr>
            <p:txBody>
              <a:bodyPr lIns="50800" tIns="50800" rIns="50800" bIns="50800" rtlCol="0" anchor="ctr"/>
              <a:lstStyle/>
              <a:p>
                <a:pPr algn="ctr">
                  <a:lnSpc>
                    <a:spcPts val="2755"/>
                  </a:lnSpc>
                  <a:spcBef>
                    <a:spcPct val="0"/>
                  </a:spcBef>
                </a:pPr>
                <a:endParaRPr sz="3200"/>
              </a:p>
            </p:txBody>
          </p:sp>
        </p:grpSp>
        <p:sp>
          <p:nvSpPr>
            <p:cNvPr id="21" name="TextBox 21"/>
            <p:cNvSpPr txBox="1"/>
            <p:nvPr/>
          </p:nvSpPr>
          <p:spPr>
            <a:xfrm>
              <a:off x="665847" y="137449"/>
              <a:ext cx="6685450" cy="860387"/>
            </a:xfrm>
            <a:prstGeom prst="rect">
              <a:avLst/>
            </a:prstGeom>
          </p:spPr>
          <p:txBody>
            <a:bodyPr wrap="square" lIns="0" tIns="0" rIns="0" bIns="0" rtlCol="0" anchor="t">
              <a:spAutoFit/>
            </a:bodyPr>
            <a:lstStyle/>
            <a:p>
              <a:pPr>
                <a:lnSpc>
                  <a:spcPts val="3920"/>
                </a:lnSpc>
                <a:spcBef>
                  <a:spcPct val="0"/>
                </a:spcBef>
              </a:pPr>
              <a:r>
                <a:rPr lang="en-US" sz="3200" dirty="0">
                  <a:solidFill>
                    <a:srgbClr val="343432"/>
                  </a:solidFill>
                  <a:ea typeface="Montserrat" panose="00000500000000000000"/>
                  <a:cs typeface="Montserrat" panose="00000500000000000000"/>
                  <a:sym typeface="Montserrat" panose="00000500000000000000"/>
                </a:rPr>
                <a:t>Lưu </a:t>
              </a:r>
              <a:r>
                <a:rPr lang="en-US" sz="3200" dirty="0" err="1">
                  <a:solidFill>
                    <a:srgbClr val="343432"/>
                  </a:solidFill>
                  <a:ea typeface="Montserrat" panose="00000500000000000000"/>
                  <a:cs typeface="Montserrat" panose="00000500000000000000"/>
                  <a:sym typeface="Montserrat" panose="00000500000000000000"/>
                </a:rPr>
                <a:t>đồ</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thuật</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toán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sơ</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đồ</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khối</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sơ</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đồ</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kết</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nối</a:t>
              </a:r>
              <a:r>
                <a:rPr lang="en-US" sz="3200" dirty="0">
                  <a:solidFill>
                    <a:srgbClr val="343432"/>
                  </a:solidFill>
                  <a:ea typeface="Montserrat" panose="00000500000000000000"/>
                  <a:cs typeface="Montserrat" panose="00000500000000000000"/>
                  <a:sym typeface="Montserrat" panose="00000500000000000000"/>
                </a:rPr>
                <a:t> </a:t>
              </a:r>
            </a:p>
          </p:txBody>
        </p:sp>
        <p:sp>
          <p:nvSpPr>
            <p:cNvPr id="22" name="TextBox 22"/>
            <p:cNvSpPr txBox="1"/>
            <p:nvPr/>
          </p:nvSpPr>
          <p:spPr>
            <a:xfrm>
              <a:off x="665847" y="1234074"/>
              <a:ext cx="5129088" cy="425929"/>
            </a:xfrm>
            <a:prstGeom prst="rect">
              <a:avLst/>
            </a:prstGeom>
          </p:spPr>
          <p:txBody>
            <a:bodyPr wrap="square" lIns="0" tIns="0" rIns="0" bIns="0" rtlCol="0" anchor="t">
              <a:spAutoFit/>
            </a:bodyPr>
            <a:lstStyle/>
            <a:p>
              <a:pPr>
                <a:lnSpc>
                  <a:spcPts val="3920"/>
                </a:lnSpc>
                <a:spcBef>
                  <a:spcPct val="0"/>
                </a:spcBef>
              </a:pPr>
              <a:r>
                <a:rPr lang="en-US" sz="3200" dirty="0" err="1">
                  <a:solidFill>
                    <a:srgbClr val="343432"/>
                  </a:solidFill>
                  <a:ea typeface="Montserrat" panose="00000500000000000000"/>
                  <a:cs typeface="Montserrat" panose="00000500000000000000"/>
                  <a:sym typeface="Montserrat" panose="00000500000000000000"/>
                </a:rPr>
                <a:t>Phần</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lập</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trình</a:t>
              </a:r>
              <a:endParaRPr lang="en-US" sz="3200" dirty="0">
                <a:solidFill>
                  <a:srgbClr val="343432"/>
                </a:solidFill>
                <a:ea typeface="Montserrat" panose="00000500000000000000"/>
                <a:cs typeface="Montserrat" panose="00000500000000000000"/>
                <a:sym typeface="Montserrat" panose="00000500000000000000"/>
              </a:endParaRPr>
            </a:p>
          </p:txBody>
        </p:sp>
      </p:grpSp>
      <p:grpSp>
        <p:nvGrpSpPr>
          <p:cNvPr id="23" name="Group 23"/>
          <p:cNvGrpSpPr/>
          <p:nvPr/>
        </p:nvGrpSpPr>
        <p:grpSpPr>
          <a:xfrm>
            <a:off x="10954095" y="3026386"/>
            <a:ext cx="6277688" cy="1372469"/>
            <a:chOff x="0" y="0"/>
            <a:chExt cx="8370250" cy="1829959"/>
          </a:xfrm>
        </p:grpSpPr>
        <p:grpSp>
          <p:nvGrpSpPr>
            <p:cNvPr id="24" name="Group 24"/>
            <p:cNvGrpSpPr/>
            <p:nvPr/>
          </p:nvGrpSpPr>
          <p:grpSpPr>
            <a:xfrm>
              <a:off x="0" y="0"/>
              <a:ext cx="8370250" cy="1829959"/>
              <a:chOff x="0" y="0"/>
              <a:chExt cx="9504788" cy="2077999"/>
            </a:xfrm>
          </p:grpSpPr>
          <p:sp>
            <p:nvSpPr>
              <p:cNvPr id="25" name="Freeform 25"/>
              <p:cNvSpPr/>
              <p:nvPr/>
            </p:nvSpPr>
            <p:spPr>
              <a:xfrm>
                <a:off x="0" y="0"/>
                <a:ext cx="9504787" cy="2077999"/>
              </a:xfrm>
              <a:custGeom>
                <a:avLst/>
                <a:gdLst/>
                <a:ahLst/>
                <a:cxnLst/>
                <a:rect l="l" t="t" r="r" b="b"/>
                <a:pathLst>
                  <a:path w="9504787" h="2077999">
                    <a:moveTo>
                      <a:pt x="39464" y="0"/>
                    </a:moveTo>
                    <a:lnTo>
                      <a:pt x="9465324" y="0"/>
                    </a:lnTo>
                    <a:cubicBezTo>
                      <a:pt x="9475790" y="0"/>
                      <a:pt x="9485828" y="4158"/>
                      <a:pt x="9493228" y="11559"/>
                    </a:cubicBezTo>
                    <a:cubicBezTo>
                      <a:pt x="9500629" y="18960"/>
                      <a:pt x="9504787" y="28997"/>
                      <a:pt x="9504787" y="39464"/>
                    </a:cubicBezTo>
                    <a:lnTo>
                      <a:pt x="9504787" y="2038535"/>
                    </a:lnTo>
                    <a:cubicBezTo>
                      <a:pt x="9504787" y="2049002"/>
                      <a:pt x="9500629" y="2059039"/>
                      <a:pt x="9493228" y="2066440"/>
                    </a:cubicBezTo>
                    <a:cubicBezTo>
                      <a:pt x="9485828" y="2073841"/>
                      <a:pt x="9475790" y="2077999"/>
                      <a:pt x="9465324" y="2077999"/>
                    </a:cubicBezTo>
                    <a:lnTo>
                      <a:pt x="39464" y="2077999"/>
                    </a:lnTo>
                    <a:cubicBezTo>
                      <a:pt x="28997" y="2077999"/>
                      <a:pt x="18960" y="2073841"/>
                      <a:pt x="11559" y="2066440"/>
                    </a:cubicBezTo>
                    <a:cubicBezTo>
                      <a:pt x="4158" y="2059039"/>
                      <a:pt x="0" y="2049002"/>
                      <a:pt x="0" y="2038535"/>
                    </a:cubicBezTo>
                    <a:lnTo>
                      <a:pt x="0" y="39464"/>
                    </a:lnTo>
                    <a:cubicBezTo>
                      <a:pt x="0" y="28997"/>
                      <a:pt x="4158" y="18960"/>
                      <a:pt x="11559" y="11559"/>
                    </a:cubicBezTo>
                    <a:cubicBezTo>
                      <a:pt x="18960" y="4158"/>
                      <a:pt x="28997" y="0"/>
                      <a:pt x="39464" y="0"/>
                    </a:cubicBezTo>
                    <a:close/>
                  </a:path>
                </a:pathLst>
              </a:custGeom>
              <a:solidFill>
                <a:srgbClr val="FFFFFF"/>
              </a:solidFill>
              <a:ln w="66675" cap="rnd">
                <a:solidFill>
                  <a:srgbClr val="F8B27C"/>
                </a:solidFill>
                <a:prstDash val="solid"/>
                <a:round/>
              </a:ln>
            </p:spPr>
            <p:txBody>
              <a:bodyPr/>
              <a:lstStyle/>
              <a:p>
                <a:endParaRPr lang="en-US" sz="3200"/>
              </a:p>
            </p:txBody>
          </p:sp>
          <p:sp>
            <p:nvSpPr>
              <p:cNvPr id="26" name="TextBox 26"/>
              <p:cNvSpPr txBox="1"/>
              <p:nvPr/>
            </p:nvSpPr>
            <p:spPr>
              <a:xfrm>
                <a:off x="0" y="-38100"/>
                <a:ext cx="9504788" cy="2116099"/>
              </a:xfrm>
              <a:prstGeom prst="rect">
                <a:avLst/>
              </a:prstGeom>
            </p:spPr>
            <p:txBody>
              <a:bodyPr lIns="50800" tIns="50800" rIns="50800" bIns="50800" rtlCol="0" anchor="ctr"/>
              <a:lstStyle/>
              <a:p>
                <a:pPr algn="ctr">
                  <a:lnSpc>
                    <a:spcPts val="2755"/>
                  </a:lnSpc>
                  <a:spcBef>
                    <a:spcPct val="0"/>
                  </a:spcBef>
                </a:pPr>
                <a:endParaRPr sz="3200"/>
              </a:p>
            </p:txBody>
          </p:sp>
        </p:grpSp>
        <p:sp>
          <p:nvSpPr>
            <p:cNvPr id="27" name="TextBox 27"/>
            <p:cNvSpPr txBox="1"/>
            <p:nvPr/>
          </p:nvSpPr>
          <p:spPr>
            <a:xfrm>
              <a:off x="506184" y="584568"/>
              <a:ext cx="6880285" cy="644621"/>
            </a:xfrm>
            <a:prstGeom prst="rect">
              <a:avLst/>
            </a:prstGeom>
          </p:spPr>
          <p:txBody>
            <a:bodyPr wrap="square" lIns="0" tIns="0" rIns="0" bIns="0" rtlCol="0" anchor="t">
              <a:spAutoFit/>
            </a:bodyPr>
            <a:lstStyle/>
            <a:p>
              <a:pPr>
                <a:lnSpc>
                  <a:spcPts val="3920"/>
                </a:lnSpc>
                <a:spcBef>
                  <a:spcPct val="0"/>
                </a:spcBef>
              </a:pPr>
              <a:r>
                <a:rPr lang="en-US" sz="3200" dirty="0" err="1">
                  <a:solidFill>
                    <a:srgbClr val="343432"/>
                  </a:solidFill>
                  <a:ea typeface="Montserrat" panose="00000500000000000000"/>
                  <a:cs typeface="Montserrat" panose="00000500000000000000"/>
                  <a:sym typeface="Montserrat" panose="00000500000000000000"/>
                </a:rPr>
                <a:t>Ưu</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điểm</a:t>
              </a:r>
              <a:r>
                <a:rPr lang="en-US" sz="3200" dirty="0">
                  <a:solidFill>
                    <a:srgbClr val="343432"/>
                  </a:solidFill>
                  <a:ea typeface="Montserrat" panose="00000500000000000000"/>
                  <a:cs typeface="Montserrat" panose="00000500000000000000"/>
                  <a:sym typeface="Montserrat" panose="00000500000000000000"/>
                </a:rPr>
                <a:t> &amp; </a:t>
              </a:r>
              <a:r>
                <a:rPr lang="en-US" sz="3200" dirty="0" err="1">
                  <a:solidFill>
                    <a:srgbClr val="343432"/>
                  </a:solidFill>
                  <a:ea typeface="Montserrat" panose="00000500000000000000"/>
                  <a:cs typeface="Montserrat" panose="00000500000000000000"/>
                  <a:sym typeface="Montserrat" panose="00000500000000000000"/>
                </a:rPr>
                <a:t>Nhược</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điểm</a:t>
              </a:r>
              <a:endParaRPr lang="en-US" sz="3200" dirty="0">
                <a:solidFill>
                  <a:srgbClr val="343432"/>
                </a:solidFill>
                <a:ea typeface="Montserrat" panose="00000500000000000000"/>
                <a:cs typeface="Montserrat" panose="00000500000000000000"/>
                <a:sym typeface="Montserrat" panose="00000500000000000000"/>
              </a:endParaRPr>
            </a:p>
          </p:txBody>
        </p:sp>
      </p:grpSp>
      <p:grpSp>
        <p:nvGrpSpPr>
          <p:cNvPr id="28" name="Group 28"/>
          <p:cNvGrpSpPr/>
          <p:nvPr/>
        </p:nvGrpSpPr>
        <p:grpSpPr>
          <a:xfrm>
            <a:off x="10954095" y="5461621"/>
            <a:ext cx="6277688" cy="1372469"/>
            <a:chOff x="0" y="0"/>
            <a:chExt cx="8370250" cy="1829959"/>
          </a:xfrm>
        </p:grpSpPr>
        <p:sp>
          <p:nvSpPr>
            <p:cNvPr id="29" name="Freeform 29"/>
            <p:cNvSpPr/>
            <p:nvPr/>
          </p:nvSpPr>
          <p:spPr>
            <a:xfrm rot="-10800000">
              <a:off x="61050" y="271313"/>
              <a:ext cx="7219585" cy="830364"/>
            </a:xfrm>
            <a:custGeom>
              <a:avLst/>
              <a:gdLst/>
              <a:ahLst/>
              <a:cxnLst/>
              <a:rect l="l" t="t" r="r" b="b"/>
              <a:pathLst>
                <a:path w="7219585" h="830364">
                  <a:moveTo>
                    <a:pt x="0" y="0"/>
                  </a:moveTo>
                  <a:lnTo>
                    <a:pt x="7219585" y="0"/>
                  </a:lnTo>
                  <a:lnTo>
                    <a:pt x="7219585" y="830364"/>
                  </a:lnTo>
                  <a:lnTo>
                    <a:pt x="0" y="830364"/>
                  </a:lnTo>
                  <a:lnTo>
                    <a:pt x="0" y="0"/>
                  </a:lnTo>
                  <a:close/>
                </a:path>
              </a:pathLst>
            </a:custGeom>
            <a:blipFill>
              <a:blip r:embed="rId2">
                <a:alphaModFix amt="72000"/>
              </a:blip>
              <a:stretch>
                <a:fillRect b="-149966"/>
              </a:stretch>
            </a:blipFill>
          </p:spPr>
          <p:txBody>
            <a:bodyPr/>
            <a:lstStyle/>
            <a:p>
              <a:endParaRPr lang="en-US" sz="3200"/>
            </a:p>
          </p:txBody>
        </p:sp>
        <p:grpSp>
          <p:nvGrpSpPr>
            <p:cNvPr id="30" name="Group 30"/>
            <p:cNvGrpSpPr/>
            <p:nvPr/>
          </p:nvGrpSpPr>
          <p:grpSpPr>
            <a:xfrm>
              <a:off x="0" y="0"/>
              <a:ext cx="8370250" cy="1829959"/>
              <a:chOff x="0" y="0"/>
              <a:chExt cx="9504788" cy="2077999"/>
            </a:xfrm>
          </p:grpSpPr>
          <p:sp>
            <p:nvSpPr>
              <p:cNvPr id="31" name="Freeform 31"/>
              <p:cNvSpPr/>
              <p:nvPr/>
            </p:nvSpPr>
            <p:spPr>
              <a:xfrm>
                <a:off x="0" y="0"/>
                <a:ext cx="9504787" cy="2077999"/>
              </a:xfrm>
              <a:custGeom>
                <a:avLst/>
                <a:gdLst/>
                <a:ahLst/>
                <a:cxnLst/>
                <a:rect l="l" t="t" r="r" b="b"/>
                <a:pathLst>
                  <a:path w="9504787" h="2077999">
                    <a:moveTo>
                      <a:pt x="39464" y="0"/>
                    </a:moveTo>
                    <a:lnTo>
                      <a:pt x="9465324" y="0"/>
                    </a:lnTo>
                    <a:cubicBezTo>
                      <a:pt x="9475790" y="0"/>
                      <a:pt x="9485828" y="4158"/>
                      <a:pt x="9493228" y="11559"/>
                    </a:cubicBezTo>
                    <a:cubicBezTo>
                      <a:pt x="9500629" y="18960"/>
                      <a:pt x="9504787" y="28997"/>
                      <a:pt x="9504787" y="39464"/>
                    </a:cubicBezTo>
                    <a:lnTo>
                      <a:pt x="9504787" y="2038535"/>
                    </a:lnTo>
                    <a:cubicBezTo>
                      <a:pt x="9504787" y="2049002"/>
                      <a:pt x="9500629" y="2059039"/>
                      <a:pt x="9493228" y="2066440"/>
                    </a:cubicBezTo>
                    <a:cubicBezTo>
                      <a:pt x="9485828" y="2073841"/>
                      <a:pt x="9475790" y="2077999"/>
                      <a:pt x="9465324" y="2077999"/>
                    </a:cubicBezTo>
                    <a:lnTo>
                      <a:pt x="39464" y="2077999"/>
                    </a:lnTo>
                    <a:cubicBezTo>
                      <a:pt x="28997" y="2077999"/>
                      <a:pt x="18960" y="2073841"/>
                      <a:pt x="11559" y="2066440"/>
                    </a:cubicBezTo>
                    <a:cubicBezTo>
                      <a:pt x="4158" y="2059039"/>
                      <a:pt x="0" y="2049002"/>
                      <a:pt x="0" y="2038535"/>
                    </a:cubicBezTo>
                    <a:lnTo>
                      <a:pt x="0" y="39464"/>
                    </a:lnTo>
                    <a:cubicBezTo>
                      <a:pt x="0" y="28997"/>
                      <a:pt x="4158" y="18960"/>
                      <a:pt x="11559" y="11559"/>
                    </a:cubicBezTo>
                    <a:cubicBezTo>
                      <a:pt x="18960" y="4158"/>
                      <a:pt x="28997" y="0"/>
                      <a:pt x="39464" y="0"/>
                    </a:cubicBezTo>
                    <a:close/>
                  </a:path>
                </a:pathLst>
              </a:custGeom>
              <a:solidFill>
                <a:srgbClr val="FFFFFF"/>
              </a:solidFill>
              <a:ln w="66675" cap="rnd">
                <a:solidFill>
                  <a:srgbClr val="FF8379"/>
                </a:solidFill>
                <a:prstDash val="solid"/>
                <a:round/>
              </a:ln>
            </p:spPr>
            <p:txBody>
              <a:bodyPr/>
              <a:lstStyle/>
              <a:p>
                <a:endParaRPr lang="en-US" sz="3200"/>
              </a:p>
            </p:txBody>
          </p:sp>
          <p:sp>
            <p:nvSpPr>
              <p:cNvPr id="32" name="TextBox 32"/>
              <p:cNvSpPr txBox="1"/>
              <p:nvPr/>
            </p:nvSpPr>
            <p:spPr>
              <a:xfrm>
                <a:off x="0" y="-38100"/>
                <a:ext cx="9504788" cy="2116099"/>
              </a:xfrm>
              <a:prstGeom prst="rect">
                <a:avLst/>
              </a:prstGeom>
            </p:spPr>
            <p:txBody>
              <a:bodyPr lIns="50800" tIns="50800" rIns="50800" bIns="50800" rtlCol="0" anchor="ctr"/>
              <a:lstStyle/>
              <a:p>
                <a:pPr algn="ctr">
                  <a:lnSpc>
                    <a:spcPts val="2755"/>
                  </a:lnSpc>
                  <a:spcBef>
                    <a:spcPct val="0"/>
                  </a:spcBef>
                </a:pPr>
                <a:endParaRPr sz="3200"/>
              </a:p>
            </p:txBody>
          </p:sp>
        </p:grpSp>
        <p:sp>
          <p:nvSpPr>
            <p:cNvPr id="33" name="TextBox 33"/>
            <p:cNvSpPr txBox="1"/>
            <p:nvPr/>
          </p:nvSpPr>
          <p:spPr>
            <a:xfrm>
              <a:off x="560397" y="254368"/>
              <a:ext cx="6996375" cy="644621"/>
            </a:xfrm>
            <a:prstGeom prst="rect">
              <a:avLst/>
            </a:prstGeom>
          </p:spPr>
          <p:txBody>
            <a:bodyPr wrap="square" lIns="0" tIns="0" rIns="0" bIns="0" rtlCol="0" anchor="t">
              <a:spAutoFit/>
            </a:bodyPr>
            <a:lstStyle/>
            <a:p>
              <a:pPr>
                <a:lnSpc>
                  <a:spcPts val="3920"/>
                </a:lnSpc>
                <a:spcBef>
                  <a:spcPct val="0"/>
                </a:spcBef>
              </a:pPr>
              <a:r>
                <a:rPr lang="en-US" sz="3200" dirty="0" err="1">
                  <a:solidFill>
                    <a:srgbClr val="343432"/>
                  </a:solidFill>
                  <a:ea typeface="Montserrat" panose="00000500000000000000"/>
                  <a:cs typeface="Montserrat" panose="00000500000000000000"/>
                  <a:sym typeface="Montserrat" panose="00000500000000000000"/>
                </a:rPr>
                <a:t>Kết</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luận</a:t>
              </a:r>
              <a:r>
                <a:rPr lang="en-US" sz="3200" dirty="0">
                  <a:solidFill>
                    <a:srgbClr val="343432"/>
                  </a:solidFill>
                  <a:ea typeface="Montserrat" panose="00000500000000000000"/>
                  <a:cs typeface="Montserrat" panose="00000500000000000000"/>
                  <a:sym typeface="Montserrat" panose="00000500000000000000"/>
                </a:rPr>
                <a:t> &amp; </a:t>
              </a:r>
              <a:r>
                <a:rPr lang="en-US" sz="3200" dirty="0" err="1">
                  <a:solidFill>
                    <a:srgbClr val="343432"/>
                  </a:solidFill>
                  <a:ea typeface="Montserrat" panose="00000500000000000000"/>
                  <a:cs typeface="Montserrat" panose="00000500000000000000"/>
                  <a:sym typeface="Montserrat" panose="00000500000000000000"/>
                </a:rPr>
                <a:t>Hướng</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phát</a:t>
              </a:r>
              <a:r>
                <a:rPr lang="en-US" sz="3200" dirty="0">
                  <a:solidFill>
                    <a:srgbClr val="343432"/>
                  </a:solidFill>
                  <a:ea typeface="Montserrat" panose="00000500000000000000"/>
                  <a:cs typeface="Montserrat" panose="00000500000000000000"/>
                  <a:sym typeface="Montserrat" panose="00000500000000000000"/>
                </a:rPr>
                <a:t> </a:t>
              </a:r>
              <a:r>
                <a:rPr lang="en-US" sz="3200" dirty="0" err="1">
                  <a:solidFill>
                    <a:srgbClr val="343432"/>
                  </a:solidFill>
                  <a:ea typeface="Montserrat" panose="00000500000000000000"/>
                  <a:cs typeface="Montserrat" panose="00000500000000000000"/>
                  <a:sym typeface="Montserrat" panose="00000500000000000000"/>
                </a:rPr>
                <a:t>triển</a:t>
              </a:r>
              <a:endParaRPr lang="en-US" sz="3200" dirty="0">
                <a:solidFill>
                  <a:srgbClr val="343432"/>
                </a:solidFill>
                <a:ea typeface="Montserrat" panose="00000500000000000000"/>
                <a:cs typeface="Montserrat" panose="00000500000000000000"/>
                <a:sym typeface="Montserrat" panose="00000500000000000000"/>
              </a:endParaRPr>
            </a:p>
          </p:txBody>
        </p:sp>
      </p:grpSp>
      <p:sp>
        <p:nvSpPr>
          <p:cNvPr id="34" name="Oval 33">
            <a:extLst>
              <a:ext uri="{FF2B5EF4-FFF2-40B4-BE49-F238E27FC236}">
                <a16:creationId xmlns:a16="http://schemas.microsoft.com/office/drawing/2014/main" id="{F0143B0D-4E80-8902-4AA3-8C55C5201C3B}"/>
              </a:ext>
            </a:extLst>
          </p:cNvPr>
          <p:cNvSpPr/>
          <p:nvPr/>
        </p:nvSpPr>
        <p:spPr>
          <a:xfrm>
            <a:off x="934435" y="3397993"/>
            <a:ext cx="1081096" cy="1145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b="1" dirty="0"/>
              <a:t>1</a:t>
            </a:r>
          </a:p>
        </p:txBody>
      </p:sp>
      <p:sp>
        <p:nvSpPr>
          <p:cNvPr id="35" name="Oval 34">
            <a:extLst>
              <a:ext uri="{FF2B5EF4-FFF2-40B4-BE49-F238E27FC236}">
                <a16:creationId xmlns:a16="http://schemas.microsoft.com/office/drawing/2014/main" id="{4A3AD149-F600-8A37-EBB3-3C24C9AC52A4}"/>
              </a:ext>
            </a:extLst>
          </p:cNvPr>
          <p:cNvSpPr/>
          <p:nvPr/>
        </p:nvSpPr>
        <p:spPr>
          <a:xfrm>
            <a:off x="824375" y="5715235"/>
            <a:ext cx="1081096" cy="1145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b="1" dirty="0"/>
              <a:t>2</a:t>
            </a:r>
          </a:p>
        </p:txBody>
      </p:sp>
      <p:sp>
        <p:nvSpPr>
          <p:cNvPr id="42" name="Oval 41">
            <a:extLst>
              <a:ext uri="{FF2B5EF4-FFF2-40B4-BE49-F238E27FC236}">
                <a16:creationId xmlns:a16="http://schemas.microsoft.com/office/drawing/2014/main" id="{47F1AEE9-7EB7-D19E-EE89-E5E773AC19D5}"/>
              </a:ext>
            </a:extLst>
          </p:cNvPr>
          <p:cNvSpPr/>
          <p:nvPr/>
        </p:nvSpPr>
        <p:spPr>
          <a:xfrm>
            <a:off x="846160" y="8237225"/>
            <a:ext cx="1081096" cy="1145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b="1" dirty="0"/>
              <a:t>3</a:t>
            </a:r>
          </a:p>
        </p:txBody>
      </p:sp>
      <p:sp>
        <p:nvSpPr>
          <p:cNvPr id="43" name="Oval 42">
            <a:extLst>
              <a:ext uri="{FF2B5EF4-FFF2-40B4-BE49-F238E27FC236}">
                <a16:creationId xmlns:a16="http://schemas.microsoft.com/office/drawing/2014/main" id="{D1B814BC-3A69-CD21-8E0E-528B39D0685C}"/>
              </a:ext>
            </a:extLst>
          </p:cNvPr>
          <p:cNvSpPr/>
          <p:nvPr/>
        </p:nvSpPr>
        <p:spPr>
          <a:xfrm>
            <a:off x="9683180" y="3172501"/>
            <a:ext cx="1081096" cy="1145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b="1" dirty="0"/>
              <a:t>4</a:t>
            </a:r>
          </a:p>
        </p:txBody>
      </p:sp>
      <p:sp>
        <p:nvSpPr>
          <p:cNvPr id="44" name="Oval 43">
            <a:extLst>
              <a:ext uri="{FF2B5EF4-FFF2-40B4-BE49-F238E27FC236}">
                <a16:creationId xmlns:a16="http://schemas.microsoft.com/office/drawing/2014/main" id="{BE8F12FA-06CA-D140-186D-86E612E70DBB}"/>
              </a:ext>
            </a:extLst>
          </p:cNvPr>
          <p:cNvSpPr/>
          <p:nvPr/>
        </p:nvSpPr>
        <p:spPr>
          <a:xfrm>
            <a:off x="9639315" y="5565413"/>
            <a:ext cx="1081096" cy="11452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b="1" dirty="0"/>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292F3-C449-AA3F-0CD8-A0C9EEEC0552}"/>
              </a:ext>
            </a:extLst>
          </p:cNvPr>
          <p:cNvSpPr>
            <a:spLocks noGrp="1"/>
          </p:cNvSpPr>
          <p:nvPr>
            <p:ph type="title"/>
          </p:nvPr>
        </p:nvSpPr>
        <p:spPr>
          <a:xfrm>
            <a:off x="914400" y="300978"/>
            <a:ext cx="16459200" cy="803922"/>
          </a:xfrm>
        </p:spPr>
        <p:txBody>
          <a:bodyPr anchor="ctr">
            <a:normAutofit fontScale="90000"/>
          </a:bodyPr>
          <a:lstStyle/>
          <a:p>
            <a:pPr algn="ctr">
              <a:lnSpc>
                <a:spcPct val="90000"/>
              </a:lnSpc>
            </a:pPr>
            <a:r>
              <a:rPr lang="en-US" b="1" dirty="0">
                <a:ln w="0"/>
                <a:latin typeface="+mn-lt"/>
              </a:rPr>
              <a:t>TỔNG QUAN VỀ CẢM BIẾN VÀ CƠ CẤU CHẤP HÀNH</a:t>
            </a:r>
            <a:endParaRPr lang="en-US" b="1" cap="none" dirty="0">
              <a:ln w="0"/>
              <a:latin typeface="+mn-lt"/>
            </a:endParaRPr>
          </a:p>
        </p:txBody>
      </p:sp>
      <p:sp>
        <p:nvSpPr>
          <p:cNvPr id="3" name="Content Placeholder 2">
            <a:extLst>
              <a:ext uri="{FF2B5EF4-FFF2-40B4-BE49-F238E27FC236}">
                <a16:creationId xmlns:a16="http://schemas.microsoft.com/office/drawing/2014/main" id="{1158C04B-0515-854D-9C85-FE1531695158}"/>
              </a:ext>
            </a:extLst>
          </p:cNvPr>
          <p:cNvSpPr>
            <a:spLocks noGrp="1"/>
          </p:cNvSpPr>
          <p:nvPr>
            <p:ph sz="half" idx="1"/>
          </p:nvPr>
        </p:nvSpPr>
        <p:spPr>
          <a:xfrm>
            <a:off x="228600" y="1104900"/>
            <a:ext cx="17830800" cy="4038600"/>
          </a:xfrm>
          <a:ln/>
        </p:spPr>
        <p:style>
          <a:lnRef idx="2">
            <a:schemeClr val="dk1"/>
          </a:lnRef>
          <a:fillRef idx="1">
            <a:schemeClr val="lt1"/>
          </a:fillRef>
          <a:effectRef idx="0">
            <a:schemeClr val="dk1"/>
          </a:effectRef>
          <a:fontRef idx="minor">
            <a:schemeClr val="dk1"/>
          </a:fontRef>
        </p:style>
        <p:txBody>
          <a:bodyPr>
            <a:noAutofit/>
          </a:bodyPr>
          <a:lstStyle/>
          <a:p>
            <a:pPr marL="0" indent="0">
              <a:buNone/>
              <a:defRPr sz="2000">
                <a:solidFill>
                  <a:srgbClr val="232D3C"/>
                </a:solidFill>
                <a:latin typeface="Montserrat"/>
              </a:defRPr>
            </a:pPr>
            <a:r>
              <a:rPr lang="vi-VN" sz="2800" dirty="0"/>
              <a:t>Cảm biến và cơ cấu chấp hành là hai thành phần cốt lõi trong các hệ thống đo lường, giám sát an toàn và điều khiển tự động.</a:t>
            </a:r>
            <a:br>
              <a:rPr lang="vi-VN" sz="2800" dirty="0"/>
            </a:br>
            <a:br>
              <a:rPr lang="vi-VN" sz="2800" dirty="0"/>
            </a:br>
            <a:r>
              <a:rPr lang="vi-VN" sz="2800" dirty="0"/>
              <a:t>• CẢM BIẾN (Sensors) đóng vai trò là 'Giác quan' của hệ thống: Chuyển đổi các đại lượng vật lý từ môi trường (như rung chấn địa chấn, bức xạ ngọn lửa, nhiệt độ không khí) thành tín hiệu điện tử chuẩn để vi điều khiển xử lý.</a:t>
            </a:r>
            <a:br>
              <a:rPr lang="vi-VN" sz="2800" dirty="0"/>
            </a:br>
            <a:br>
              <a:rPr lang="vi-VN" sz="2800" dirty="0"/>
            </a:br>
            <a:r>
              <a:rPr lang="vi-VN" sz="2800" dirty="0"/>
              <a:t>• CƠ CẤU CHẤP HÀNH (Actuators) đóng vai trò là 'Hành động và Tiếng nói': Nhận lệnh xử lý từ vi điều khiển để tác động trực tiếp (phát còi hú khẩn cấp, nháy đèn cảnh báo thoát nạn, hiển thị thông số LCD và gửi bản tin cứu nạn qua Internet).</a:t>
            </a:r>
          </a:p>
        </p:txBody>
      </p:sp>
      <p:pic>
        <p:nvPicPr>
          <p:cNvPr id="2050" name="Picture 2" descr="Cảm biến IoT và cơ cấu chấp hành IoT là gì ? – Smart Industry V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143500"/>
            <a:ext cx="17830800" cy="51372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98816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8"/>
          <p:cNvSpPr txBox="1"/>
          <p:nvPr/>
        </p:nvSpPr>
        <p:spPr>
          <a:xfrm>
            <a:off x="3496531" y="312742"/>
            <a:ext cx="11294938" cy="852156"/>
          </a:xfrm>
          <a:prstGeom prst="rect">
            <a:avLst/>
          </a:prstGeom>
        </p:spPr>
        <p:style>
          <a:lnRef idx="2">
            <a:schemeClr val="accent1"/>
          </a:lnRef>
          <a:fillRef idx="1">
            <a:schemeClr val="lt1"/>
          </a:fillRef>
          <a:effectRef idx="0">
            <a:schemeClr val="accent1"/>
          </a:effectRef>
          <a:fontRef idx="minor">
            <a:schemeClr val="dk1"/>
          </a:fontRef>
        </p:style>
        <p:txBody>
          <a:bodyPr lIns="0" tIns="0" rIns="0" bIns="0" rtlCol="0" anchor="t">
            <a:spAutoFit/>
          </a:bodyPr>
          <a:lstStyle/>
          <a:p>
            <a:pPr algn="ctr">
              <a:lnSpc>
                <a:spcPts val="7075"/>
              </a:lnSpc>
            </a:pPr>
            <a:r>
              <a:rPr lang="en-US" sz="5000" b="1" dirty="0">
                <a:ln w="0"/>
                <a:solidFill>
                  <a:schemeClr val="tx1"/>
                </a:solidFill>
                <a:effectLst>
                  <a:outerShdw blurRad="38100" dist="19050" dir="2700000" algn="tl" rotWithShape="0">
                    <a:schemeClr val="dk1">
                      <a:alpha val="40000"/>
                    </a:schemeClr>
                  </a:outerShdw>
                </a:effectLst>
                <a:ea typeface="Montserrat Bold" panose="00000800000000000000"/>
                <a:cs typeface="Montserrat Bold" panose="00000800000000000000"/>
                <a:sym typeface="Montserrat Bold" panose="00000800000000000000"/>
              </a:rPr>
              <a:t>TỔNG QUAN VỀ ESP32</a:t>
            </a:r>
          </a:p>
        </p:txBody>
      </p:sp>
      <p:sp>
        <p:nvSpPr>
          <p:cNvPr id="7" name="AutoShape 4" descr="Arduino Micro with Headers | Compact USB Dev Board — Arduino Official Store"/>
          <p:cNvSpPr>
            <a:spLocks noChangeAspect="1" noChangeArrowheads="1"/>
          </p:cNvSpPr>
          <p:nvPr/>
        </p:nvSpPr>
        <p:spPr bwMode="auto">
          <a:xfrm>
            <a:off x="155576" y="-144463"/>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sp>
        <p:nvSpPr>
          <p:cNvPr id="8" name="AutoShape 6" descr="Arduino Micro with Headers | Compact USB Dev Board — Arduino Official Store"/>
          <p:cNvSpPr>
            <a:spLocks noChangeAspect="1" noChangeArrowheads="1"/>
          </p:cNvSpPr>
          <p:nvPr/>
        </p:nvSpPr>
        <p:spPr bwMode="auto">
          <a:xfrm>
            <a:off x="307976" y="7940"/>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pic>
        <p:nvPicPr>
          <p:cNvPr id="13" name="Picture 12">
            <a:extLst>
              <a:ext uri="{FF2B5EF4-FFF2-40B4-BE49-F238E27FC236}">
                <a16:creationId xmlns:a16="http://schemas.microsoft.com/office/drawing/2014/main" id="{1A06AD9E-F7CB-72A0-AABA-D7658B8AF865}"/>
              </a:ext>
            </a:extLst>
          </p:cNvPr>
          <p:cNvPicPr>
            <a:picLocks noChangeAspect="1"/>
          </p:cNvPicPr>
          <p:nvPr/>
        </p:nvPicPr>
        <p:blipFill>
          <a:blip r:embed="rId2"/>
          <a:stretch>
            <a:fillRect/>
          </a:stretch>
        </p:blipFill>
        <p:spPr>
          <a:xfrm>
            <a:off x="1752601" y="2171700"/>
            <a:ext cx="148590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5248"/>
            <a:ext cx="18288000" cy="861774"/>
          </a:xfrm>
          <a:prstGeom prst="rect">
            <a:avLst/>
          </a:prstGeom>
          <a:solidFill>
            <a:schemeClr val="bg1"/>
          </a:solidFill>
          <a:ln>
            <a:solidFill>
              <a:schemeClr val="bg1"/>
            </a:solidFill>
          </a:ln>
        </p:spPr>
        <p:txBody>
          <a:bodyPr wrap="square" rtlCol="0">
            <a:spAutoFit/>
          </a:bodyPr>
          <a:lstStyle/>
          <a:p>
            <a:pPr algn="ctr"/>
            <a:r>
              <a:rPr lang="en-US" sz="5000" b="1" dirty="0">
                <a:ln w="0"/>
                <a:effectLst>
                  <a:outerShdw blurRad="38100" dist="19050" dir="2700000" algn="tl" rotWithShape="0">
                    <a:schemeClr val="dk1">
                      <a:alpha val="40000"/>
                    </a:schemeClr>
                  </a:outerShdw>
                </a:effectLst>
              </a:rPr>
              <a:t>MỘT SỐ LOẠI CẢM BIẾN THƯỜNG GẶP</a:t>
            </a:r>
            <a:endParaRPr lang="vi-VN" sz="5000" b="1" dirty="0">
              <a:ln w="0"/>
              <a:effectLst>
                <a:outerShdw blurRad="38100" dist="19050" dir="2700000" algn="tl" rotWithShape="0">
                  <a:schemeClr val="dk1">
                    <a:alpha val="40000"/>
                  </a:schemeClr>
                </a:outerShdw>
              </a:effectLst>
            </a:endParaRPr>
          </a:p>
        </p:txBody>
      </p:sp>
      <p:sp>
        <p:nvSpPr>
          <p:cNvPr id="3" name="TextBox 2"/>
          <p:cNvSpPr txBox="1"/>
          <p:nvPr/>
        </p:nvSpPr>
        <p:spPr>
          <a:xfrm>
            <a:off x="-67662" y="4436381"/>
            <a:ext cx="5105400" cy="954107"/>
          </a:xfrm>
          <a:prstGeom prst="rect">
            <a:avLst/>
          </a:prstGeom>
          <a:noFill/>
        </p:spPr>
        <p:txBody>
          <a:bodyPr wrap="square" rtlCol="0">
            <a:spAutoFit/>
          </a:bodyPr>
          <a:lstStyle/>
          <a:p>
            <a:pPr algn="ctr"/>
            <a:r>
              <a:rPr lang="en-US" sz="2800" b="1" dirty="0" err="1"/>
              <a:t>Cảm</a:t>
            </a:r>
            <a:r>
              <a:rPr lang="en-US" sz="2800" b="1" dirty="0"/>
              <a:t> </a:t>
            </a:r>
            <a:r>
              <a:rPr lang="en-US" sz="2800" b="1" dirty="0" err="1"/>
              <a:t>biến</a:t>
            </a:r>
            <a:r>
              <a:rPr lang="en-US" sz="2800" b="1" dirty="0"/>
              <a:t> </a:t>
            </a:r>
            <a:r>
              <a:rPr lang="en-US" sz="2800" b="1" dirty="0" err="1"/>
              <a:t>gia</a:t>
            </a:r>
            <a:r>
              <a:rPr lang="en-US" sz="2800" b="1" dirty="0"/>
              <a:t> </a:t>
            </a:r>
            <a:r>
              <a:rPr lang="en-US" sz="2800" b="1" dirty="0" err="1"/>
              <a:t>tốc</a:t>
            </a:r>
            <a:r>
              <a:rPr lang="en-US" sz="2800" b="1" dirty="0"/>
              <a:t> &amp; rung </a:t>
            </a:r>
            <a:r>
              <a:rPr lang="en-US" sz="2800" b="1" dirty="0" err="1"/>
              <a:t>động</a:t>
            </a:r>
            <a:endParaRPr lang="en-US" sz="2800" b="1" dirty="0"/>
          </a:p>
          <a:p>
            <a:pPr algn="ctr"/>
            <a:r>
              <a:rPr lang="en-US" sz="2800" b="1" dirty="0"/>
              <a:t>ADXL345</a:t>
            </a:r>
            <a:endParaRPr lang="vi-VN" sz="2800" b="1" dirty="0"/>
          </a:p>
        </p:txBody>
      </p:sp>
      <p:sp>
        <p:nvSpPr>
          <p:cNvPr id="8" name="TextBox 7"/>
          <p:cNvSpPr txBox="1"/>
          <p:nvPr/>
        </p:nvSpPr>
        <p:spPr>
          <a:xfrm>
            <a:off x="6096725" y="4459582"/>
            <a:ext cx="5105400" cy="523220"/>
          </a:xfrm>
          <a:prstGeom prst="rect">
            <a:avLst/>
          </a:prstGeom>
          <a:noFill/>
        </p:spPr>
        <p:txBody>
          <a:bodyPr wrap="square" rtlCol="0">
            <a:spAutoFit/>
          </a:bodyPr>
          <a:lstStyle/>
          <a:p>
            <a:pPr algn="ctr"/>
            <a:r>
              <a:rPr lang="en-US" sz="2800" b="1" dirty="0"/>
              <a:t>DHT11</a:t>
            </a:r>
            <a:endParaRPr lang="vi-VN" sz="2800" b="1" dirty="0"/>
          </a:p>
        </p:txBody>
      </p:sp>
      <p:sp>
        <p:nvSpPr>
          <p:cNvPr id="10" name="TextBox 9"/>
          <p:cNvSpPr txBox="1"/>
          <p:nvPr/>
        </p:nvSpPr>
        <p:spPr>
          <a:xfrm>
            <a:off x="12261112" y="4291215"/>
            <a:ext cx="5105400" cy="523220"/>
          </a:xfrm>
          <a:prstGeom prst="rect">
            <a:avLst/>
          </a:prstGeom>
          <a:noFill/>
        </p:spPr>
        <p:txBody>
          <a:bodyPr wrap="square" rtlCol="0">
            <a:spAutoFit/>
          </a:bodyPr>
          <a:lstStyle/>
          <a:p>
            <a:pPr algn="ctr"/>
            <a:r>
              <a:rPr lang="en-US" sz="2800" b="1" dirty="0" err="1"/>
              <a:t>Cảm</a:t>
            </a:r>
            <a:r>
              <a:rPr lang="en-US" sz="2800" b="1" dirty="0"/>
              <a:t> </a:t>
            </a:r>
            <a:r>
              <a:rPr lang="en-US" sz="2800" b="1" dirty="0" err="1"/>
              <a:t>biến</a:t>
            </a:r>
            <a:r>
              <a:rPr lang="en-US" sz="2800" b="1" dirty="0"/>
              <a:t> </a:t>
            </a:r>
            <a:r>
              <a:rPr lang="en-US" sz="2800" b="1" dirty="0" err="1"/>
              <a:t>phát</a:t>
            </a:r>
            <a:r>
              <a:rPr lang="en-US" sz="2800" b="1" dirty="0"/>
              <a:t> </a:t>
            </a:r>
            <a:r>
              <a:rPr lang="en-US" sz="2800" b="1" dirty="0" err="1"/>
              <a:t>hiện</a:t>
            </a:r>
            <a:r>
              <a:rPr lang="en-US" sz="2800" b="1" dirty="0"/>
              <a:t> </a:t>
            </a:r>
            <a:r>
              <a:rPr lang="en-US" sz="2800" b="1" dirty="0" err="1"/>
              <a:t>ngọn</a:t>
            </a:r>
            <a:r>
              <a:rPr lang="en-US" sz="2800" b="1" dirty="0"/>
              <a:t> </a:t>
            </a:r>
            <a:r>
              <a:rPr lang="en-US" sz="2800" b="1" dirty="0" err="1"/>
              <a:t>lửa</a:t>
            </a:r>
            <a:endParaRPr lang="vi-VN" sz="2800" b="1" dirty="0"/>
          </a:p>
        </p:txBody>
      </p:sp>
      <p:pic>
        <p:nvPicPr>
          <p:cNvPr id="2060" name="Picture 12" descr="Cảm Biến Vật Cản Hồng Ngoại - Nsho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4140" y="5559577"/>
            <a:ext cx="3110345" cy="297872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6522" y="8589607"/>
            <a:ext cx="5105400" cy="523220"/>
          </a:xfrm>
          <a:prstGeom prst="rect">
            <a:avLst/>
          </a:prstGeom>
          <a:noFill/>
        </p:spPr>
        <p:txBody>
          <a:bodyPr wrap="square" rtlCol="0">
            <a:spAutoFit/>
          </a:bodyPr>
          <a:lstStyle/>
          <a:p>
            <a:pPr algn="ctr"/>
            <a:r>
              <a:rPr lang="en-US" sz="2800" b="1" dirty="0" err="1"/>
              <a:t>Cảm</a:t>
            </a:r>
            <a:r>
              <a:rPr lang="en-US" sz="2800" b="1" dirty="0"/>
              <a:t> </a:t>
            </a:r>
            <a:r>
              <a:rPr lang="en-US" sz="2800" b="1" dirty="0" err="1"/>
              <a:t>biến</a:t>
            </a:r>
            <a:r>
              <a:rPr lang="en-US" sz="2800" b="1" dirty="0"/>
              <a:t> </a:t>
            </a:r>
            <a:r>
              <a:rPr lang="en-US" sz="2800" b="1" dirty="0" err="1"/>
              <a:t>hồng</a:t>
            </a:r>
            <a:r>
              <a:rPr lang="en-US" sz="2800" b="1" dirty="0"/>
              <a:t> </a:t>
            </a:r>
            <a:r>
              <a:rPr lang="en-US" sz="2800" b="1" dirty="0" err="1"/>
              <a:t>ngoại</a:t>
            </a:r>
            <a:endParaRPr lang="vi-VN" sz="2800" b="1" dirty="0"/>
          </a:p>
        </p:txBody>
      </p:sp>
      <p:sp>
        <p:nvSpPr>
          <p:cNvPr id="15" name="TextBox 14"/>
          <p:cNvSpPr txBox="1"/>
          <p:nvPr/>
        </p:nvSpPr>
        <p:spPr>
          <a:xfrm>
            <a:off x="5983432" y="8609905"/>
            <a:ext cx="5105400" cy="523220"/>
          </a:xfrm>
          <a:prstGeom prst="rect">
            <a:avLst/>
          </a:prstGeom>
          <a:noFill/>
        </p:spPr>
        <p:txBody>
          <a:bodyPr wrap="square" rtlCol="0">
            <a:spAutoFit/>
          </a:bodyPr>
          <a:lstStyle/>
          <a:p>
            <a:pPr algn="ctr"/>
            <a:r>
              <a:rPr lang="en-US" sz="2800" b="1" dirty="0" err="1"/>
              <a:t>Cảm</a:t>
            </a:r>
            <a:r>
              <a:rPr lang="en-US" sz="2800" b="1" dirty="0"/>
              <a:t> </a:t>
            </a:r>
            <a:r>
              <a:rPr lang="en-US" sz="2800" b="1" dirty="0" err="1"/>
              <a:t>biến</a:t>
            </a:r>
            <a:r>
              <a:rPr lang="en-US" sz="2800" b="1" dirty="0"/>
              <a:t> </a:t>
            </a:r>
            <a:r>
              <a:rPr lang="en-US" sz="2800" b="1" dirty="0" err="1"/>
              <a:t>khí</a:t>
            </a:r>
            <a:r>
              <a:rPr lang="en-US" sz="2800" b="1" dirty="0"/>
              <a:t> gas</a:t>
            </a:r>
            <a:endParaRPr lang="vi-VN" sz="2800" b="1" dirty="0"/>
          </a:p>
        </p:txBody>
      </p:sp>
      <p:pic>
        <p:nvPicPr>
          <p:cNvPr id="2066" name="Picture 18" descr="Cảm biến cường độ ánh sáng quang trở - Nsho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2958329" y="5960917"/>
            <a:ext cx="3725142" cy="315191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2268200" y="9185563"/>
            <a:ext cx="5105400" cy="523220"/>
          </a:xfrm>
          <a:prstGeom prst="rect">
            <a:avLst/>
          </a:prstGeom>
          <a:noFill/>
        </p:spPr>
        <p:txBody>
          <a:bodyPr wrap="square" rtlCol="0">
            <a:spAutoFit/>
          </a:bodyPr>
          <a:lstStyle/>
          <a:p>
            <a:pPr algn="ctr"/>
            <a:r>
              <a:rPr lang="en-US" sz="2800" b="1" dirty="0" err="1"/>
              <a:t>Cảm</a:t>
            </a:r>
            <a:r>
              <a:rPr lang="en-US" sz="2800" b="1" dirty="0"/>
              <a:t> </a:t>
            </a:r>
            <a:r>
              <a:rPr lang="en-US" sz="2800" b="1" dirty="0" err="1"/>
              <a:t>ánh</a:t>
            </a:r>
            <a:r>
              <a:rPr lang="en-US" sz="2800" b="1" dirty="0"/>
              <a:t> </a:t>
            </a:r>
            <a:r>
              <a:rPr lang="en-US" sz="2800" b="1" dirty="0" err="1"/>
              <a:t>sáng</a:t>
            </a:r>
            <a:endParaRPr lang="vi-VN" sz="2800" b="1" dirty="0"/>
          </a:p>
        </p:txBody>
      </p:sp>
      <p:pic>
        <p:nvPicPr>
          <p:cNvPr id="6" name="Picture 5" descr="adxl345_module.jpg">
            <a:extLst>
              <a:ext uri="{FF2B5EF4-FFF2-40B4-BE49-F238E27FC236}">
                <a16:creationId xmlns:a16="http://schemas.microsoft.com/office/drawing/2014/main" id="{EA6DDAEA-4D00-B16D-5A66-7491D2BD3448}"/>
              </a:ext>
            </a:extLst>
          </p:cNvPr>
          <p:cNvPicPr>
            <a:picLocks noChangeAspect="1"/>
          </p:cNvPicPr>
          <p:nvPr/>
        </p:nvPicPr>
        <p:blipFill>
          <a:blip r:embed="rId4"/>
          <a:stretch>
            <a:fillRect/>
          </a:stretch>
        </p:blipFill>
        <p:spPr>
          <a:xfrm>
            <a:off x="537945" y="932673"/>
            <a:ext cx="3882737" cy="3358542"/>
          </a:xfrm>
          <a:prstGeom prst="rect">
            <a:avLst/>
          </a:prstGeom>
        </p:spPr>
      </p:pic>
      <p:pic>
        <p:nvPicPr>
          <p:cNvPr id="7" name="Picture 6" descr="dht11_sensor.jpg">
            <a:extLst>
              <a:ext uri="{FF2B5EF4-FFF2-40B4-BE49-F238E27FC236}">
                <a16:creationId xmlns:a16="http://schemas.microsoft.com/office/drawing/2014/main" id="{21A49F50-3029-43F0-B6B8-032F5CC48091}"/>
              </a:ext>
            </a:extLst>
          </p:cNvPr>
          <p:cNvPicPr>
            <a:picLocks noChangeAspect="1"/>
          </p:cNvPicPr>
          <p:nvPr/>
        </p:nvPicPr>
        <p:blipFill>
          <a:blip r:embed="rId5"/>
          <a:stretch>
            <a:fillRect/>
          </a:stretch>
        </p:blipFill>
        <p:spPr>
          <a:xfrm>
            <a:off x="6731144" y="932673"/>
            <a:ext cx="3629025" cy="3392538"/>
          </a:xfrm>
          <a:prstGeom prst="rect">
            <a:avLst/>
          </a:prstGeom>
        </p:spPr>
      </p:pic>
      <p:pic>
        <p:nvPicPr>
          <p:cNvPr id="9" name="Picture 8" descr="flame_sensor.jpg">
            <a:extLst>
              <a:ext uri="{FF2B5EF4-FFF2-40B4-BE49-F238E27FC236}">
                <a16:creationId xmlns:a16="http://schemas.microsoft.com/office/drawing/2014/main" id="{95892872-DF48-F377-B65F-B6CA6DBAE5A9}"/>
              </a:ext>
            </a:extLst>
          </p:cNvPr>
          <p:cNvPicPr>
            <a:picLocks noChangeAspect="1"/>
          </p:cNvPicPr>
          <p:nvPr/>
        </p:nvPicPr>
        <p:blipFill>
          <a:blip r:embed="rId6"/>
          <a:stretch>
            <a:fillRect/>
          </a:stretch>
        </p:blipFill>
        <p:spPr>
          <a:xfrm>
            <a:off x="11088832" y="1770907"/>
            <a:ext cx="6536236" cy="2004446"/>
          </a:xfrm>
          <a:prstGeom prst="rect">
            <a:avLst/>
          </a:prstGeom>
        </p:spPr>
      </p:pic>
      <p:pic>
        <p:nvPicPr>
          <p:cNvPr id="13" name="Picture 12">
            <a:extLst>
              <a:ext uri="{FF2B5EF4-FFF2-40B4-BE49-F238E27FC236}">
                <a16:creationId xmlns:a16="http://schemas.microsoft.com/office/drawing/2014/main" id="{D823D259-97BB-F051-AF67-9C3EAC81814B}"/>
              </a:ext>
            </a:extLst>
          </p:cNvPr>
          <p:cNvPicPr>
            <a:picLocks noChangeAspect="1"/>
          </p:cNvPicPr>
          <p:nvPr/>
        </p:nvPicPr>
        <p:blipFill>
          <a:blip r:embed="rId7"/>
          <a:stretch>
            <a:fillRect/>
          </a:stretch>
        </p:blipFill>
        <p:spPr>
          <a:xfrm>
            <a:off x="7264972" y="5777631"/>
            <a:ext cx="2768905" cy="2746115"/>
          </a:xfrm>
          <a:prstGeom prst="rect">
            <a:avLst/>
          </a:prstGeom>
        </p:spPr>
      </p:pic>
    </p:spTree>
    <p:extLst>
      <p:ext uri="{BB962C8B-B14F-4D97-AF65-F5344CB8AC3E}">
        <p14:creationId xmlns:p14="http://schemas.microsoft.com/office/powerpoint/2010/main" val="2302482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78117"/>
            <a:ext cx="18288000" cy="830997"/>
          </a:xfrm>
          <a:prstGeom prst="rect">
            <a:avLst/>
          </a:prstGeom>
          <a:solidFill>
            <a:schemeClr val="bg1"/>
          </a:solidFill>
          <a:ln>
            <a:solidFill>
              <a:schemeClr val="bg1"/>
            </a:solidFill>
          </a:ln>
        </p:spPr>
        <p:txBody>
          <a:bodyPr wrap="square" rtlCol="0">
            <a:spAutoFit/>
          </a:bodyPr>
          <a:lstStyle/>
          <a:p>
            <a:pPr algn="ctr"/>
            <a:r>
              <a:rPr lang="en-US" sz="4800" b="1" dirty="0"/>
              <a:t>CƠ CẤU CHẤP HÀNH</a:t>
            </a:r>
            <a:endParaRPr lang="vi-VN" sz="4800" b="1" dirty="0"/>
          </a:p>
        </p:txBody>
      </p:sp>
      <p:sp>
        <p:nvSpPr>
          <p:cNvPr id="3" name="Rectangle 2"/>
          <p:cNvSpPr/>
          <p:nvPr/>
        </p:nvSpPr>
        <p:spPr>
          <a:xfrm>
            <a:off x="339436" y="2095500"/>
            <a:ext cx="9185564" cy="5509200"/>
          </a:xfrm>
          <a:prstGeom prst="rect">
            <a:avLst/>
          </a:prstGeom>
        </p:spPr>
        <p:txBody>
          <a:bodyPr wrap="square">
            <a:spAutoFit/>
          </a:bodyPr>
          <a:lstStyle/>
          <a:p>
            <a:pPr marL="571500" indent="-571500">
              <a:buFont typeface="Wingdings" pitchFamily="2" charset="2"/>
              <a:buChar char="§"/>
              <a:defRPr sz="1800">
                <a:solidFill>
                  <a:srgbClr val="1E2D3C"/>
                </a:solidFill>
                <a:latin typeface="Montserrat"/>
              </a:defRPr>
            </a:pPr>
            <a:r>
              <a:rPr lang="vi-VN" sz="3200" dirty="0"/>
              <a:t>Cơ cấu chấp hành là thành phần trong hệ thống điều khiển chịu trách nhiệm phát tín hiệu cảnh báo</a:t>
            </a:r>
            <a:r>
              <a:rPr lang="en-US" sz="3200" dirty="0"/>
              <a:t> </a:t>
            </a:r>
            <a:r>
              <a:rPr lang="en-US" sz="3200" dirty="0" err="1"/>
              <a:t>hoặc</a:t>
            </a:r>
            <a:r>
              <a:rPr lang="vi-VN" sz="3200" dirty="0"/>
              <a:t> tác động vật lý</a:t>
            </a:r>
            <a:r>
              <a:rPr lang="en-US" sz="3200" dirty="0"/>
              <a:t>.</a:t>
            </a:r>
            <a:br>
              <a:rPr lang="vi-VN" sz="3200" dirty="0"/>
            </a:br>
            <a:endParaRPr lang="en-US" sz="3200" dirty="0"/>
          </a:p>
          <a:p>
            <a:pPr marL="571500" indent="-571500">
              <a:buFont typeface="Wingdings" pitchFamily="2" charset="2"/>
              <a:buChar char="§"/>
              <a:defRPr sz="1800">
                <a:solidFill>
                  <a:srgbClr val="1E2D3C"/>
                </a:solidFill>
                <a:latin typeface="Montserrat"/>
              </a:defRPr>
            </a:pPr>
            <a:r>
              <a:rPr lang="vi-VN" sz="3200" dirty="0"/>
              <a:t>Là 'Tiếng nói &amp; Hành động' của hệ thống an toàn IoT: Chuyển đổi lệnh điều khiển logic từ vi điều khiển thành âm thanh báo động cường độ cao</a:t>
            </a:r>
            <a:r>
              <a:rPr lang="en-US" sz="3200" dirty="0"/>
              <a:t> </a:t>
            </a:r>
            <a:r>
              <a:rPr lang="en-US" sz="3200" dirty="0" err="1"/>
              <a:t>hoặc</a:t>
            </a:r>
            <a:r>
              <a:rPr lang="en-US" sz="3200" dirty="0"/>
              <a:t> </a:t>
            </a:r>
            <a:r>
              <a:rPr lang="vi-VN" sz="3200" dirty="0"/>
              <a:t>tín hiệu </a:t>
            </a:r>
            <a:r>
              <a:rPr lang="en-US" sz="3200" dirty="0" err="1"/>
              <a:t>đèn</a:t>
            </a:r>
            <a:r>
              <a:rPr lang="en-US" sz="3200" dirty="0"/>
              <a:t> led</a:t>
            </a:r>
            <a:r>
              <a:rPr lang="vi-VN" sz="3200" dirty="0"/>
              <a:t> chớp nháy</a:t>
            </a:r>
            <a:r>
              <a:rPr lang="en-US" sz="3200" dirty="0"/>
              <a:t>.</a:t>
            </a:r>
            <a:br>
              <a:rPr lang="vi-VN" sz="3200" dirty="0"/>
            </a:br>
            <a:endParaRPr lang="vi-VN" sz="3200" dirty="0"/>
          </a:p>
        </p:txBody>
      </p:sp>
      <p:pic>
        <p:nvPicPr>
          <p:cNvPr id="5" name="Picture 4">
            <a:extLst>
              <a:ext uri="{FF2B5EF4-FFF2-40B4-BE49-F238E27FC236}">
                <a16:creationId xmlns:a16="http://schemas.microsoft.com/office/drawing/2014/main" id="{136784BB-1156-718B-62F0-49A1B8C3F7C2}"/>
              </a:ext>
            </a:extLst>
          </p:cNvPr>
          <p:cNvPicPr>
            <a:picLocks noChangeAspect="1"/>
          </p:cNvPicPr>
          <p:nvPr/>
        </p:nvPicPr>
        <p:blipFill>
          <a:blip r:embed="rId2"/>
          <a:stretch>
            <a:fillRect/>
          </a:stretch>
        </p:blipFill>
        <p:spPr>
          <a:xfrm>
            <a:off x="9947564" y="1943100"/>
            <a:ext cx="8001000" cy="6955546"/>
          </a:xfrm>
          <a:prstGeom prst="rect">
            <a:avLst/>
          </a:prstGeom>
        </p:spPr>
      </p:pic>
    </p:spTree>
    <p:extLst>
      <p:ext uri="{BB962C8B-B14F-4D97-AF65-F5344CB8AC3E}">
        <p14:creationId xmlns:p14="http://schemas.microsoft.com/office/powerpoint/2010/main" val="4139101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3"/>
          <p:cNvSpPr txBox="1"/>
          <p:nvPr/>
        </p:nvSpPr>
        <p:spPr>
          <a:xfrm>
            <a:off x="3352800" y="341935"/>
            <a:ext cx="11294938" cy="852156"/>
          </a:xfrm>
          <a:prstGeom prst="rect">
            <a:avLst/>
          </a:prstGeom>
          <a:solidFill>
            <a:schemeClr val="bg1"/>
          </a:solidFill>
        </p:spPr>
        <p:txBody>
          <a:bodyPr lIns="0" tIns="0" rIns="0" bIns="0" rtlCol="0" anchor="t">
            <a:spAutoFit/>
          </a:bodyPr>
          <a:lstStyle/>
          <a:p>
            <a:pPr algn="ctr">
              <a:lnSpc>
                <a:spcPts val="7075"/>
              </a:lnSpc>
              <a:spcBef>
                <a:spcPct val="0"/>
              </a:spcBef>
            </a:pPr>
            <a:r>
              <a:rPr lang="en-US" sz="5000" b="1" spc="307" dirty="0">
                <a:solidFill>
                  <a:srgbClr val="343432"/>
                </a:solidFill>
                <a:ea typeface="Montserrat Bold" panose="00000800000000000000"/>
                <a:cs typeface="Montserrat Bold" panose="00000800000000000000"/>
                <a:sym typeface="Montserrat Bold" panose="00000800000000000000"/>
              </a:rPr>
              <a:t>LÝ DO CHỌN ĐỀ TÀI</a:t>
            </a:r>
          </a:p>
        </p:txBody>
      </p:sp>
      <p:sp>
        <p:nvSpPr>
          <p:cNvPr id="4" name="Rectangle 2">
            <a:extLst>
              <a:ext uri="{FF2B5EF4-FFF2-40B4-BE49-F238E27FC236}">
                <a16:creationId xmlns:a16="http://schemas.microsoft.com/office/drawing/2014/main" id="{1BF6F962-78AA-600E-B88D-47E547AC6A2C}"/>
              </a:ext>
            </a:extLst>
          </p:cNvPr>
          <p:cNvSpPr>
            <a:spLocks noGrp="1" noChangeArrowheads="1"/>
          </p:cNvSpPr>
          <p:nvPr>
            <p:ph type="title"/>
          </p:nvPr>
        </p:nvSpPr>
        <p:spPr bwMode="auto">
          <a:xfrm>
            <a:off x="457200" y="2143899"/>
            <a:ext cx="7696200" cy="669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Google Sans Text"/>
              </a:rPr>
              <a:t>Tính</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cấp</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thiết</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cao</a:t>
            </a:r>
            <a:r>
              <a:rPr kumimoji="0" lang="en-US" altLang="en-US" sz="3600" b="1" i="0" u="none" strike="noStrike" cap="none" normalizeH="0" baseline="0" dirty="0">
                <a:ln>
                  <a:noFill/>
                </a:ln>
                <a:solidFill>
                  <a:schemeClr val="tx1"/>
                </a:solidFill>
                <a:effectLst/>
                <a:latin typeface="Google Sans Text"/>
              </a:rPr>
              <a: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Ứng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phó</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với</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mối</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đe</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dọa</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bất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ngờ</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từ</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động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đất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và</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hỏa</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hoạn</a:t>
            </a:r>
            <a:r>
              <a:rPr kumimoji="0" lang="en-US" altLang="en-US" sz="36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Google Sans Text"/>
              </a:rPr>
              <a:t>Thời</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gian</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vàng</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cứu</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nạn</a:t>
            </a:r>
            <a:r>
              <a:rPr kumimoji="0" lang="en-US" altLang="en-US" sz="3600" b="1" i="0" u="none" strike="noStrike" cap="none" normalizeH="0" baseline="0" dirty="0">
                <a:ln>
                  <a:noFill/>
                </a:ln>
                <a:solidFill>
                  <a:schemeClr val="tx1"/>
                </a:solidFill>
                <a:effectLst/>
                <a:latin typeface="Google Sans Text"/>
              </a:rPr>
              <a: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Cảnh</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báo</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sớm</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giúp</a:t>
            </a:r>
            <a:r>
              <a:rPr kumimoji="0" lang="en-US" altLang="en-US" sz="3600" b="0" i="0" u="none" strike="noStrike" cap="none" normalizeH="0" baseline="0" dirty="0">
                <a:ln>
                  <a:noFill/>
                </a:ln>
                <a:solidFill>
                  <a:schemeClr val="tx1"/>
                </a:solidFill>
                <a:effectLst/>
                <a:latin typeface="Google Sans Text"/>
              </a:rPr>
              <a:t> con </a:t>
            </a:r>
            <a:r>
              <a:rPr kumimoji="0" lang="en-US" altLang="en-US" sz="3600" b="0" i="0" u="none" strike="noStrike" cap="none" normalizeH="0" baseline="0" dirty="0" err="1">
                <a:ln>
                  <a:noFill/>
                </a:ln>
                <a:solidFill>
                  <a:schemeClr val="tx1"/>
                </a:solidFill>
                <a:effectLst/>
                <a:latin typeface="Google Sans Text"/>
              </a:rPr>
              <a:t>người</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kịp</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thời</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sơ</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tán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và</a:t>
            </a:r>
            <a:r>
              <a:rPr kumimoji="0" lang="en-US" altLang="en-US" sz="3600" b="0" i="0" u="none" strike="noStrike" cap="none" normalizeH="0" baseline="0" dirty="0">
                <a:ln>
                  <a:noFill/>
                </a:ln>
                <a:solidFill>
                  <a:schemeClr val="tx1"/>
                </a:solidFill>
                <a:effectLst/>
                <a:latin typeface="Google Sans Text"/>
              </a:rPr>
              <a:t> an </a:t>
            </a:r>
            <a:r>
              <a:rPr kumimoji="0" lang="en-US" altLang="en-US" sz="3600" b="0" i="0" u="none" strike="noStrike" cap="none" normalizeH="0" baseline="0" dirty="0" err="1">
                <a:ln>
                  <a:noFill/>
                </a:ln>
                <a:solidFill>
                  <a:schemeClr val="tx1"/>
                </a:solidFill>
                <a:effectLst/>
                <a:latin typeface="Google Sans Text"/>
              </a:rPr>
              <a:t>toàn</a:t>
            </a:r>
            <a:r>
              <a:rPr kumimoji="0" lang="en-US" altLang="en-US" sz="36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Google Sans Text"/>
              </a:rPr>
              <a:t>Giám</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sát</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tự</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động</a:t>
            </a:r>
            <a:r>
              <a:rPr kumimoji="0" lang="en-US" altLang="en-US" sz="3600" b="1" i="0" u="none" strike="noStrike" cap="none" normalizeH="0" baseline="0" dirty="0">
                <a:ln>
                  <a:noFill/>
                </a:ln>
                <a:solidFill>
                  <a:schemeClr val="tx1"/>
                </a:solidFill>
                <a:effectLst/>
                <a:latin typeface="Google Sans Text"/>
              </a:rPr>
              <a: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Hệ</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thống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hoạt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động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liên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tục</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không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phụ</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thuộc</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vào</a:t>
            </a:r>
            <a:r>
              <a:rPr kumimoji="0" lang="en-US" altLang="en-US" sz="3600" b="0" i="0" u="none" strike="noStrike" cap="none" normalizeH="0" baseline="0" dirty="0">
                <a:ln>
                  <a:noFill/>
                </a:ln>
                <a:solidFill>
                  <a:schemeClr val="tx1"/>
                </a:solidFill>
                <a:effectLst/>
                <a:latin typeface="Google Sans Text"/>
              </a:rPr>
              <a:t> con </a:t>
            </a:r>
            <a:r>
              <a:rPr kumimoji="0" lang="en-US" altLang="en-US" sz="3600" b="0" i="0" u="none" strike="noStrike" cap="none" normalizeH="0" baseline="0" dirty="0" err="1">
                <a:ln>
                  <a:noFill/>
                </a:ln>
                <a:solidFill>
                  <a:schemeClr val="tx1"/>
                </a:solidFill>
                <a:effectLst/>
                <a:latin typeface="Google Sans Text"/>
              </a:rPr>
              <a:t>người</a:t>
            </a:r>
            <a:r>
              <a:rPr kumimoji="0" lang="en-US" altLang="en-US" sz="36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Google Sans Text"/>
              </a:rPr>
              <a:t>Cảnh</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báo</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đa</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kênh</a:t>
            </a:r>
            <a:r>
              <a:rPr kumimoji="0" lang="en-US" altLang="en-US" sz="3600" b="1" i="0" u="none" strike="noStrike" cap="none" normalizeH="0" baseline="0" dirty="0">
                <a:ln>
                  <a:noFill/>
                </a:ln>
                <a:solidFill>
                  <a:schemeClr val="tx1"/>
                </a:solidFill>
                <a:effectLst/>
                <a:latin typeface="Google Sans Text"/>
              </a:rPr>
              <a:t>:</a:t>
            </a:r>
            <a:r>
              <a:rPr kumimoji="0" lang="en-US" altLang="en-US" sz="3600" b="0" i="0" u="none" strike="noStrike" cap="none" normalizeH="0" baseline="0" dirty="0">
                <a:ln>
                  <a:noFill/>
                </a:ln>
                <a:solidFill>
                  <a:schemeClr val="tx1"/>
                </a:solidFill>
                <a:effectLst/>
                <a:latin typeface="Google Sans Text"/>
              </a:rPr>
              <a:t> Báo </a:t>
            </a:r>
            <a:r>
              <a:rPr kumimoji="0" lang="en-US" altLang="en-US" sz="3600" b="0" i="0" u="none" strike="noStrike" cap="none" normalizeH="0" baseline="0" dirty="0" err="1">
                <a:ln>
                  <a:noFill/>
                </a:ln>
                <a:solidFill>
                  <a:schemeClr val="tx1"/>
                </a:solidFill>
                <a:effectLst/>
                <a:latin typeface="Google Sans Text"/>
              </a:rPr>
              <a:t>động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trực</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tiếp</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tại</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chỗ</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và</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gửi</a:t>
            </a:r>
            <a:r>
              <a:rPr kumimoji="0" lang="en-US" altLang="en-US" sz="3600" b="0" i="0" u="none" strike="noStrike" cap="none" normalizeH="0" baseline="0" dirty="0">
                <a:ln>
                  <a:noFill/>
                </a:ln>
                <a:solidFill>
                  <a:schemeClr val="tx1"/>
                </a:solidFill>
                <a:effectLst/>
                <a:latin typeface="Google Sans Text"/>
              </a:rPr>
              <a:t> tin </a:t>
            </a:r>
            <a:r>
              <a:rPr kumimoji="0" lang="en-US" altLang="en-US" sz="3600" b="0" i="0" u="none" strike="noStrike" cap="none" normalizeH="0" baseline="0" dirty="0" err="1">
                <a:ln>
                  <a:noFill/>
                </a:ln>
                <a:solidFill>
                  <a:schemeClr val="tx1"/>
                </a:solidFill>
                <a:effectLst/>
                <a:latin typeface="Google Sans Text"/>
              </a:rPr>
              <a:t>nhắn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từ</a:t>
            </a:r>
            <a:r>
              <a:rPr kumimoji="0" lang="en-US" altLang="en-US" sz="3600" b="0" i="0" u="none" strike="noStrike" cap="none" normalizeH="0" baseline="0" dirty="0">
                <a:ln>
                  <a:noFill/>
                </a:ln>
                <a:solidFill>
                  <a:schemeClr val="tx1"/>
                </a:solidFill>
                <a:effectLst/>
                <a:latin typeface="Google Sans Text"/>
              </a:rPr>
              <a:t> xa qua </a:t>
            </a:r>
            <a:r>
              <a:rPr kumimoji="0" lang="en-US" altLang="en-US" sz="3600" b="0" i="0" u="none" strike="noStrike" cap="none" normalizeH="0" baseline="0" dirty="0" err="1">
                <a:ln>
                  <a:noFill/>
                </a:ln>
                <a:solidFill>
                  <a:schemeClr val="tx1"/>
                </a:solidFill>
                <a:effectLst/>
                <a:latin typeface="Google Sans Text"/>
              </a:rPr>
              <a:t>điện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thoại</a:t>
            </a:r>
            <a:r>
              <a:rPr kumimoji="0" lang="en-US" altLang="en-US" sz="36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err="1">
                <a:ln>
                  <a:noFill/>
                </a:ln>
                <a:solidFill>
                  <a:schemeClr val="tx1"/>
                </a:solidFill>
                <a:effectLst/>
                <a:latin typeface="Google Sans Text"/>
              </a:rPr>
              <a:t>Tính</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khả</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thi</a:t>
            </a:r>
            <a:r>
              <a:rPr kumimoji="0" lang="en-US" altLang="en-US" sz="3600" b="1" i="0" u="none" strike="noStrike" cap="none" normalizeH="0" baseline="0" dirty="0">
                <a:ln>
                  <a:noFill/>
                </a:ln>
                <a:solidFill>
                  <a:schemeClr val="tx1"/>
                </a:solidFill>
                <a:effectLst/>
                <a:latin typeface="Google Sans Text"/>
              </a:rPr>
              <a:t> </a:t>
            </a:r>
            <a:r>
              <a:rPr kumimoji="0" lang="en-US" altLang="en-US" sz="3600" b="1" i="0" u="none" strike="noStrike" cap="none" normalizeH="0" baseline="0" dirty="0" err="1">
                <a:ln>
                  <a:noFill/>
                </a:ln>
                <a:solidFill>
                  <a:schemeClr val="tx1"/>
                </a:solidFill>
                <a:effectLst/>
                <a:latin typeface="Google Sans Text"/>
              </a:rPr>
              <a:t>cao</a:t>
            </a:r>
            <a:r>
              <a:rPr kumimoji="0" lang="en-US" altLang="en-US" sz="3600" b="1" i="0" u="none" strike="noStrike" cap="none" normalizeH="0" baseline="0" dirty="0">
                <a:ln>
                  <a:noFill/>
                </a:ln>
                <a:solidFill>
                  <a:schemeClr val="tx1"/>
                </a:solidFill>
                <a:effectLst/>
                <a:latin typeface="Google Sans Text"/>
              </a:rPr>
              <a:t>:</a:t>
            </a:r>
            <a:r>
              <a:rPr kumimoji="0" lang="en-US" altLang="en-US" sz="3600" b="0" i="0" u="none" strike="noStrike" cap="none" normalizeH="0" baseline="0" dirty="0">
                <a:ln>
                  <a:noFill/>
                </a:ln>
                <a:solidFill>
                  <a:schemeClr val="tx1"/>
                </a:solidFill>
                <a:effectLst/>
                <a:latin typeface="Google Sans Text"/>
              </a:rPr>
              <a:t> Chi </a:t>
            </a:r>
            <a:r>
              <a:rPr kumimoji="0" lang="en-US" altLang="en-US" sz="3600" b="0" i="0" u="none" strike="noStrike" cap="none" normalizeH="0" baseline="0" dirty="0" err="1">
                <a:ln>
                  <a:noFill/>
                </a:ln>
                <a:solidFill>
                  <a:schemeClr val="tx1"/>
                </a:solidFill>
                <a:effectLst/>
                <a:latin typeface="Google Sans Text"/>
              </a:rPr>
              <a:t>phí</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lắp</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đặt</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rẻ</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sử</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dụng</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linh</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kiện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phổ</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biến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và</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dễ</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nhân</a:t>
            </a:r>
            <a:r>
              <a:rPr kumimoji="0" lang="en-US" altLang="en-US" sz="3600" b="0" i="0" u="none" strike="noStrike" cap="none" normalizeH="0" baseline="0" dirty="0">
                <a:ln>
                  <a:noFill/>
                </a:ln>
                <a:solidFill>
                  <a:schemeClr val="tx1"/>
                </a:solidFill>
                <a:effectLst/>
                <a:latin typeface="Google Sans Text"/>
              </a:rPr>
              <a:t> </a:t>
            </a:r>
            <a:r>
              <a:rPr kumimoji="0" lang="en-US" altLang="en-US" sz="3600" b="0" i="0" u="none" strike="noStrike" cap="none" normalizeH="0" baseline="0" dirty="0" err="1">
                <a:ln>
                  <a:noFill/>
                </a:ln>
                <a:solidFill>
                  <a:schemeClr val="tx1"/>
                </a:solidFill>
                <a:effectLst/>
                <a:latin typeface="Google Sans Text"/>
              </a:rPr>
              <a:t>rộng</a:t>
            </a:r>
            <a:r>
              <a:rPr kumimoji="0" lang="en-US" altLang="en-US" sz="3600" b="0" i="0" u="none" strike="noStrike" cap="none" normalizeH="0" baseline="0" dirty="0">
                <a:ln>
                  <a:noFill/>
                </a:ln>
                <a:solidFill>
                  <a:schemeClr val="tx1"/>
                </a:solidFill>
                <a:effectLst/>
                <a:latin typeface="Google Sans Tex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3C18A782-C812-BCF5-3592-2AB9EEDF1763}"/>
              </a:ext>
            </a:extLst>
          </p:cNvPr>
          <p:cNvPicPr>
            <a:picLocks noChangeAspect="1"/>
          </p:cNvPicPr>
          <p:nvPr/>
        </p:nvPicPr>
        <p:blipFill>
          <a:blip r:embed="rId2"/>
          <a:stretch>
            <a:fillRect/>
          </a:stretch>
        </p:blipFill>
        <p:spPr>
          <a:xfrm>
            <a:off x="9144000" y="1614679"/>
            <a:ext cx="6663343" cy="3276601"/>
          </a:xfrm>
          <a:prstGeom prst="rect">
            <a:avLst/>
          </a:prstGeom>
          <a:ln w="2286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FCD06951-1E61-C8FA-0DFB-1DF8CD59BD8B}"/>
              </a:ext>
            </a:extLst>
          </p:cNvPr>
          <p:cNvPicPr>
            <a:picLocks noChangeAspect="1"/>
          </p:cNvPicPr>
          <p:nvPr/>
        </p:nvPicPr>
        <p:blipFill>
          <a:blip r:embed="rId3"/>
          <a:stretch>
            <a:fillRect/>
          </a:stretch>
        </p:blipFill>
        <p:spPr>
          <a:xfrm>
            <a:off x="10153652" y="5452869"/>
            <a:ext cx="7066752" cy="419100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409700"/>
            <a:ext cx="10210800" cy="8815056"/>
          </a:xfrm>
          <a:noFill/>
          <a:ln>
            <a:noFill/>
          </a:ln>
        </p:spPr>
        <p:style>
          <a:lnRef idx="2">
            <a:schemeClr val="dk1"/>
          </a:lnRef>
          <a:fillRef idx="1">
            <a:schemeClr val="lt1"/>
          </a:fillRef>
          <a:effectRef idx="0">
            <a:schemeClr val="dk1"/>
          </a:effectRef>
          <a:fontRef idx="minor">
            <a:schemeClr val="dk1"/>
          </a:fontRef>
        </p:style>
        <p:txBody>
          <a:bodyPr>
            <a:noAutofit/>
          </a:bodyPr>
          <a:lstStyle/>
          <a:p>
            <a:pPr marL="82800">
              <a:lnSpc>
                <a:spcPct val="150000"/>
              </a:lnSpc>
              <a:spcBef>
                <a:spcPts val="600"/>
              </a:spcBef>
            </a:pPr>
            <a:br>
              <a:rPr lang="vi-VN" sz="1800" dirty="0"/>
            </a:br>
            <a:r>
              <a:rPr lang="vi-VN" sz="2800" dirty="0"/>
              <a:t>Hệ thống ứng dụng vi điều khiển ESP32 và các cảm biến chuyên dụng để liên tục giám sát môi trường sống theo thời gian thực:</a:t>
            </a:r>
            <a:br>
              <a:rPr lang="vi-VN" sz="2800" dirty="0"/>
            </a:br>
            <a:r>
              <a:rPr lang="vi-VN" sz="2800" dirty="0"/>
              <a:t>• Cảm biến gia tốc rung động ADXL345: Phát hiện sóng rung chấn ban đầu của động đất.</a:t>
            </a:r>
            <a:br>
              <a:rPr lang="vi-VN" sz="2800" dirty="0"/>
            </a:br>
            <a:r>
              <a:rPr lang="vi-VN" sz="2800" dirty="0"/>
              <a:t>• Cảm biến ngọn lửa Flame Sensor: Bắt tia bức xạ hồng ngoại từ đám cháy.</a:t>
            </a:r>
            <a:br>
              <a:rPr lang="vi-VN" sz="2800" dirty="0"/>
            </a:br>
            <a:r>
              <a:rPr lang="vi-VN" sz="2800" dirty="0"/>
              <a:t>• Cảm biến nhiệt độ DHT11: Giám sát nhiệt độ môi trường.</a:t>
            </a:r>
            <a:br>
              <a:rPr lang="en-US" sz="2800" dirty="0"/>
            </a:br>
            <a:r>
              <a:rPr lang="vi-VN" sz="2800" dirty="0"/>
              <a:t>Cơ chế cảnh báo 2 lớp:</a:t>
            </a:r>
            <a:br>
              <a:rPr lang="vi-VN" sz="2800" dirty="0"/>
            </a:br>
            <a:r>
              <a:rPr lang="vi-VN" sz="2800" dirty="0"/>
              <a:t>1. Báo động tức thì tại chỗ: Kích hoạt còi hú</a:t>
            </a:r>
            <a:r>
              <a:rPr lang="en-US" sz="2800" dirty="0"/>
              <a:t> </a:t>
            </a:r>
            <a:r>
              <a:rPr lang="vi-VN" sz="2800" dirty="0"/>
              <a:t>và đèn nháy, tự chủ 100% không cần mạng.</a:t>
            </a:r>
            <a:br>
              <a:rPr lang="vi-VN" sz="2800" dirty="0"/>
            </a:br>
            <a:r>
              <a:rPr lang="vi-VN" sz="2800" dirty="0"/>
              <a:t>2. Cảnh báo cứu hộ từ xa: Gửi bản tin khẩn cấp đến Telegram Bot trên điện thoại</a:t>
            </a:r>
            <a:r>
              <a:rPr lang="en-US" sz="2800" dirty="0"/>
              <a:t>.</a:t>
            </a:r>
            <a:br>
              <a:rPr lang="en-US" sz="2800" dirty="0"/>
            </a:br>
            <a:br>
              <a:rPr lang="vi-VN" sz="2400" dirty="0"/>
            </a:br>
            <a:endParaRPr lang="en-US" sz="2400" b="1" dirty="0"/>
          </a:p>
        </p:txBody>
      </p:sp>
      <p:sp>
        <p:nvSpPr>
          <p:cNvPr id="4" name="TextBox 4"/>
          <p:cNvSpPr txBox="1"/>
          <p:nvPr/>
        </p:nvSpPr>
        <p:spPr>
          <a:xfrm>
            <a:off x="1270000" y="62244"/>
            <a:ext cx="15748000" cy="852156"/>
          </a:xfrm>
          <a:prstGeom prst="rect">
            <a:avLst/>
          </a:prstGeom>
          <a:solidFill>
            <a:schemeClr val="bg1"/>
          </a:solidFill>
        </p:spPr>
        <p:txBody>
          <a:bodyPr wrap="square" lIns="0" tIns="0" rIns="0" bIns="0" rtlCol="0" anchor="t">
            <a:spAutoFit/>
          </a:bodyPr>
          <a:lstStyle/>
          <a:p>
            <a:pPr algn="ctr">
              <a:lnSpc>
                <a:spcPts val="7075"/>
              </a:lnSpc>
            </a:pPr>
            <a:r>
              <a:rPr lang="en-US" sz="5000" b="1" dirty="0">
                <a:ln w="0"/>
                <a:effectLst>
                  <a:outerShdw blurRad="38100" dist="19050" dir="2700000" algn="tl" rotWithShape="0">
                    <a:schemeClr val="dk1">
                      <a:alpha val="40000"/>
                    </a:schemeClr>
                  </a:outerShdw>
                </a:effectLst>
                <a:ea typeface="Montserrat Bold" panose="00000800000000000000"/>
                <a:cs typeface="Montserrat Bold" panose="00000800000000000000"/>
                <a:sym typeface="Montserrat Bold" panose="00000800000000000000"/>
              </a:rPr>
              <a:t>TỔNG QUAN ĐỀ TÀI</a:t>
            </a:r>
          </a:p>
        </p:txBody>
      </p:sp>
      <p:sp>
        <p:nvSpPr>
          <p:cNvPr id="7" name="Text Box 6"/>
          <p:cNvSpPr txBox="1"/>
          <p:nvPr/>
        </p:nvSpPr>
        <p:spPr>
          <a:xfrm>
            <a:off x="685800" y="5448300"/>
            <a:ext cx="8104505" cy="692150"/>
          </a:xfrm>
          <a:prstGeom prst="rect">
            <a:avLst/>
          </a:prstGeom>
        </p:spPr>
        <p:txBody>
          <a:bodyPr>
            <a:noAutofit/>
          </a:bodyPr>
          <a:lstStyle/>
          <a:p>
            <a:pPr marL="0" indent="0"/>
            <a:endParaRPr sz="4000" b="0" i="0" dirty="0">
              <a:solidFill>
                <a:srgbClr val="081B3A"/>
              </a:solidFill>
              <a:latin typeface="Arial" panose="020B0604020202020204" pitchFamily="34" charset="0"/>
              <a:ea typeface="SegoeuiPc"/>
            </a:endParaRPr>
          </a:p>
        </p:txBody>
      </p:sp>
      <p:pic>
        <p:nvPicPr>
          <p:cNvPr id="3" name="Picture 2">
            <a:extLst>
              <a:ext uri="{FF2B5EF4-FFF2-40B4-BE49-F238E27FC236}">
                <a16:creationId xmlns:a16="http://schemas.microsoft.com/office/drawing/2014/main" id="{71293931-0B29-F76B-BD48-01B18CDF7188}"/>
              </a:ext>
            </a:extLst>
          </p:cNvPr>
          <p:cNvPicPr>
            <a:picLocks noChangeAspect="1"/>
          </p:cNvPicPr>
          <p:nvPr/>
        </p:nvPicPr>
        <p:blipFill>
          <a:blip r:embed="rId3"/>
          <a:stretch>
            <a:fillRect/>
          </a:stretch>
        </p:blipFill>
        <p:spPr>
          <a:xfrm>
            <a:off x="11201400" y="1344882"/>
            <a:ext cx="6400800" cy="82068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Left 9">
            <a:extLst>
              <a:ext uri="{FF2B5EF4-FFF2-40B4-BE49-F238E27FC236}">
                <a16:creationId xmlns:a16="http://schemas.microsoft.com/office/drawing/2014/main" id="{52115F1C-E764-AA3F-C8C0-E954A5964B72}"/>
              </a:ext>
            </a:extLst>
          </p:cNvPr>
          <p:cNvSpPr/>
          <p:nvPr/>
        </p:nvSpPr>
        <p:spPr>
          <a:xfrm>
            <a:off x="2784137" y="8618545"/>
            <a:ext cx="2133600" cy="48939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C8448-6C8C-56A2-1299-C5B0F84C43E3}"/>
              </a:ext>
            </a:extLst>
          </p:cNvPr>
          <p:cNvSpPr>
            <a:spLocks noGrp="1"/>
          </p:cNvSpPr>
          <p:nvPr>
            <p:ph type="title"/>
          </p:nvPr>
        </p:nvSpPr>
        <p:spPr/>
        <p:txBody>
          <a:bodyPr/>
          <a:lstStyle/>
          <a:p>
            <a:pPr algn="ctr"/>
            <a:r>
              <a:rPr lang="en-US" b="1" dirty="0">
                <a:latin typeface="+mn-lt"/>
              </a:rPr>
              <a:t>NGUYÊN LÝ HOẠT ĐỘNG</a:t>
            </a:r>
          </a:p>
        </p:txBody>
      </p:sp>
      <p:sp>
        <p:nvSpPr>
          <p:cNvPr id="3" name="Right Arrow 2"/>
          <p:cNvSpPr/>
          <p:nvPr/>
        </p:nvSpPr>
        <p:spPr bwMode="auto">
          <a:xfrm>
            <a:off x="11753989" y="4928331"/>
            <a:ext cx="2057401" cy="430337"/>
          </a:xfrm>
          <a:prstGeom prst="rightArrow">
            <a:avLst/>
          </a:prstGeom>
          <a:solidFill>
            <a:schemeClr val="accent1">
              <a:lumMod val="75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2" name="Right Arrow 11"/>
          <p:cNvSpPr/>
          <p:nvPr/>
        </p:nvSpPr>
        <p:spPr bwMode="auto">
          <a:xfrm>
            <a:off x="7804689" y="4860648"/>
            <a:ext cx="1720311" cy="430337"/>
          </a:xfrm>
          <a:prstGeom prst="rightArrow">
            <a:avLst/>
          </a:prstGeom>
          <a:solidFill>
            <a:schemeClr val="accent1">
              <a:lumMod val="75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4" name="Right Arrow 13"/>
          <p:cNvSpPr/>
          <p:nvPr/>
        </p:nvSpPr>
        <p:spPr bwMode="auto">
          <a:xfrm>
            <a:off x="3538320" y="4991100"/>
            <a:ext cx="1963963" cy="430337"/>
          </a:xfrm>
          <a:prstGeom prst="rightArrow">
            <a:avLst/>
          </a:prstGeom>
          <a:solidFill>
            <a:schemeClr val="accent1">
              <a:lumMod val="75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5" name="Rectangle 4"/>
          <p:cNvSpPr/>
          <p:nvPr/>
        </p:nvSpPr>
        <p:spPr>
          <a:xfrm>
            <a:off x="-84079" y="6972300"/>
            <a:ext cx="3749553" cy="584775"/>
          </a:xfrm>
          <a:prstGeom prst="rect">
            <a:avLst/>
          </a:prstGeom>
        </p:spPr>
        <p:txBody>
          <a:bodyPr wrap="none">
            <a:spAutoFit/>
          </a:bodyPr>
          <a:lstStyle/>
          <a:p>
            <a:pPr lvl="0"/>
            <a:r>
              <a:rPr lang="en-US" sz="3200" dirty="0" err="1">
                <a:solidFill>
                  <a:srgbClr val="000000"/>
                </a:solidFill>
              </a:rPr>
              <a:t>Môi</a:t>
            </a:r>
            <a:r>
              <a:rPr lang="en-US" sz="3200" dirty="0">
                <a:solidFill>
                  <a:srgbClr val="000000"/>
                </a:solidFill>
              </a:rPr>
              <a:t> </a:t>
            </a:r>
            <a:r>
              <a:rPr lang="en-US" sz="3200" dirty="0" err="1">
                <a:solidFill>
                  <a:srgbClr val="000000"/>
                </a:solidFill>
              </a:rPr>
              <a:t>trường</a:t>
            </a:r>
            <a:r>
              <a:rPr lang="en-US" sz="3200" dirty="0">
                <a:solidFill>
                  <a:srgbClr val="000000"/>
                </a:solidFill>
              </a:rPr>
              <a:t> </a:t>
            </a:r>
            <a:r>
              <a:rPr lang="en-US" sz="3200" dirty="0" err="1">
                <a:solidFill>
                  <a:srgbClr val="000000"/>
                </a:solidFill>
              </a:rPr>
              <a:t>tác</a:t>
            </a:r>
            <a:r>
              <a:rPr lang="en-US" sz="3200" dirty="0">
                <a:solidFill>
                  <a:srgbClr val="000000"/>
                </a:solidFill>
              </a:rPr>
              <a:t> </a:t>
            </a:r>
            <a:r>
              <a:rPr lang="en-US" sz="3200" dirty="0" err="1">
                <a:solidFill>
                  <a:srgbClr val="000000"/>
                </a:solidFill>
              </a:rPr>
              <a:t>động</a:t>
            </a:r>
            <a:endParaRPr lang="vi-VN" sz="3200" dirty="0">
              <a:solidFill>
                <a:srgbClr val="000000"/>
              </a:solidFill>
            </a:endParaRPr>
          </a:p>
        </p:txBody>
      </p:sp>
      <p:sp>
        <p:nvSpPr>
          <p:cNvPr id="17" name="Rectangle 16"/>
          <p:cNvSpPr/>
          <p:nvPr/>
        </p:nvSpPr>
        <p:spPr>
          <a:xfrm>
            <a:off x="5763875" y="7336242"/>
            <a:ext cx="1938351" cy="584775"/>
          </a:xfrm>
          <a:prstGeom prst="rect">
            <a:avLst/>
          </a:prstGeom>
        </p:spPr>
        <p:txBody>
          <a:bodyPr wrap="none">
            <a:spAutoFit/>
          </a:bodyPr>
          <a:lstStyle/>
          <a:p>
            <a:pPr lvl="0"/>
            <a:r>
              <a:rPr lang="en-US" sz="3200" dirty="0" err="1">
                <a:solidFill>
                  <a:srgbClr val="000000"/>
                </a:solidFill>
              </a:rPr>
              <a:t>Cảm</a:t>
            </a:r>
            <a:r>
              <a:rPr lang="en-US" sz="3200" dirty="0">
                <a:solidFill>
                  <a:srgbClr val="000000"/>
                </a:solidFill>
              </a:rPr>
              <a:t> </a:t>
            </a:r>
            <a:r>
              <a:rPr lang="en-US" sz="3200" dirty="0" err="1">
                <a:solidFill>
                  <a:srgbClr val="000000"/>
                </a:solidFill>
              </a:rPr>
              <a:t>biến</a:t>
            </a:r>
            <a:endParaRPr lang="vi-VN" sz="3200" dirty="0">
              <a:solidFill>
                <a:srgbClr val="000000"/>
              </a:solidFill>
            </a:endParaRPr>
          </a:p>
        </p:txBody>
      </p:sp>
      <p:sp>
        <p:nvSpPr>
          <p:cNvPr id="18" name="Rectangle 17"/>
          <p:cNvSpPr/>
          <p:nvPr/>
        </p:nvSpPr>
        <p:spPr>
          <a:xfrm>
            <a:off x="9200311" y="6841713"/>
            <a:ext cx="3122137" cy="584775"/>
          </a:xfrm>
          <a:prstGeom prst="rect">
            <a:avLst/>
          </a:prstGeom>
        </p:spPr>
        <p:txBody>
          <a:bodyPr wrap="none">
            <a:spAutoFit/>
          </a:bodyPr>
          <a:lstStyle/>
          <a:p>
            <a:pPr lvl="0"/>
            <a:r>
              <a:rPr lang="en-US" sz="3200" dirty="0">
                <a:solidFill>
                  <a:srgbClr val="000000"/>
                </a:solidFill>
              </a:rPr>
              <a:t>ESP32 DEVKIT V1 </a:t>
            </a:r>
            <a:endParaRPr lang="vi-VN" sz="3200" dirty="0">
              <a:solidFill>
                <a:srgbClr val="000000"/>
              </a:solidFill>
            </a:endParaRPr>
          </a:p>
        </p:txBody>
      </p:sp>
      <p:sp>
        <p:nvSpPr>
          <p:cNvPr id="19" name="Rectangle 18"/>
          <p:cNvSpPr/>
          <p:nvPr/>
        </p:nvSpPr>
        <p:spPr>
          <a:xfrm>
            <a:off x="14401800" y="7071809"/>
            <a:ext cx="3554178" cy="584775"/>
          </a:xfrm>
          <a:prstGeom prst="rect">
            <a:avLst/>
          </a:prstGeom>
        </p:spPr>
        <p:txBody>
          <a:bodyPr wrap="none">
            <a:spAutoFit/>
          </a:bodyPr>
          <a:lstStyle/>
          <a:p>
            <a:pPr lvl="0"/>
            <a:r>
              <a:rPr lang="en-US" sz="3200" dirty="0" err="1">
                <a:solidFill>
                  <a:srgbClr val="000000"/>
                </a:solidFill>
              </a:rPr>
              <a:t>Thiết</a:t>
            </a:r>
            <a:r>
              <a:rPr lang="en-US" sz="3200" dirty="0">
                <a:solidFill>
                  <a:srgbClr val="000000"/>
                </a:solidFill>
              </a:rPr>
              <a:t> </a:t>
            </a:r>
            <a:r>
              <a:rPr lang="en-US" sz="3200" dirty="0" err="1">
                <a:solidFill>
                  <a:srgbClr val="000000"/>
                </a:solidFill>
              </a:rPr>
              <a:t>bị</a:t>
            </a:r>
            <a:r>
              <a:rPr lang="en-US" sz="3200" dirty="0">
                <a:solidFill>
                  <a:srgbClr val="000000"/>
                </a:solidFill>
              </a:rPr>
              <a:t> </a:t>
            </a:r>
            <a:r>
              <a:rPr lang="en-US" sz="3200" dirty="0" err="1">
                <a:solidFill>
                  <a:srgbClr val="000000"/>
                </a:solidFill>
              </a:rPr>
              <a:t>chấp</a:t>
            </a:r>
            <a:r>
              <a:rPr lang="en-US" sz="3200" dirty="0">
                <a:solidFill>
                  <a:srgbClr val="000000"/>
                </a:solidFill>
              </a:rPr>
              <a:t> </a:t>
            </a:r>
            <a:r>
              <a:rPr lang="en-US" sz="3200" dirty="0" err="1">
                <a:solidFill>
                  <a:srgbClr val="000000"/>
                </a:solidFill>
              </a:rPr>
              <a:t>hành</a:t>
            </a:r>
            <a:endParaRPr lang="vi-VN" sz="3200" dirty="0">
              <a:solidFill>
                <a:srgbClr val="000000"/>
              </a:solidFill>
            </a:endParaRPr>
          </a:p>
        </p:txBody>
      </p:sp>
      <p:sp>
        <p:nvSpPr>
          <p:cNvPr id="20" name="Rectangle 19"/>
          <p:cNvSpPr/>
          <p:nvPr/>
        </p:nvSpPr>
        <p:spPr>
          <a:xfrm>
            <a:off x="9301302" y="3133299"/>
            <a:ext cx="2920156" cy="584775"/>
          </a:xfrm>
          <a:prstGeom prst="rect">
            <a:avLst/>
          </a:prstGeom>
        </p:spPr>
        <p:txBody>
          <a:bodyPr wrap="square">
            <a:spAutoFit/>
          </a:bodyPr>
          <a:lstStyle/>
          <a:p>
            <a:pPr lvl="0" algn="ctr"/>
            <a:r>
              <a:rPr lang="en-US" sz="3200" dirty="0">
                <a:solidFill>
                  <a:srgbClr val="000000"/>
                </a:solidFill>
              </a:rPr>
              <a:t>Vi </a:t>
            </a:r>
            <a:r>
              <a:rPr lang="en-US" sz="3200" dirty="0" err="1">
                <a:solidFill>
                  <a:srgbClr val="000000"/>
                </a:solidFill>
              </a:rPr>
              <a:t>xử</a:t>
            </a:r>
            <a:r>
              <a:rPr lang="en-US" sz="3200" dirty="0">
                <a:solidFill>
                  <a:srgbClr val="000000"/>
                </a:solidFill>
              </a:rPr>
              <a:t> </a:t>
            </a:r>
            <a:r>
              <a:rPr lang="en-US" sz="3200" dirty="0" err="1">
                <a:solidFill>
                  <a:srgbClr val="000000"/>
                </a:solidFill>
              </a:rPr>
              <a:t>lý</a:t>
            </a:r>
            <a:endParaRPr lang="vi-VN" sz="3200" dirty="0">
              <a:solidFill>
                <a:srgbClr val="000000"/>
              </a:solidFill>
            </a:endParaRPr>
          </a:p>
        </p:txBody>
      </p:sp>
      <p:pic>
        <p:nvPicPr>
          <p:cNvPr id="6" name="Picture 5">
            <a:extLst>
              <a:ext uri="{FF2B5EF4-FFF2-40B4-BE49-F238E27FC236}">
                <a16:creationId xmlns:a16="http://schemas.microsoft.com/office/drawing/2014/main" id="{0F2097FB-6FA0-97BC-F61A-F558F7C4D46B}"/>
              </a:ext>
            </a:extLst>
          </p:cNvPr>
          <p:cNvPicPr>
            <a:picLocks noChangeAspect="1"/>
          </p:cNvPicPr>
          <p:nvPr/>
        </p:nvPicPr>
        <p:blipFill>
          <a:blip r:embed="rId2"/>
          <a:stretch>
            <a:fillRect/>
          </a:stretch>
        </p:blipFill>
        <p:spPr>
          <a:xfrm>
            <a:off x="132554" y="3006861"/>
            <a:ext cx="3237780" cy="2174739"/>
          </a:xfrm>
          <a:prstGeom prst="rect">
            <a:avLst/>
          </a:prstGeom>
        </p:spPr>
      </p:pic>
      <p:pic>
        <p:nvPicPr>
          <p:cNvPr id="8" name="Picture 7">
            <a:extLst>
              <a:ext uri="{FF2B5EF4-FFF2-40B4-BE49-F238E27FC236}">
                <a16:creationId xmlns:a16="http://schemas.microsoft.com/office/drawing/2014/main" id="{0B61A929-4058-3572-E913-869F8346841E}"/>
              </a:ext>
            </a:extLst>
          </p:cNvPr>
          <p:cNvPicPr>
            <a:picLocks noChangeAspect="1"/>
          </p:cNvPicPr>
          <p:nvPr/>
        </p:nvPicPr>
        <p:blipFill>
          <a:blip r:embed="rId3"/>
          <a:stretch>
            <a:fillRect/>
          </a:stretch>
        </p:blipFill>
        <p:spPr>
          <a:xfrm>
            <a:off x="109321" y="5186872"/>
            <a:ext cx="3237780" cy="1742055"/>
          </a:xfrm>
          <a:prstGeom prst="rect">
            <a:avLst/>
          </a:prstGeom>
        </p:spPr>
      </p:pic>
      <p:pic>
        <p:nvPicPr>
          <p:cNvPr id="15" name="Picture 14" descr="adxl345_module.jpg">
            <a:extLst>
              <a:ext uri="{FF2B5EF4-FFF2-40B4-BE49-F238E27FC236}">
                <a16:creationId xmlns:a16="http://schemas.microsoft.com/office/drawing/2014/main" id="{C795E3BC-5300-84E8-2630-331067B15526}"/>
              </a:ext>
            </a:extLst>
          </p:cNvPr>
          <p:cNvPicPr>
            <a:picLocks noChangeAspect="1"/>
          </p:cNvPicPr>
          <p:nvPr/>
        </p:nvPicPr>
        <p:blipFill>
          <a:blip r:embed="rId4"/>
          <a:stretch>
            <a:fillRect/>
          </a:stretch>
        </p:blipFill>
        <p:spPr>
          <a:xfrm>
            <a:off x="5665132" y="2728533"/>
            <a:ext cx="2135838" cy="1677927"/>
          </a:xfrm>
          <a:prstGeom prst="rect">
            <a:avLst/>
          </a:prstGeom>
        </p:spPr>
      </p:pic>
      <p:pic>
        <p:nvPicPr>
          <p:cNvPr id="16" name="Picture 15" descr="dht11_sensor.jpg">
            <a:extLst>
              <a:ext uri="{FF2B5EF4-FFF2-40B4-BE49-F238E27FC236}">
                <a16:creationId xmlns:a16="http://schemas.microsoft.com/office/drawing/2014/main" id="{CFAAA8EA-5667-A790-25EC-EB5A033D157E}"/>
              </a:ext>
            </a:extLst>
          </p:cNvPr>
          <p:cNvPicPr>
            <a:picLocks noChangeAspect="1"/>
          </p:cNvPicPr>
          <p:nvPr/>
        </p:nvPicPr>
        <p:blipFill>
          <a:blip r:embed="rId5"/>
          <a:stretch>
            <a:fillRect/>
          </a:stretch>
        </p:blipFill>
        <p:spPr>
          <a:xfrm>
            <a:off x="5575534" y="4406460"/>
            <a:ext cx="2135839" cy="1996656"/>
          </a:xfrm>
          <a:prstGeom prst="rect">
            <a:avLst/>
          </a:prstGeom>
        </p:spPr>
      </p:pic>
      <p:pic>
        <p:nvPicPr>
          <p:cNvPr id="21" name="Picture 20" descr="flame_sensor.jpg">
            <a:extLst>
              <a:ext uri="{FF2B5EF4-FFF2-40B4-BE49-F238E27FC236}">
                <a16:creationId xmlns:a16="http://schemas.microsoft.com/office/drawing/2014/main" id="{1E87D205-4620-CEAB-761E-D2775470C1E0}"/>
              </a:ext>
            </a:extLst>
          </p:cNvPr>
          <p:cNvPicPr>
            <a:picLocks noChangeAspect="1"/>
          </p:cNvPicPr>
          <p:nvPr/>
        </p:nvPicPr>
        <p:blipFill>
          <a:blip r:embed="rId6"/>
          <a:stretch>
            <a:fillRect/>
          </a:stretch>
        </p:blipFill>
        <p:spPr>
          <a:xfrm>
            <a:off x="4728381" y="6117432"/>
            <a:ext cx="3506298" cy="1075265"/>
          </a:xfrm>
          <a:prstGeom prst="rect">
            <a:avLst/>
          </a:prstGeom>
        </p:spPr>
      </p:pic>
      <p:pic>
        <p:nvPicPr>
          <p:cNvPr id="23" name="Picture 22">
            <a:extLst>
              <a:ext uri="{FF2B5EF4-FFF2-40B4-BE49-F238E27FC236}">
                <a16:creationId xmlns:a16="http://schemas.microsoft.com/office/drawing/2014/main" id="{CD01530A-5355-771B-AC8B-43444F4B90A4}"/>
              </a:ext>
            </a:extLst>
          </p:cNvPr>
          <p:cNvPicPr>
            <a:picLocks noChangeAspect="1"/>
          </p:cNvPicPr>
          <p:nvPr/>
        </p:nvPicPr>
        <p:blipFill>
          <a:blip r:embed="rId7"/>
          <a:stretch>
            <a:fillRect/>
          </a:stretch>
        </p:blipFill>
        <p:spPr>
          <a:xfrm>
            <a:off x="9419381" y="3619500"/>
            <a:ext cx="2684001" cy="3352800"/>
          </a:xfrm>
          <a:prstGeom prst="rect">
            <a:avLst/>
          </a:prstGeom>
        </p:spPr>
      </p:pic>
      <p:pic>
        <p:nvPicPr>
          <p:cNvPr id="26" name="Picture 25">
            <a:extLst>
              <a:ext uri="{FF2B5EF4-FFF2-40B4-BE49-F238E27FC236}">
                <a16:creationId xmlns:a16="http://schemas.microsoft.com/office/drawing/2014/main" id="{DC408C64-714A-8143-41A7-FBAFC99F0C76}"/>
              </a:ext>
            </a:extLst>
          </p:cNvPr>
          <p:cNvPicPr>
            <a:picLocks noChangeAspect="1"/>
          </p:cNvPicPr>
          <p:nvPr/>
        </p:nvPicPr>
        <p:blipFill>
          <a:blip r:embed="rId8"/>
          <a:stretch>
            <a:fillRect/>
          </a:stretch>
        </p:blipFill>
        <p:spPr>
          <a:xfrm>
            <a:off x="13773290" y="3425686"/>
            <a:ext cx="2671508" cy="1778334"/>
          </a:xfrm>
          <a:prstGeom prst="rect">
            <a:avLst/>
          </a:prstGeom>
        </p:spPr>
      </p:pic>
      <p:pic>
        <p:nvPicPr>
          <p:cNvPr id="28" name="Picture 27">
            <a:extLst>
              <a:ext uri="{FF2B5EF4-FFF2-40B4-BE49-F238E27FC236}">
                <a16:creationId xmlns:a16="http://schemas.microsoft.com/office/drawing/2014/main" id="{0721E092-8E2D-1012-D6A3-5986F0D4F95E}"/>
              </a:ext>
            </a:extLst>
          </p:cNvPr>
          <p:cNvPicPr>
            <a:picLocks noChangeAspect="1"/>
          </p:cNvPicPr>
          <p:nvPr/>
        </p:nvPicPr>
        <p:blipFill>
          <a:blip r:embed="rId9"/>
          <a:stretch>
            <a:fillRect/>
          </a:stretch>
        </p:blipFill>
        <p:spPr>
          <a:xfrm>
            <a:off x="13860758" y="5100891"/>
            <a:ext cx="1914016" cy="1914016"/>
          </a:xfrm>
          <a:prstGeom prst="rect">
            <a:avLst/>
          </a:prstGeom>
        </p:spPr>
      </p:pic>
      <p:pic>
        <p:nvPicPr>
          <p:cNvPr id="31" name="Picture 30">
            <a:extLst>
              <a:ext uri="{FF2B5EF4-FFF2-40B4-BE49-F238E27FC236}">
                <a16:creationId xmlns:a16="http://schemas.microsoft.com/office/drawing/2014/main" id="{2F62159A-6178-5231-F131-73AFEA52059E}"/>
              </a:ext>
            </a:extLst>
          </p:cNvPr>
          <p:cNvPicPr>
            <a:picLocks noChangeAspect="1"/>
          </p:cNvPicPr>
          <p:nvPr/>
        </p:nvPicPr>
        <p:blipFill>
          <a:blip r:embed="rId10"/>
          <a:stretch>
            <a:fillRect/>
          </a:stretch>
        </p:blipFill>
        <p:spPr>
          <a:xfrm>
            <a:off x="831239" y="7943950"/>
            <a:ext cx="1952898" cy="1838582"/>
          </a:xfrm>
          <a:prstGeom prst="rect">
            <a:avLst/>
          </a:prstGeom>
        </p:spPr>
      </p:pic>
      <p:pic>
        <p:nvPicPr>
          <p:cNvPr id="33" name="Picture 32">
            <a:extLst>
              <a:ext uri="{FF2B5EF4-FFF2-40B4-BE49-F238E27FC236}">
                <a16:creationId xmlns:a16="http://schemas.microsoft.com/office/drawing/2014/main" id="{6EFD4689-9A09-9106-3678-6680B8FA85CB}"/>
              </a:ext>
            </a:extLst>
          </p:cNvPr>
          <p:cNvPicPr>
            <a:picLocks noChangeAspect="1"/>
          </p:cNvPicPr>
          <p:nvPr/>
        </p:nvPicPr>
        <p:blipFill>
          <a:blip r:embed="rId11"/>
          <a:stretch>
            <a:fillRect/>
          </a:stretch>
        </p:blipFill>
        <p:spPr>
          <a:xfrm>
            <a:off x="16125442" y="4552644"/>
            <a:ext cx="2019582" cy="1302752"/>
          </a:xfrm>
          <a:prstGeom prst="rect">
            <a:avLst/>
          </a:prstGeom>
        </p:spPr>
      </p:pic>
      <p:sp>
        <p:nvSpPr>
          <p:cNvPr id="34" name="Arrow: Left 33">
            <a:extLst>
              <a:ext uri="{FF2B5EF4-FFF2-40B4-BE49-F238E27FC236}">
                <a16:creationId xmlns:a16="http://schemas.microsoft.com/office/drawing/2014/main" id="{B7CDDA03-5B93-4CCC-91B6-6526FFFE9031}"/>
              </a:ext>
            </a:extLst>
          </p:cNvPr>
          <p:cNvSpPr/>
          <p:nvPr/>
        </p:nvSpPr>
        <p:spPr>
          <a:xfrm>
            <a:off x="7126696" y="8903669"/>
            <a:ext cx="2133600" cy="48939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Down 34">
            <a:extLst>
              <a:ext uri="{FF2B5EF4-FFF2-40B4-BE49-F238E27FC236}">
                <a16:creationId xmlns:a16="http://schemas.microsoft.com/office/drawing/2014/main" id="{C44E3B56-3F1E-988D-7775-39FCC865689C}"/>
              </a:ext>
            </a:extLst>
          </p:cNvPr>
          <p:cNvSpPr/>
          <p:nvPr/>
        </p:nvSpPr>
        <p:spPr>
          <a:xfrm>
            <a:off x="10532779" y="7414345"/>
            <a:ext cx="457200" cy="11086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4B4C4071-408C-DC6E-20A2-562162D8FA53}"/>
              </a:ext>
            </a:extLst>
          </p:cNvPr>
          <p:cNvPicPr>
            <a:picLocks noChangeAspect="1"/>
          </p:cNvPicPr>
          <p:nvPr/>
        </p:nvPicPr>
        <p:blipFill>
          <a:blip r:embed="rId12"/>
          <a:stretch>
            <a:fillRect/>
          </a:stretch>
        </p:blipFill>
        <p:spPr>
          <a:xfrm>
            <a:off x="9893588" y="8419542"/>
            <a:ext cx="1735581" cy="1518633"/>
          </a:xfrm>
          <a:prstGeom prst="rect">
            <a:avLst/>
          </a:prstGeom>
        </p:spPr>
      </p:pic>
      <p:sp>
        <p:nvSpPr>
          <p:cNvPr id="38" name="TextBox 37">
            <a:extLst>
              <a:ext uri="{FF2B5EF4-FFF2-40B4-BE49-F238E27FC236}">
                <a16:creationId xmlns:a16="http://schemas.microsoft.com/office/drawing/2014/main" id="{C315B334-25C4-C87E-5191-701D5F023313}"/>
              </a:ext>
            </a:extLst>
          </p:cNvPr>
          <p:cNvSpPr txBox="1"/>
          <p:nvPr/>
        </p:nvSpPr>
        <p:spPr>
          <a:xfrm>
            <a:off x="878428" y="9852836"/>
            <a:ext cx="1824538" cy="461665"/>
          </a:xfrm>
          <a:prstGeom prst="rect">
            <a:avLst/>
          </a:prstGeom>
          <a:noFill/>
        </p:spPr>
        <p:txBody>
          <a:bodyPr wrap="none" rtlCol="0">
            <a:spAutoFit/>
          </a:bodyPr>
          <a:lstStyle/>
          <a:p>
            <a:r>
              <a:rPr lang="en-US" sz="2400" dirty="0"/>
              <a:t>Bot Telegram</a:t>
            </a:r>
          </a:p>
        </p:txBody>
      </p:sp>
      <p:sp>
        <p:nvSpPr>
          <p:cNvPr id="39" name="TextBox 38">
            <a:extLst>
              <a:ext uri="{FF2B5EF4-FFF2-40B4-BE49-F238E27FC236}">
                <a16:creationId xmlns:a16="http://schemas.microsoft.com/office/drawing/2014/main" id="{F7A7688F-1A2C-288D-BFF8-01C1CAEE6460}"/>
              </a:ext>
            </a:extLst>
          </p:cNvPr>
          <p:cNvSpPr txBox="1"/>
          <p:nvPr/>
        </p:nvSpPr>
        <p:spPr>
          <a:xfrm>
            <a:off x="9809312" y="9915780"/>
            <a:ext cx="1819857" cy="461665"/>
          </a:xfrm>
          <a:prstGeom prst="rect">
            <a:avLst/>
          </a:prstGeom>
          <a:noFill/>
        </p:spPr>
        <p:txBody>
          <a:bodyPr wrap="none" rtlCol="0">
            <a:spAutoFit/>
          </a:bodyPr>
          <a:lstStyle/>
          <a:p>
            <a:r>
              <a:rPr lang="en-US" sz="2400" dirty="0" err="1"/>
              <a:t>Wifi</a:t>
            </a:r>
            <a:r>
              <a:rPr lang="en-US" sz="2400" dirty="0"/>
              <a:t>/internet</a:t>
            </a:r>
          </a:p>
        </p:txBody>
      </p:sp>
      <p:pic>
        <p:nvPicPr>
          <p:cNvPr id="7" name="Picture 6">
            <a:extLst>
              <a:ext uri="{FF2B5EF4-FFF2-40B4-BE49-F238E27FC236}">
                <a16:creationId xmlns:a16="http://schemas.microsoft.com/office/drawing/2014/main" id="{EA3D50FF-6D49-2755-5439-33A5F5924632}"/>
              </a:ext>
            </a:extLst>
          </p:cNvPr>
          <p:cNvPicPr>
            <a:picLocks noChangeAspect="1"/>
          </p:cNvPicPr>
          <p:nvPr/>
        </p:nvPicPr>
        <p:blipFill>
          <a:blip r:embed="rId13"/>
          <a:stretch>
            <a:fillRect/>
          </a:stretch>
        </p:blipFill>
        <p:spPr>
          <a:xfrm>
            <a:off x="4682176" y="7935735"/>
            <a:ext cx="1981477" cy="1686160"/>
          </a:xfrm>
          <a:prstGeom prst="rect">
            <a:avLst/>
          </a:prstGeom>
        </p:spPr>
      </p:pic>
      <p:sp>
        <p:nvSpPr>
          <p:cNvPr id="9" name="TextBox 8">
            <a:extLst>
              <a:ext uri="{FF2B5EF4-FFF2-40B4-BE49-F238E27FC236}">
                <a16:creationId xmlns:a16="http://schemas.microsoft.com/office/drawing/2014/main" id="{B986EBB3-5284-D79C-9730-0035F3ADC297}"/>
              </a:ext>
            </a:extLst>
          </p:cNvPr>
          <p:cNvSpPr txBox="1"/>
          <p:nvPr/>
        </p:nvSpPr>
        <p:spPr>
          <a:xfrm>
            <a:off x="5098957" y="9801584"/>
            <a:ext cx="1251368" cy="461665"/>
          </a:xfrm>
          <a:prstGeom prst="rect">
            <a:avLst/>
          </a:prstGeom>
          <a:noFill/>
        </p:spPr>
        <p:txBody>
          <a:bodyPr wrap="none" rtlCol="0">
            <a:spAutoFit/>
          </a:bodyPr>
          <a:lstStyle/>
          <a:p>
            <a:r>
              <a:rPr lang="en-US" sz="2400" dirty="0" err="1"/>
              <a:t>Máy</a:t>
            </a:r>
            <a:r>
              <a:rPr lang="en-US" sz="2400" dirty="0"/>
              <a:t> </a:t>
            </a:r>
            <a:r>
              <a:rPr lang="en-US" sz="2400" dirty="0" err="1"/>
              <a:t>chủ</a:t>
            </a:r>
            <a:endParaRPr lang="en-US" sz="2400" dirty="0"/>
          </a:p>
        </p:txBody>
      </p:sp>
    </p:spTree>
    <p:extLst>
      <p:ext uri="{BB962C8B-B14F-4D97-AF65-F5344CB8AC3E}">
        <p14:creationId xmlns:p14="http://schemas.microsoft.com/office/powerpoint/2010/main" val="454000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5"/>
          <p:cNvSpPr txBox="1"/>
          <p:nvPr/>
        </p:nvSpPr>
        <p:spPr>
          <a:xfrm>
            <a:off x="28576" y="342900"/>
            <a:ext cx="18288000" cy="906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Montserrat Bold" panose="00000800000000000000"/>
                <a:ea typeface="Montserrat Bold" panose="00000800000000000000"/>
                <a:cs typeface="Montserrat Bold" panose="00000800000000000000"/>
                <a:sym typeface="Montserrat Bold" panose="00000800000000000000"/>
              </a:rPr>
              <a:t>GIỚI THIỆU PHẦN CỨNG</a:t>
            </a:r>
          </a:p>
        </p:txBody>
      </p:sp>
      <p:sp>
        <p:nvSpPr>
          <p:cNvPr id="5" name="Content Placeholder 2">
            <a:extLst>
              <a:ext uri="{FF2B5EF4-FFF2-40B4-BE49-F238E27FC236}">
                <a16:creationId xmlns:a16="http://schemas.microsoft.com/office/drawing/2014/main" id="{F86F5F77-24D2-A6CB-145E-753FCAD55E69}"/>
              </a:ext>
            </a:extLst>
          </p:cNvPr>
          <p:cNvSpPr txBox="1"/>
          <p:nvPr/>
        </p:nvSpPr>
        <p:spPr>
          <a:xfrm>
            <a:off x="235525" y="1638300"/>
            <a:ext cx="7536875" cy="472440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91439" tIns="45719" rIns="91439" bIns="45719">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base">
              <a:spcBef>
                <a:spcPct val="0"/>
              </a:spcBef>
              <a:spcAft>
                <a:spcPct val="0"/>
              </a:spcAft>
              <a:buNone/>
            </a:pPr>
            <a:r>
              <a:rPr lang="en-US" altLang="en-US" sz="7000" b="1" dirty="0" err="1">
                <a:latin typeface="Arial" panose="020B0604020202020204" pitchFamily="34" charset="0"/>
                <a:ea typeface="SimSun" panose="02010600030101010101" pitchFamily="2" charset="-122"/>
                <a:sym typeface="+mn-ea"/>
              </a:rPr>
              <a:t>Cấu</a:t>
            </a:r>
            <a:r>
              <a:rPr lang="en-US" altLang="en-US" sz="7000" b="1" dirty="0">
                <a:latin typeface="Arial" panose="020B0604020202020204" pitchFamily="34" charset="0"/>
                <a:ea typeface="SimSun" panose="02010600030101010101" pitchFamily="2" charset="-122"/>
                <a:sym typeface="+mn-ea"/>
              </a:rPr>
              <a:t> </a:t>
            </a:r>
            <a:r>
              <a:rPr lang="en-US" altLang="en-US" sz="7000" b="1" dirty="0" err="1">
                <a:latin typeface="Arial" panose="020B0604020202020204" pitchFamily="34" charset="0"/>
                <a:ea typeface="SimSun" panose="02010600030101010101" pitchFamily="2" charset="-122"/>
                <a:sym typeface="+mn-ea"/>
              </a:rPr>
              <a:t>tạo</a:t>
            </a:r>
            <a:r>
              <a:rPr lang="en-US" altLang="en-US" sz="7000" b="1" dirty="0">
                <a:latin typeface="Arial" panose="020B0604020202020204" pitchFamily="34" charset="0"/>
                <a:ea typeface="SimSun" panose="02010600030101010101" pitchFamily="2" charset="-122"/>
                <a:sym typeface="+mn-ea"/>
              </a:rPr>
              <a:t> </a:t>
            </a:r>
            <a:r>
              <a:rPr lang="en-US" altLang="en-US" sz="7000" b="1" dirty="0" err="1">
                <a:latin typeface="Arial" panose="020B0604020202020204" pitchFamily="34" charset="0"/>
                <a:ea typeface="SimSun" panose="02010600030101010101" pitchFamily="2" charset="-122"/>
                <a:sym typeface="+mn-ea"/>
              </a:rPr>
              <a:t>chính</a:t>
            </a:r>
            <a:r>
              <a:rPr lang="en-US" altLang="en-US" sz="7000" b="1" dirty="0">
                <a:latin typeface="Arial" panose="020B0604020202020204" pitchFamily="34" charset="0"/>
                <a:ea typeface="SimSun" panose="02010600030101010101" pitchFamily="2" charset="-122"/>
                <a:sym typeface="+mn-ea"/>
              </a:rPr>
              <a:t> </a:t>
            </a:r>
            <a:r>
              <a:rPr lang="en-US" altLang="en-US" sz="7000" b="1" dirty="0" err="1">
                <a:latin typeface="Arial" panose="020B0604020202020204" pitchFamily="34" charset="0"/>
                <a:ea typeface="SimSun" panose="02010600030101010101" pitchFamily="2" charset="-122"/>
                <a:sym typeface="+mn-ea"/>
              </a:rPr>
              <a:t>của</a:t>
            </a:r>
            <a:r>
              <a:rPr lang="en-US" altLang="en-US" sz="7000" b="1" dirty="0">
                <a:latin typeface="Arial" panose="020B0604020202020204" pitchFamily="34" charset="0"/>
                <a:ea typeface="SimSun" panose="02010600030101010101" pitchFamily="2" charset="-122"/>
                <a:sym typeface="+mn-ea"/>
              </a:rPr>
              <a:t> ESP32 DEVKIT V1 </a:t>
            </a:r>
            <a:r>
              <a:rPr lang="en-US" altLang="en-US" sz="7000" b="1" dirty="0" err="1">
                <a:latin typeface="Arial" panose="020B0604020202020204" pitchFamily="34" charset="0"/>
                <a:ea typeface="SimSun" panose="02010600030101010101" pitchFamily="2" charset="-122"/>
                <a:sym typeface="+mn-ea"/>
              </a:rPr>
              <a:t>gồm</a:t>
            </a:r>
            <a:r>
              <a:rPr lang="en-US" altLang="en-US" sz="7000" b="1" dirty="0">
                <a:latin typeface="Arial" panose="020B0604020202020204" pitchFamily="34" charset="0"/>
                <a:ea typeface="SimSun" panose="02010600030101010101" pitchFamily="2" charset="-122"/>
                <a:sym typeface="+mn-ea"/>
              </a:rPr>
              <a:t>:</a:t>
            </a:r>
          </a:p>
          <a:p>
            <a:pPr marL="0" indent="0" algn="just" fontAlgn="base">
              <a:spcBef>
                <a:spcPct val="0"/>
              </a:spcBef>
              <a:spcAft>
                <a:spcPct val="0"/>
              </a:spcAft>
              <a:buNone/>
            </a:pPr>
            <a:endParaRPr lang="en-US" altLang="en-US" sz="4500" b="1" dirty="0">
              <a:latin typeface="Arial" panose="020B0604020202020204" pitchFamily="34" charset="0"/>
              <a:ea typeface="SimSun" panose="02010600030101010101" pitchFamily="2" charset="-122"/>
            </a:endParaRPr>
          </a:p>
          <a:p>
            <a:r>
              <a:rPr lang="en-US" sz="6800" dirty="0"/>
              <a:t>T</a:t>
            </a:r>
            <a:r>
              <a:rPr lang="vi-VN" sz="6800" dirty="0"/>
              <a:t>ích hợp module ESP-WROOM-32, Sử dụng USB Type-C để cấp nguồn và nạp chương trình</a:t>
            </a:r>
            <a:r>
              <a:rPr lang="en-US" sz="6800" dirty="0"/>
              <a:t>.</a:t>
            </a:r>
            <a:endParaRPr lang="vi-VN" sz="6800" dirty="0"/>
          </a:p>
          <a:p>
            <a:r>
              <a:rPr lang="vi-VN" sz="6800" dirty="0"/>
              <a:t>Xử lý dữ liệu và điều khiển thiết bị.</a:t>
            </a:r>
          </a:p>
          <a:p>
            <a:r>
              <a:rPr lang="vi-VN" sz="6800" dirty="0"/>
              <a:t>Hỗ trợ</a:t>
            </a:r>
            <a:r>
              <a:rPr lang="en-US" sz="6800" dirty="0">
                <a:latin typeface="Arial" panose="020B0604020202020204" pitchFamily="34" charset="0"/>
                <a:cs typeface="Arial" panose="020B0604020202020204" pitchFamily="34" charset="0"/>
              </a:rPr>
              <a:t> </a:t>
            </a:r>
            <a:r>
              <a:rPr lang="en-US" sz="6800" dirty="0" err="1">
                <a:latin typeface="Arial" panose="020B0604020202020204" pitchFamily="34" charset="0"/>
                <a:cs typeface="Arial" panose="020B0604020202020204" pitchFamily="34" charset="0"/>
              </a:rPr>
              <a:t>kết</a:t>
            </a:r>
            <a:r>
              <a:rPr lang="en-US" sz="6800" dirty="0">
                <a:latin typeface="Arial" panose="020B0604020202020204" pitchFamily="34" charset="0"/>
                <a:cs typeface="Arial" panose="020B0604020202020204" pitchFamily="34" charset="0"/>
              </a:rPr>
              <a:t> </a:t>
            </a:r>
            <a:r>
              <a:rPr lang="en-US" sz="6800" dirty="0" err="1">
                <a:latin typeface="Arial" panose="020B0604020202020204" pitchFamily="34" charset="0"/>
                <a:cs typeface="Arial" panose="020B0604020202020204" pitchFamily="34" charset="0"/>
              </a:rPr>
              <a:t>nối</a:t>
            </a:r>
            <a:r>
              <a:rPr lang="vi-VN" sz="6800" dirty="0">
                <a:latin typeface="Arial" panose="020B0604020202020204" pitchFamily="34" charset="0"/>
                <a:cs typeface="Arial" panose="020B0604020202020204" pitchFamily="34" charset="0"/>
              </a:rPr>
              <a:t> </a:t>
            </a:r>
            <a:r>
              <a:rPr lang="vi-VN" sz="6800" dirty="0"/>
              <a:t>Wi-Fi và Bluetooth.</a:t>
            </a:r>
          </a:p>
          <a:p>
            <a:r>
              <a:rPr lang="vi-VN" sz="6800" dirty="0"/>
              <a:t>Chân GPIO: Kết nối cảm biến và các thiết bị ngoại vi</a:t>
            </a:r>
            <a:r>
              <a:rPr lang="en-US" sz="6800" dirty="0"/>
              <a:t>.</a:t>
            </a:r>
            <a:endParaRPr lang="vi-VN" sz="6800" dirty="0"/>
          </a:p>
        </p:txBody>
      </p:sp>
      <p:pic>
        <p:nvPicPr>
          <p:cNvPr id="4" name="Picture 3">
            <a:extLst>
              <a:ext uri="{FF2B5EF4-FFF2-40B4-BE49-F238E27FC236}">
                <a16:creationId xmlns:a16="http://schemas.microsoft.com/office/drawing/2014/main" id="{6FD4B853-19A7-CA4C-3383-CFCE53A7E055}"/>
              </a:ext>
            </a:extLst>
          </p:cNvPr>
          <p:cNvPicPr>
            <a:picLocks noChangeAspect="1"/>
          </p:cNvPicPr>
          <p:nvPr/>
        </p:nvPicPr>
        <p:blipFill>
          <a:blip r:embed="rId2"/>
          <a:stretch>
            <a:fillRect/>
          </a:stretch>
        </p:blipFill>
        <p:spPr>
          <a:xfrm>
            <a:off x="8317805" y="1638300"/>
            <a:ext cx="9970196" cy="6477000"/>
          </a:xfrm>
          <a:prstGeom prst="rect">
            <a:avLst/>
          </a:prstGeom>
        </p:spPr>
      </p:pic>
      <p:pic>
        <p:nvPicPr>
          <p:cNvPr id="9" name="Picture 8">
            <a:extLst>
              <a:ext uri="{FF2B5EF4-FFF2-40B4-BE49-F238E27FC236}">
                <a16:creationId xmlns:a16="http://schemas.microsoft.com/office/drawing/2014/main" id="{419171E6-695E-A13A-4983-4BC537AF9B3A}"/>
              </a:ext>
            </a:extLst>
          </p:cNvPr>
          <p:cNvPicPr>
            <a:picLocks noChangeAspect="1"/>
          </p:cNvPicPr>
          <p:nvPr/>
        </p:nvPicPr>
        <p:blipFill>
          <a:blip r:embed="rId3"/>
          <a:stretch>
            <a:fillRect/>
          </a:stretch>
        </p:blipFill>
        <p:spPr>
          <a:xfrm>
            <a:off x="914400" y="6134100"/>
            <a:ext cx="4953000" cy="4305300"/>
          </a:xfrm>
          <a:prstGeom prst="rect">
            <a:avLst/>
          </a:prstGeom>
        </p:spPr>
      </p:pic>
    </p:spTree>
    <p:extLst>
      <p:ext uri="{BB962C8B-B14F-4D97-AF65-F5344CB8AC3E}">
        <p14:creationId xmlns:p14="http://schemas.microsoft.com/office/powerpoint/2010/main" val="1988955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5"/>
          <p:cNvSpPr txBox="1"/>
          <p:nvPr/>
        </p:nvSpPr>
        <p:spPr>
          <a:xfrm>
            <a:off x="14721" y="769908"/>
            <a:ext cx="18288000" cy="85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Montserrat Bold" panose="00000800000000000000"/>
                <a:ea typeface="Montserrat Bold" panose="00000800000000000000"/>
                <a:cs typeface="Montserrat Bold" panose="00000800000000000000"/>
                <a:sym typeface="Montserrat Bold" panose="00000800000000000000"/>
              </a:rPr>
              <a:t>ESP32 DEVKIT V1</a:t>
            </a:r>
          </a:p>
        </p:txBody>
      </p:sp>
      <p:pic>
        <p:nvPicPr>
          <p:cNvPr id="8" name="Picture 7">
            <a:extLst>
              <a:ext uri="{FF2B5EF4-FFF2-40B4-BE49-F238E27FC236}">
                <a16:creationId xmlns:a16="http://schemas.microsoft.com/office/drawing/2014/main" id="{850FDC53-64B1-353B-56F8-3E0EAFE9E7F8}"/>
              </a:ext>
            </a:extLst>
          </p:cNvPr>
          <p:cNvPicPr>
            <a:picLocks noChangeAspect="1"/>
          </p:cNvPicPr>
          <p:nvPr/>
        </p:nvPicPr>
        <p:blipFill>
          <a:blip r:embed="rId2"/>
          <a:stretch>
            <a:fillRect/>
          </a:stretch>
        </p:blipFill>
        <p:spPr>
          <a:xfrm>
            <a:off x="38101" y="1642974"/>
            <a:ext cx="9410700" cy="7874118"/>
          </a:xfrm>
          <a:prstGeom prst="rect">
            <a:avLst/>
          </a:prstGeom>
        </p:spPr>
      </p:pic>
      <p:pic>
        <p:nvPicPr>
          <p:cNvPr id="14" name="Picture 13">
            <a:extLst>
              <a:ext uri="{FF2B5EF4-FFF2-40B4-BE49-F238E27FC236}">
                <a16:creationId xmlns:a16="http://schemas.microsoft.com/office/drawing/2014/main" id="{EDF2FEEC-559C-9F62-97AB-F6835665E621}"/>
              </a:ext>
            </a:extLst>
          </p:cNvPr>
          <p:cNvPicPr>
            <a:picLocks noChangeAspect="1"/>
          </p:cNvPicPr>
          <p:nvPr/>
        </p:nvPicPr>
        <p:blipFill>
          <a:blip r:embed="rId3"/>
          <a:stretch>
            <a:fillRect/>
          </a:stretch>
        </p:blipFill>
        <p:spPr>
          <a:xfrm>
            <a:off x="9158721" y="3238500"/>
            <a:ext cx="8820147" cy="4648200"/>
          </a:xfrm>
          <a:prstGeom prst="rect">
            <a:avLst/>
          </a:prstGeom>
        </p:spPr>
      </p:pic>
    </p:spTree>
    <p:extLst>
      <p:ext uri="{BB962C8B-B14F-4D97-AF65-F5344CB8AC3E}">
        <p14:creationId xmlns:p14="http://schemas.microsoft.com/office/powerpoint/2010/main" val="1570460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28576" y="647702"/>
            <a:ext cx="18288000" cy="906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Montserrat Bold" panose="00000800000000000000"/>
                <a:ea typeface="Montserrat Bold" panose="00000800000000000000"/>
                <a:cs typeface="Montserrat Bold" panose="00000800000000000000"/>
                <a:sym typeface="Montserrat Bold" panose="00000800000000000000"/>
              </a:rPr>
              <a:t>GIỚI THIỆU PHẦN CỨNG</a:t>
            </a:r>
          </a:p>
        </p:txBody>
      </p:sp>
      <p:sp>
        <p:nvSpPr>
          <p:cNvPr id="2" name="AutoShape 10" descr="https://lh3.googleusercontent.com/gg-dl/ABS2GSkwy1P3JbeS4A4OgxYbP5WobstAkoPWjIy7nRXovTbRFOKJr4B1nF8Sx9wtDZCYIr9LXYOTIQUFY5jpuHAFMYM19_TraZBl7EAInm40DVw8uuNBYTEnjp_DiWGD4NnvaRTliytrrlsQcFrpzIqPW9v1fH2_yVj-pnlzAxDkTmMlz-LmKw=s1024-rj"/>
          <p:cNvSpPr>
            <a:spLocks noChangeAspect="1" noChangeArrowheads="1"/>
          </p:cNvSpPr>
          <p:nvPr/>
        </p:nvSpPr>
        <p:spPr bwMode="auto">
          <a:xfrm>
            <a:off x="155576" y="-144463"/>
            <a:ext cx="304800" cy="3048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39" tIns="45719" rIns="91439" bIns="45719" numCol="1" anchor="t" anchorCtr="0" compatLnSpc="1"/>
          <a:lstStyle/>
          <a:p>
            <a:endParaRPr lang="vi-VN"/>
          </a:p>
        </p:txBody>
      </p:sp>
      <p:pic>
        <p:nvPicPr>
          <p:cNvPr id="8" name="Picture 6" descr="Màn hình LCD 1602 có giải mã I2C | Giải Pháp Chung">
            <a:extLst>
              <a:ext uri="{FF2B5EF4-FFF2-40B4-BE49-F238E27FC236}">
                <a16:creationId xmlns:a16="http://schemas.microsoft.com/office/drawing/2014/main" id="{E1A0EB7B-85DC-FF17-443B-62C4F71B5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837" y="3222440"/>
            <a:ext cx="3275498" cy="21523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itle 5">
            <a:extLst>
              <a:ext uri="{FF2B5EF4-FFF2-40B4-BE49-F238E27FC236}">
                <a16:creationId xmlns:a16="http://schemas.microsoft.com/office/drawing/2014/main" id="{E838666D-A4BE-E7FF-1A2F-F2278D5E498A}"/>
              </a:ext>
            </a:extLst>
          </p:cNvPr>
          <p:cNvSpPr txBox="1">
            <a:spLocks/>
          </p:cNvSpPr>
          <p:nvPr/>
        </p:nvSpPr>
        <p:spPr>
          <a:xfrm>
            <a:off x="6400800" y="3390900"/>
            <a:ext cx="8153400" cy="1526516"/>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vi-VN" sz="3200" b="1" dirty="0"/>
              <a:t>LCD</a:t>
            </a:r>
            <a:r>
              <a:rPr lang="vi-VN" sz="3200" dirty="0"/>
              <a:t>:</a:t>
            </a:r>
            <a:r>
              <a:rPr lang="en-US" sz="3200" dirty="0"/>
              <a:t> </a:t>
            </a:r>
            <a:r>
              <a:rPr lang="en-US" sz="3200" dirty="0">
                <a:latin typeface="Times New Roman" panose="02020603050405020304" pitchFamily="18" charset="0"/>
                <a:cs typeface="Times New Roman" panose="02020603050405020304" pitchFamily="18" charset="0"/>
              </a:rPr>
              <a:t>Hiển </a:t>
            </a:r>
            <a:r>
              <a:rPr lang="en-US" sz="3200" dirty="0" err="1">
                <a:latin typeface="Times New Roman" panose="02020603050405020304" pitchFamily="18" charset="0"/>
                <a:cs typeface="Times New Roman" panose="02020603050405020304" pitchFamily="18" charset="0"/>
              </a:rPr>
              <a:t>thị</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nhiệt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độ</a:t>
            </a:r>
            <a:r>
              <a:rPr lang="en-US" sz="3200" dirty="0">
                <a:latin typeface="Times New Roman" panose="02020603050405020304" pitchFamily="18" charset="0"/>
                <a:cs typeface="Times New Roman" panose="02020603050405020304" pitchFamily="18" charset="0"/>
              </a:rPr>
              <a:t>, rung </a:t>
            </a:r>
            <a:r>
              <a:rPr lang="en-US" sz="3200" dirty="0" err="1">
                <a:latin typeface="Times New Roman" panose="02020603050405020304" pitchFamily="18" charset="0"/>
                <a:cs typeface="Times New Roman" panose="02020603050405020304" pitchFamily="18" charset="0"/>
              </a:rPr>
              <a:t>động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lửa</a:t>
            </a:r>
            <a:r>
              <a:rPr lang="en-US" sz="3200" dirty="0">
                <a:latin typeface="Times New Roman" panose="02020603050405020304" pitchFamily="18" charset="0"/>
                <a:cs typeface="Times New Roman" panose="02020603050405020304" pitchFamily="18" charset="0"/>
              </a:rPr>
              <a:t>.</a:t>
            </a:r>
          </a:p>
        </p:txBody>
      </p:sp>
      <p:sp>
        <p:nvSpPr>
          <p:cNvPr id="14" name="Title 5">
            <a:extLst>
              <a:ext uri="{FF2B5EF4-FFF2-40B4-BE49-F238E27FC236}">
                <a16:creationId xmlns:a16="http://schemas.microsoft.com/office/drawing/2014/main" id="{13F8C830-6CCA-362F-16EE-CE51E06D4E8E}"/>
              </a:ext>
            </a:extLst>
          </p:cNvPr>
          <p:cNvSpPr txBox="1">
            <a:spLocks/>
          </p:cNvSpPr>
          <p:nvPr/>
        </p:nvSpPr>
        <p:spPr>
          <a:xfrm>
            <a:off x="6373091" y="6438900"/>
            <a:ext cx="8153400" cy="1295400"/>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sz="3200" b="1" dirty="0" err="1">
                <a:latin typeface="Times New Roman" panose="02020603050405020304" pitchFamily="18" charset="0"/>
                <a:cs typeface="Times New Roman" panose="02020603050405020304" pitchFamily="18" charset="0"/>
              </a:rPr>
              <a:t>Nút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Nhấn</a:t>
            </a:r>
            <a:r>
              <a:rPr lang="vi-VN" sz="3200" dirty="0"/>
              <a:t>: Kiểm tra còi</a:t>
            </a:r>
            <a:r>
              <a:rPr lang="en-US" sz="3200" dirty="0"/>
              <a:t>,</a:t>
            </a:r>
            <a:r>
              <a:rPr lang="vi-VN" sz="3200" dirty="0"/>
              <a:t> đèn và tắt báo động sau khi hiện trường đã xử lý an toàn.</a:t>
            </a: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B214ACC-CECB-9DB9-B683-26C691FDEAD4}"/>
              </a:ext>
            </a:extLst>
          </p:cNvPr>
          <p:cNvPicPr>
            <a:picLocks noChangeAspect="1"/>
          </p:cNvPicPr>
          <p:nvPr/>
        </p:nvPicPr>
        <p:blipFill>
          <a:blip r:embed="rId4"/>
          <a:stretch>
            <a:fillRect/>
          </a:stretch>
        </p:blipFill>
        <p:spPr>
          <a:xfrm>
            <a:off x="2294280" y="5707676"/>
            <a:ext cx="2480611" cy="2257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0" y="350886"/>
            <a:ext cx="18288000" cy="906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Montserrat Bold" panose="00000800000000000000"/>
                <a:ea typeface="Montserrat Bold" panose="00000800000000000000"/>
                <a:cs typeface="Montserrat Bold" panose="00000800000000000000"/>
                <a:sym typeface="Montserrat Bold" panose="00000800000000000000"/>
              </a:rPr>
              <a:t>GIỚI THIỆU PHẦN CỨNG</a:t>
            </a:r>
          </a:p>
        </p:txBody>
      </p:sp>
      <p:sp>
        <p:nvSpPr>
          <p:cNvPr id="9" name="Title 5">
            <a:extLst>
              <a:ext uri="{FF2B5EF4-FFF2-40B4-BE49-F238E27FC236}">
                <a16:creationId xmlns:a16="http://schemas.microsoft.com/office/drawing/2014/main" id="{4FE57831-4C01-377D-A74A-EEAF778A9A4E}"/>
              </a:ext>
            </a:extLst>
          </p:cNvPr>
          <p:cNvSpPr txBox="1">
            <a:spLocks/>
          </p:cNvSpPr>
          <p:nvPr/>
        </p:nvSpPr>
        <p:spPr>
          <a:xfrm>
            <a:off x="5562600" y="1815799"/>
            <a:ext cx="8153400" cy="1142999"/>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vi-VN" sz="3200" b="1" dirty="0"/>
              <a:t>LE</a:t>
            </a:r>
            <a:r>
              <a:rPr lang="en-US" sz="3200" b="1" dirty="0">
                <a:latin typeface="Times New Roman" panose="02020603050405020304" pitchFamily="18" charset="0"/>
                <a:cs typeface="Times New Roman" panose="02020603050405020304" pitchFamily="18" charset="0"/>
              </a:rPr>
              <a:t>D</a:t>
            </a:r>
            <a:r>
              <a:rPr lang="en-US" sz="3200" b="1" dirty="0"/>
              <a:t>: </a:t>
            </a:r>
            <a:r>
              <a:rPr lang="en-US" sz="3200" dirty="0" err="1">
                <a:latin typeface="Times New Roman" panose="02020603050405020304" pitchFamily="18" charset="0"/>
                <a:cs typeface="Times New Roman" panose="02020603050405020304" pitchFamily="18" charset="0"/>
              </a:rPr>
              <a:t>Cảnh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động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nhiệt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độ</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cao</a:t>
            </a:r>
            <a:r>
              <a:rPr lang="en-US" sz="3200" dirty="0">
                <a:latin typeface="Times New Roman" panose="02020603050405020304" pitchFamily="18" charset="0"/>
                <a:cs typeface="Times New Roman" panose="02020603050405020304" pitchFamily="18" charset="0"/>
              </a:rPr>
              <a:t>.</a:t>
            </a:r>
          </a:p>
        </p:txBody>
      </p:sp>
      <p:sp>
        <p:nvSpPr>
          <p:cNvPr id="10" name="Title 5">
            <a:extLst>
              <a:ext uri="{FF2B5EF4-FFF2-40B4-BE49-F238E27FC236}">
                <a16:creationId xmlns:a16="http://schemas.microsoft.com/office/drawing/2014/main" id="{91FAC161-7BED-6AFA-3261-F4BCC4209A6E}"/>
              </a:ext>
            </a:extLst>
          </p:cNvPr>
          <p:cNvSpPr txBox="1">
            <a:spLocks/>
          </p:cNvSpPr>
          <p:nvPr/>
        </p:nvSpPr>
        <p:spPr>
          <a:xfrm>
            <a:off x="5562600" y="4381500"/>
            <a:ext cx="8153400" cy="1143000"/>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sz="3200" b="1" dirty="0" err="1">
                <a:latin typeface="Times New Roman" panose="02020603050405020304" pitchFamily="18" charset="0"/>
                <a:cs typeface="Times New Roman" panose="02020603050405020304" pitchFamily="18" charset="0"/>
              </a:rPr>
              <a:t>Điện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trở</a:t>
            </a:r>
            <a:r>
              <a:rPr lang="en-US" sz="3200" dirty="0"/>
              <a:t>: </a:t>
            </a:r>
            <a:r>
              <a:rPr lang="en-US" sz="3200" dirty="0" err="1">
                <a:latin typeface="Times New Roman" panose="02020603050405020304" pitchFamily="18" charset="0"/>
                <a:cs typeface="Times New Roman" panose="02020603050405020304" pitchFamily="18" charset="0"/>
              </a:rPr>
              <a:t>Hạn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chế</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dòng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bảo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vệ</a:t>
            </a:r>
            <a:r>
              <a:rPr lang="en-US" sz="3200" dirty="0">
                <a:latin typeface="Times New Roman" panose="02020603050405020304" pitchFamily="18" charset="0"/>
                <a:cs typeface="Times New Roman" panose="02020603050405020304" pitchFamily="18" charset="0"/>
              </a:rPr>
              <a:t> LED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bị</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quá</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tải</a:t>
            </a:r>
            <a:r>
              <a:rPr lang="en-US" sz="3200" dirty="0">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E68E90EA-F739-66AC-7595-41EF31055030}"/>
              </a:ext>
            </a:extLst>
          </p:cNvPr>
          <p:cNvPicPr>
            <a:picLocks noChangeAspect="1"/>
          </p:cNvPicPr>
          <p:nvPr/>
        </p:nvPicPr>
        <p:blipFill>
          <a:blip r:embed="rId3"/>
          <a:stretch>
            <a:fillRect/>
          </a:stretch>
        </p:blipFill>
        <p:spPr>
          <a:xfrm>
            <a:off x="2209800" y="4381500"/>
            <a:ext cx="1524000" cy="1533408"/>
          </a:xfrm>
          <a:prstGeom prst="rect">
            <a:avLst/>
          </a:prstGeom>
        </p:spPr>
      </p:pic>
      <p:pic>
        <p:nvPicPr>
          <p:cNvPr id="5" name="Picture 4">
            <a:extLst>
              <a:ext uri="{FF2B5EF4-FFF2-40B4-BE49-F238E27FC236}">
                <a16:creationId xmlns:a16="http://schemas.microsoft.com/office/drawing/2014/main" id="{030465FB-3201-6A8B-D752-119E53492916}"/>
              </a:ext>
            </a:extLst>
          </p:cNvPr>
          <p:cNvPicPr>
            <a:picLocks noChangeAspect="1"/>
          </p:cNvPicPr>
          <p:nvPr/>
        </p:nvPicPr>
        <p:blipFill>
          <a:blip r:embed="rId4"/>
          <a:stretch>
            <a:fillRect/>
          </a:stretch>
        </p:blipFill>
        <p:spPr>
          <a:xfrm>
            <a:off x="1524000" y="1576693"/>
            <a:ext cx="2743200" cy="2223436"/>
          </a:xfrm>
          <a:prstGeom prst="rect">
            <a:avLst/>
          </a:prstGeom>
        </p:spPr>
      </p:pic>
      <p:sp>
        <p:nvSpPr>
          <p:cNvPr id="7" name="TextBox 6">
            <a:extLst>
              <a:ext uri="{FF2B5EF4-FFF2-40B4-BE49-F238E27FC236}">
                <a16:creationId xmlns:a16="http://schemas.microsoft.com/office/drawing/2014/main" id="{496A3EC6-C97B-4D09-7059-FBF9E69D368E}"/>
              </a:ext>
            </a:extLst>
          </p:cNvPr>
          <p:cNvSpPr txBox="1"/>
          <p:nvPr/>
        </p:nvSpPr>
        <p:spPr>
          <a:xfrm>
            <a:off x="5562600" y="6654133"/>
            <a:ext cx="9144000" cy="33239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000" b="1" dirty="0" err="1">
                <a:latin typeface="Times New Roman" panose="02020603050405020304" pitchFamily="18" charset="0"/>
                <a:cs typeface="Times New Roman" panose="02020603050405020304" pitchFamily="18" charset="0"/>
              </a:rPr>
              <a:t>Còi</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báo</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động</a:t>
            </a:r>
            <a:r>
              <a:rPr lang="en-US" sz="3000" b="1" dirty="0">
                <a:latin typeface="Times New Roman" panose="02020603050405020304" pitchFamily="18" charset="0"/>
                <a:cs typeface="Times New Roman" panose="02020603050405020304" pitchFamily="18" charset="0"/>
              </a:rPr>
              <a:t> (Active Buzzer 5V):</a:t>
            </a:r>
          </a:p>
          <a:p>
            <a:r>
              <a:rPr lang="vi-VN" sz="3000" dirty="0">
                <a:latin typeface="Times New Roman" panose="02020603050405020304" pitchFamily="18" charset="0"/>
                <a:cs typeface="Times New Roman" panose="02020603050405020304" pitchFamily="18" charset="0"/>
              </a:rPr>
              <a:t>Cường độ âm thanh lớn (&gt;85dB), khả năng cảnh báo thức tỉnh trong đêm tối.</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Hoạt động độc lập 100% tại chỗ (Local Autonomy), không phụ thuộc vào kết nối Wi-Fi hay Internet.</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Phát âm báo động phân biệt: Tiếng còi ngắt quãng khi động đất, còi hú dồn dập liên tục khi cháy nổ.</a:t>
            </a:r>
            <a:endParaRPr lang="en-US" sz="3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3D16CD0-180D-F97D-F2BD-7F0C769CDFEC}"/>
              </a:ext>
            </a:extLst>
          </p:cNvPr>
          <p:cNvPicPr>
            <a:picLocks noChangeAspect="1"/>
          </p:cNvPicPr>
          <p:nvPr/>
        </p:nvPicPr>
        <p:blipFill>
          <a:blip r:embed="rId5"/>
          <a:stretch>
            <a:fillRect/>
          </a:stretch>
        </p:blipFill>
        <p:spPr>
          <a:xfrm>
            <a:off x="2171700" y="7017782"/>
            <a:ext cx="1914016" cy="19140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5">
            <a:extLst>
              <a:ext uri="{FF2B5EF4-FFF2-40B4-BE49-F238E27FC236}">
                <a16:creationId xmlns:a16="http://schemas.microsoft.com/office/drawing/2014/main" id="{9845E903-9B79-764C-2F02-D580D91D408F}"/>
              </a:ext>
            </a:extLst>
          </p:cNvPr>
          <p:cNvSpPr txBox="1"/>
          <p:nvPr/>
        </p:nvSpPr>
        <p:spPr>
          <a:xfrm>
            <a:off x="28576" y="647702"/>
            <a:ext cx="18288000" cy="865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ea typeface="Montserrat Bold" panose="00000800000000000000"/>
                <a:cs typeface="Montserrat Bold" panose="00000800000000000000"/>
                <a:sym typeface="Montserrat Bold" panose="00000800000000000000"/>
              </a:rPr>
              <a:t>GIỚI THIỆU PHẦN CỨNG</a:t>
            </a:r>
          </a:p>
        </p:txBody>
      </p:sp>
      <p:sp>
        <p:nvSpPr>
          <p:cNvPr id="7" name="Title 5">
            <a:extLst>
              <a:ext uri="{FF2B5EF4-FFF2-40B4-BE49-F238E27FC236}">
                <a16:creationId xmlns:a16="http://schemas.microsoft.com/office/drawing/2014/main" id="{59434BC1-9C4F-B601-7B69-A01034802C21}"/>
              </a:ext>
            </a:extLst>
          </p:cNvPr>
          <p:cNvSpPr txBox="1">
            <a:spLocks/>
          </p:cNvSpPr>
          <p:nvPr/>
        </p:nvSpPr>
        <p:spPr>
          <a:xfrm>
            <a:off x="819150" y="4098320"/>
            <a:ext cx="3848100" cy="1045180"/>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vi-VN" sz="3000" b="1" dirty="0"/>
              <a:t>Cảm biến</a:t>
            </a:r>
            <a:r>
              <a:rPr lang="en-US" sz="3000" b="1" dirty="0"/>
              <a:t> </a:t>
            </a:r>
            <a:r>
              <a:rPr lang="en-US" sz="3000" b="1" dirty="0" err="1">
                <a:latin typeface="Times New Roman" panose="02020603050405020304" pitchFamily="18" charset="0"/>
                <a:cs typeface="Times New Roman" panose="02020603050405020304" pitchFamily="18" charset="0"/>
              </a:rPr>
              <a:t>gia</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tốc</a:t>
            </a:r>
            <a:r>
              <a:rPr lang="en-US" sz="3000" b="1" dirty="0">
                <a:latin typeface="Times New Roman" panose="02020603050405020304" pitchFamily="18" charset="0"/>
                <a:cs typeface="Times New Roman" panose="02020603050405020304" pitchFamily="18" charset="0"/>
              </a:rPr>
              <a:t> &amp; rung </a:t>
            </a:r>
            <a:r>
              <a:rPr lang="en-US" sz="3000" b="1" dirty="0" err="1">
                <a:latin typeface="Times New Roman" panose="02020603050405020304" pitchFamily="18" charset="0"/>
                <a:cs typeface="Times New Roman" panose="02020603050405020304" pitchFamily="18" charset="0"/>
              </a:rPr>
              <a:t>động</a:t>
            </a:r>
            <a:endParaRPr lang="en-US"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38200" y="5272264"/>
            <a:ext cx="17221200" cy="5139869"/>
          </a:xfrm>
          <a:prstGeom prst="rect">
            <a:avLst/>
          </a:prstGeom>
          <a:noFill/>
        </p:spPr>
        <p:txBody>
          <a:bodyPr wrap="square" rtlCol="0">
            <a:spAutoFit/>
          </a:bodyPr>
          <a:lstStyle/>
          <a:p>
            <a:pPr>
              <a:defRPr sz="1600">
                <a:solidFill>
                  <a:srgbClr val="1E2D3C"/>
                </a:solidFill>
                <a:latin typeface="Montserrat"/>
              </a:defRPr>
            </a:pPr>
            <a:r>
              <a:rPr lang="en-US" sz="2800" dirty="0">
                <a:solidFill>
                  <a:srgbClr val="1E2D3C"/>
                </a:solidFill>
                <a:sym typeface="Symbol" panose="05050102010706020507" pitchFamily="18" charset="2"/>
              </a:rPr>
              <a:t> </a:t>
            </a:r>
            <a:r>
              <a:rPr lang="vi-VN" sz="3000" dirty="0">
                <a:latin typeface="Times New Roman" panose="02020603050405020304" pitchFamily="18" charset="0"/>
                <a:cs typeface="Times New Roman" panose="02020603050405020304" pitchFamily="18" charset="0"/>
              </a:rPr>
              <a:t>ADXL345 là cảm biến gia tốc 3 trục (X, Y, Z) kỹ thuật số siêu nhỏ gọn, độ phân giải cao (13-bit), đo dải gia tốc lên tới ±16g, chuyên dụng phát hiện rung chấn và động đất.</a:t>
            </a:r>
            <a:br>
              <a:rPr lang="vi-VN" sz="3000" dirty="0">
                <a:latin typeface="Times New Roman" panose="02020603050405020304" pitchFamily="18" charset="0"/>
                <a:cs typeface="Times New Roman" panose="02020603050405020304" pitchFamily="18" charset="0"/>
              </a:rPr>
            </a:b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Điện áp hoạt động: 3.3V – 5V D</a:t>
            </a:r>
            <a:r>
              <a:rPr lang="en-US" sz="3000" dirty="0">
                <a:latin typeface="Times New Roman" panose="02020603050405020304" pitchFamily="18" charset="0"/>
                <a:cs typeface="Times New Roman" panose="02020603050405020304" pitchFamily="18" charset="0"/>
              </a:rPr>
              <a:t>C.</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Dòng tiêu thụ: Chỉ </a:t>
            </a:r>
            <a:r>
              <a:rPr lang="en-US" sz="3000" dirty="0" err="1">
                <a:latin typeface="Times New Roman" panose="02020603050405020304" pitchFamily="18" charset="0"/>
                <a:cs typeface="Times New Roman" panose="02020603050405020304" pitchFamily="18" charset="0"/>
              </a:rPr>
              <a:t>từ</a:t>
            </a:r>
            <a:r>
              <a:rPr lang="en-US"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40 – 145 µA.</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Giao tiếp truyền thông: Chuẩn số I2C (địa chỉ 0x53) hoặc SPI 3-wire/4-wire.</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Dải đo linh hoạt: Cài đặt phần mềm ±2g, ±4g, ±8g, ±16g.</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Độ nhạy cao: Nhận diện rung lắc nhỏ đến 3.9 mg/LSB.</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Nguyên lý: Cấu trúc MEMS vi cơ điện tử, khối lượng quán tính dịch chuyển khi có rung lắc làm biến thiên điện dung, chuyển thành giá trị số gia tốc.</a:t>
            </a:r>
            <a:endParaRPr lang="vi-VN" sz="3000" b="1" dirty="0">
              <a:latin typeface="Times New Roman" panose="02020603050405020304" pitchFamily="18" charset="0"/>
              <a:ea typeface="Calibri" pitchFamily="34" charset="0"/>
              <a:cs typeface="Times New Roman" panose="02020603050405020304" pitchFamily="18" charset="0"/>
            </a:endParaRPr>
          </a:p>
          <a:p>
            <a:endParaRPr lang="vi-VN" sz="2800" b="1" dirty="0"/>
          </a:p>
        </p:txBody>
      </p:sp>
      <p:pic>
        <p:nvPicPr>
          <p:cNvPr id="3" name="Picture 2" descr="adxl345_module.jpg">
            <a:extLst>
              <a:ext uri="{FF2B5EF4-FFF2-40B4-BE49-F238E27FC236}">
                <a16:creationId xmlns:a16="http://schemas.microsoft.com/office/drawing/2014/main" id="{304FE025-478E-AA02-0AAD-3C40D98D81DF}"/>
              </a:ext>
            </a:extLst>
          </p:cNvPr>
          <p:cNvPicPr>
            <a:picLocks noChangeAspect="1"/>
          </p:cNvPicPr>
          <p:nvPr/>
        </p:nvPicPr>
        <p:blipFill>
          <a:blip r:embed="rId2"/>
          <a:stretch>
            <a:fillRect/>
          </a:stretch>
        </p:blipFill>
        <p:spPr>
          <a:xfrm>
            <a:off x="838200" y="933415"/>
            <a:ext cx="3664932" cy="2879192"/>
          </a:xfrm>
          <a:prstGeom prst="rect">
            <a:avLst/>
          </a:prstGeom>
        </p:spPr>
      </p:pic>
    </p:spTree>
    <p:extLst>
      <p:ext uri="{BB962C8B-B14F-4D97-AF65-F5344CB8AC3E}">
        <p14:creationId xmlns:p14="http://schemas.microsoft.com/office/powerpoint/2010/main" val="332881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434BC1-9C4F-B601-7B69-A01034802C21}"/>
              </a:ext>
            </a:extLst>
          </p:cNvPr>
          <p:cNvSpPr txBox="1">
            <a:spLocks/>
          </p:cNvSpPr>
          <p:nvPr/>
        </p:nvSpPr>
        <p:spPr>
          <a:xfrm>
            <a:off x="34636" y="647700"/>
            <a:ext cx="18288000" cy="996137"/>
          </a:xfrm>
          <a:prstGeom prst="rect">
            <a:avLst/>
          </a:prstGeom>
          <a:noFill/>
          <a:ln>
            <a:noFill/>
          </a:ln>
          <a:effectLst>
            <a:innerShdw blurRad="114300">
              <a:prstClr val="black"/>
            </a:innerShdw>
          </a:effectLst>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vi-VN" sz="4800" b="1" dirty="0">
                <a:latin typeface="Calibri" panose="020F0502020204030204" pitchFamily="34" charset="0"/>
                <a:ea typeface="Calibri" panose="020F0502020204030204" pitchFamily="34" charset="0"/>
                <a:cs typeface="Calibri" panose="020F0502020204030204" pitchFamily="34" charset="0"/>
              </a:rPr>
              <a:t>Cảm biến</a:t>
            </a:r>
            <a:r>
              <a:rPr lang="en-US" sz="4800" b="1" dirty="0">
                <a:latin typeface="Calibri" panose="020F0502020204030204" pitchFamily="34" charset="0"/>
                <a:ea typeface="Calibri" panose="020F0502020204030204" pitchFamily="34" charset="0"/>
                <a:cs typeface="Calibri" panose="020F0502020204030204" pitchFamily="34" charset="0"/>
              </a:rPr>
              <a:t> </a:t>
            </a:r>
            <a:r>
              <a:rPr lang="en-US" sz="4800" b="1" dirty="0" err="1">
                <a:latin typeface="Calibri" panose="020F0502020204030204" pitchFamily="34" charset="0"/>
                <a:ea typeface="Calibri" panose="020F0502020204030204" pitchFamily="34" charset="0"/>
                <a:cs typeface="Calibri" panose="020F0502020204030204" pitchFamily="34" charset="0"/>
              </a:rPr>
              <a:t>gia</a:t>
            </a:r>
            <a:r>
              <a:rPr lang="en-US" sz="4800" b="1" dirty="0">
                <a:latin typeface="Calibri" panose="020F0502020204030204" pitchFamily="34" charset="0"/>
                <a:ea typeface="Calibri" panose="020F0502020204030204" pitchFamily="34" charset="0"/>
                <a:cs typeface="Calibri" panose="020F0502020204030204" pitchFamily="34" charset="0"/>
              </a:rPr>
              <a:t> </a:t>
            </a:r>
            <a:r>
              <a:rPr lang="en-US" sz="4800" b="1" dirty="0" err="1">
                <a:latin typeface="Calibri" panose="020F0502020204030204" pitchFamily="34" charset="0"/>
                <a:ea typeface="Calibri" panose="020F0502020204030204" pitchFamily="34" charset="0"/>
                <a:cs typeface="Calibri" panose="020F0502020204030204" pitchFamily="34" charset="0"/>
              </a:rPr>
              <a:t>tốc</a:t>
            </a:r>
            <a:r>
              <a:rPr lang="en-US" sz="4800" b="1" dirty="0">
                <a:latin typeface="Calibri" panose="020F0502020204030204" pitchFamily="34" charset="0"/>
                <a:ea typeface="Calibri" panose="020F0502020204030204" pitchFamily="34" charset="0"/>
                <a:cs typeface="Calibri" panose="020F0502020204030204" pitchFamily="34" charset="0"/>
              </a:rPr>
              <a:t> &amp; rung </a:t>
            </a:r>
            <a:r>
              <a:rPr lang="en-US" sz="4800" b="1" dirty="0" err="1">
                <a:latin typeface="Calibri" panose="020F0502020204030204" pitchFamily="34" charset="0"/>
                <a:ea typeface="Calibri" panose="020F0502020204030204" pitchFamily="34" charset="0"/>
                <a:cs typeface="Calibri" panose="020F0502020204030204" pitchFamily="34" charset="0"/>
              </a:rPr>
              <a:t>động</a:t>
            </a:r>
            <a:endParaRPr lang="en-US" sz="48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p:cNvSpPr/>
          <p:nvPr/>
        </p:nvSpPr>
        <p:spPr>
          <a:xfrm>
            <a:off x="457200" y="2895439"/>
            <a:ext cx="10751127" cy="5816977"/>
          </a:xfrm>
          <a:prstGeom prst="rect">
            <a:avLst/>
          </a:prstGeom>
        </p:spPr>
        <p:txBody>
          <a:bodyPr wrap="square">
            <a:spAutoFit/>
          </a:bodyPr>
          <a:lstStyle/>
          <a:p>
            <a:pPr>
              <a:defRPr sz="1600">
                <a:solidFill>
                  <a:srgbClr val="1E2D3C"/>
                </a:solidFill>
                <a:latin typeface="Montserrat"/>
              </a:defRPr>
            </a:pPr>
            <a:r>
              <a:rPr lang="vi-VN" sz="3200" b="1" dirty="0">
                <a:latin typeface="+mj-lt"/>
              </a:rPr>
              <a:t>Nguyên lý hoạt động</a:t>
            </a:r>
            <a:br>
              <a:rPr lang="vi-VN" sz="2700" dirty="0">
                <a:latin typeface="+mj-lt"/>
              </a:rPr>
            </a:br>
            <a:br>
              <a:rPr lang="vi-VN" sz="2400" dirty="0">
                <a:latin typeface="+mj-lt"/>
              </a:rPr>
            </a:br>
            <a:r>
              <a:rPr lang="en-US" sz="3200" dirty="0">
                <a:solidFill>
                  <a:srgbClr val="1E2D3C"/>
                </a:solidFill>
                <a:sym typeface="Symbol" panose="05050102010706020507" pitchFamily="18" charset="2"/>
              </a:rPr>
              <a:t></a:t>
            </a:r>
            <a:r>
              <a:rPr lang="vi-VN" sz="3200" dirty="0">
                <a:latin typeface="+mj-lt"/>
              </a:rPr>
              <a:t> Cấu trúc vi cơ điện tử (MEMS): Bên trong cảm biến có cấu trúc tụ điện vi sai gồm các bản cực silicon cố định và bản cực di động gắn với khối lượng quán tính.</a:t>
            </a:r>
            <a:br>
              <a:rPr lang="vi-VN" sz="3200" dirty="0">
                <a:latin typeface="+mj-lt"/>
              </a:rPr>
            </a:br>
            <a:br>
              <a:rPr lang="vi-VN" sz="3200" dirty="0">
                <a:latin typeface="+mj-lt"/>
              </a:rPr>
            </a:br>
            <a:r>
              <a:rPr lang="en-US" sz="3200" dirty="0">
                <a:latin typeface="+mj-lt"/>
                <a:sym typeface="Symbol" panose="05050102010706020507" pitchFamily="18" charset="2"/>
              </a:rPr>
              <a:t></a:t>
            </a:r>
            <a:r>
              <a:rPr lang="vi-VN" sz="3200" dirty="0">
                <a:latin typeface="+mj-lt"/>
              </a:rPr>
              <a:t> Biến thiên điện dung: Khi mặt đất rung lắc do động đất, khối lượng quán tính bị dịch chuyển làm thay đổi khoảng cách giữa các bản tụ điện, dẫn đến biến thiên điện dung tỷ lệ thuận với gia tốc rung chấn.</a:t>
            </a:r>
            <a:br>
              <a:rPr lang="vi-VN" sz="3200" dirty="0">
                <a:latin typeface="+mj-lt"/>
              </a:rPr>
            </a:br>
            <a:br>
              <a:rPr lang="vi-VN" sz="2600" dirty="0">
                <a:latin typeface="+mj-lt"/>
              </a:rPr>
            </a:br>
            <a:endParaRPr lang="vi-VN" sz="2600" dirty="0">
              <a:latin typeface="+mj-lt"/>
            </a:endParaRPr>
          </a:p>
        </p:txBody>
      </p:sp>
      <p:pic>
        <p:nvPicPr>
          <p:cNvPr id="3" name="Picture 2">
            <a:extLst>
              <a:ext uri="{FF2B5EF4-FFF2-40B4-BE49-F238E27FC236}">
                <a16:creationId xmlns:a16="http://schemas.microsoft.com/office/drawing/2014/main" id="{E0E7C11B-B13E-3166-B670-76C305A1800A}"/>
              </a:ext>
            </a:extLst>
          </p:cNvPr>
          <p:cNvPicPr>
            <a:picLocks noChangeAspect="1"/>
          </p:cNvPicPr>
          <p:nvPr/>
        </p:nvPicPr>
        <p:blipFill>
          <a:blip r:embed="rId2"/>
          <a:stretch>
            <a:fillRect/>
          </a:stretch>
        </p:blipFill>
        <p:spPr>
          <a:xfrm>
            <a:off x="11811000" y="3238500"/>
            <a:ext cx="6165834" cy="5130856"/>
          </a:xfrm>
          <a:prstGeom prst="rect">
            <a:avLst/>
          </a:prstGeom>
        </p:spPr>
      </p:pic>
      <p:pic>
        <p:nvPicPr>
          <p:cNvPr id="4" name="Picture 3" descr="adxl345_module.jpg">
            <a:extLst>
              <a:ext uri="{FF2B5EF4-FFF2-40B4-BE49-F238E27FC236}">
                <a16:creationId xmlns:a16="http://schemas.microsoft.com/office/drawing/2014/main" id="{74C32DCC-BCE4-2A2E-21D1-4BBB93484C1A}"/>
              </a:ext>
            </a:extLst>
          </p:cNvPr>
          <p:cNvPicPr>
            <a:picLocks noChangeAspect="1"/>
          </p:cNvPicPr>
          <p:nvPr/>
        </p:nvPicPr>
        <p:blipFill>
          <a:blip r:embed="rId3"/>
          <a:stretch>
            <a:fillRect/>
          </a:stretch>
        </p:blipFill>
        <p:spPr>
          <a:xfrm>
            <a:off x="914400" y="473447"/>
            <a:ext cx="3082961" cy="2421992"/>
          </a:xfrm>
          <a:prstGeom prst="rect">
            <a:avLst/>
          </a:prstGeom>
        </p:spPr>
      </p:pic>
    </p:spTree>
    <p:extLst>
      <p:ext uri="{BB962C8B-B14F-4D97-AF65-F5344CB8AC3E}">
        <p14:creationId xmlns:p14="http://schemas.microsoft.com/office/powerpoint/2010/main" val="3899342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BE643-6DC4-1CF2-73FC-27FA75854532}"/>
            </a:ext>
          </a:extLst>
        </p:cNvPr>
        <p:cNvGrpSpPr/>
        <p:nvPr/>
      </p:nvGrpSpPr>
      <p:grpSpPr>
        <a:xfrm>
          <a:off x="0" y="0"/>
          <a:ext cx="0" cy="0"/>
          <a:chOff x="0" y="0"/>
          <a:chExt cx="0" cy="0"/>
        </a:xfrm>
      </p:grpSpPr>
      <p:sp>
        <p:nvSpPr>
          <p:cNvPr id="6" name="TextBox 15">
            <a:extLst>
              <a:ext uri="{FF2B5EF4-FFF2-40B4-BE49-F238E27FC236}">
                <a16:creationId xmlns:a16="http://schemas.microsoft.com/office/drawing/2014/main" id="{14F6D68B-99A1-5BDD-0F75-CA1ECC49ED2D}"/>
              </a:ext>
            </a:extLst>
          </p:cNvPr>
          <p:cNvSpPr txBox="1"/>
          <p:nvPr/>
        </p:nvSpPr>
        <p:spPr>
          <a:xfrm>
            <a:off x="28576" y="647702"/>
            <a:ext cx="18288000" cy="865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ea typeface="Montserrat Bold" panose="00000800000000000000"/>
                <a:cs typeface="Montserrat Bold" panose="00000800000000000000"/>
                <a:sym typeface="Montserrat Bold" panose="00000800000000000000"/>
              </a:rPr>
              <a:t>GIỚI THIỆU PHẦN CỨNG</a:t>
            </a:r>
          </a:p>
        </p:txBody>
      </p:sp>
      <p:sp>
        <p:nvSpPr>
          <p:cNvPr id="8" name="Title 5">
            <a:extLst>
              <a:ext uri="{FF2B5EF4-FFF2-40B4-BE49-F238E27FC236}">
                <a16:creationId xmlns:a16="http://schemas.microsoft.com/office/drawing/2014/main" id="{322DAA5E-4A66-D14E-00BB-7DD8121E49C4}"/>
              </a:ext>
            </a:extLst>
          </p:cNvPr>
          <p:cNvSpPr txBox="1">
            <a:spLocks/>
          </p:cNvSpPr>
          <p:nvPr/>
        </p:nvSpPr>
        <p:spPr>
          <a:xfrm>
            <a:off x="457200" y="2161089"/>
            <a:ext cx="4068892" cy="1108493"/>
          </a:xfrm>
          <a:prstGeom prst="rect">
            <a:avLst/>
          </a:prstGeom>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vi-VN" sz="3200" b="1" dirty="0"/>
              <a:t>Cảm biến </a:t>
            </a:r>
            <a:r>
              <a:rPr lang="en-US" sz="3200" b="1" dirty="0" err="1">
                <a:latin typeface="Times New Roman" panose="02020603050405020304" pitchFamily="18" charset="0"/>
                <a:cs typeface="Times New Roman" panose="02020603050405020304" pitchFamily="18" charset="0"/>
              </a:rPr>
              <a:t>nhiệt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độ</a:t>
            </a:r>
            <a:r>
              <a:rPr lang="en-US" sz="3200" b="1" dirty="0">
                <a:latin typeface="Times New Roman" panose="02020603050405020304" pitchFamily="18" charset="0"/>
                <a:cs typeface="Times New Roman" panose="02020603050405020304" pitchFamily="18" charset="0"/>
              </a:rPr>
              <a:t> &amp; </a:t>
            </a:r>
            <a:r>
              <a:rPr lang="en-US" sz="3200" b="1" dirty="0" err="1">
                <a:latin typeface="Times New Roman" panose="02020603050405020304" pitchFamily="18" charset="0"/>
                <a:cs typeface="Times New Roman" panose="02020603050405020304" pitchFamily="18" charset="0"/>
              </a:rPr>
              <a:t>độ</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ẩm</a:t>
            </a:r>
            <a:endParaRPr lang="en-US" sz="3200" b="1" dirty="0">
              <a:latin typeface="Times New Roman" panose="02020603050405020304" pitchFamily="18" charset="0"/>
              <a:cs typeface="Times New Roman" panose="02020603050405020304" pitchFamily="18" charset="0"/>
            </a:endParaRPr>
          </a:p>
          <a:p>
            <a:pPr algn="ctr"/>
            <a:endParaRPr lang="en-US" sz="3200" dirty="0"/>
          </a:p>
        </p:txBody>
      </p:sp>
      <p:sp>
        <p:nvSpPr>
          <p:cNvPr id="11" name="TextBox 10">
            <a:extLst>
              <a:ext uri="{FF2B5EF4-FFF2-40B4-BE49-F238E27FC236}">
                <a16:creationId xmlns:a16="http://schemas.microsoft.com/office/drawing/2014/main" id="{EE0FA558-E229-4713-3C90-B9FE109FE1C4}"/>
              </a:ext>
            </a:extLst>
          </p:cNvPr>
          <p:cNvSpPr txBox="1"/>
          <p:nvPr/>
        </p:nvSpPr>
        <p:spPr>
          <a:xfrm>
            <a:off x="457200" y="3898233"/>
            <a:ext cx="17678400" cy="4708981"/>
          </a:xfrm>
          <a:prstGeom prst="rect">
            <a:avLst/>
          </a:prstGeom>
          <a:noFill/>
        </p:spPr>
        <p:txBody>
          <a:bodyPr wrap="square" rtlCol="0">
            <a:spAutoFit/>
          </a:bodyPr>
          <a:lstStyle/>
          <a:p>
            <a:pPr>
              <a:defRPr sz="1600">
                <a:solidFill>
                  <a:srgbClr val="1E2D3C"/>
                </a:solidFill>
                <a:latin typeface="Montserrat"/>
              </a:defRPr>
            </a:pPr>
            <a:r>
              <a:rPr lang="vi-VN" sz="3000" dirty="0">
                <a:latin typeface="Times New Roman" panose="02020603050405020304" pitchFamily="18" charset="0"/>
                <a:cs typeface="Times New Roman" panose="02020603050405020304" pitchFamily="18" charset="0"/>
                <a:sym typeface="Symbol" panose="05050102010706020507" pitchFamily="18" charset="2"/>
              </a:rPr>
              <a:t></a:t>
            </a:r>
            <a:r>
              <a:rPr lang="en-US" sz="3000" dirty="0">
                <a:latin typeface="Times New Roman" panose="02020603050405020304" pitchFamily="18" charset="0"/>
                <a:cs typeface="Times New Roman" panose="02020603050405020304" pitchFamily="18" charset="0"/>
                <a:sym typeface="Symbol" panose="05050102010706020507" pitchFamily="18" charset="2"/>
              </a:rPr>
              <a:t> </a:t>
            </a:r>
            <a:r>
              <a:rPr lang="vi-VN" sz="3000" dirty="0">
                <a:latin typeface="Times New Roman" panose="02020603050405020304" pitchFamily="18" charset="0"/>
                <a:cs typeface="Times New Roman" panose="02020603050405020304" pitchFamily="18" charset="0"/>
              </a:rPr>
              <a:t>Cảm biến DHT11 đảm nhiệm đo đạc nhiệt độ và độ ẩm không khí, giám sát hiện tượng quá nhiệt do đám cháy </a:t>
            </a:r>
            <a:r>
              <a:rPr lang="en-US" sz="3000" dirty="0" err="1">
                <a:latin typeface="Times New Roman" panose="02020603050405020304" pitchFamily="18" charset="0"/>
                <a:cs typeface="Times New Roman" panose="02020603050405020304" pitchFamily="18" charset="0"/>
              </a:rPr>
              <a:t>ầm</a:t>
            </a:r>
            <a:r>
              <a:rPr lang="vi-VN" sz="3000" dirty="0">
                <a:latin typeface="Times New Roman" panose="02020603050405020304" pitchFamily="18" charset="0"/>
                <a:cs typeface="Times New Roman" panose="02020603050405020304" pitchFamily="18" charset="0"/>
              </a:rPr>
              <a:t> ỉ hoặc cháy l</a:t>
            </a:r>
            <a:r>
              <a:rPr lang="en-US" sz="3000" dirty="0">
                <a:latin typeface="Times New Roman" panose="02020603050405020304" pitchFamily="18" charset="0"/>
                <a:cs typeface="Times New Roman" panose="02020603050405020304" pitchFamily="18" charset="0"/>
              </a:rPr>
              <a:t>an</a:t>
            </a:r>
            <a:r>
              <a:rPr lang="vi-VN" sz="3000" dirty="0">
                <a:latin typeface="Times New Roman" panose="02020603050405020304" pitchFamily="18" charset="0"/>
                <a:cs typeface="Times New Roman" panose="02020603050405020304" pitchFamily="18" charset="0"/>
              </a:rPr>
              <a:t>.</a:t>
            </a:r>
            <a:br>
              <a:rPr lang="vi-VN" sz="3000" dirty="0">
                <a:latin typeface="Times New Roman" panose="02020603050405020304" pitchFamily="18" charset="0"/>
                <a:cs typeface="Times New Roman" panose="02020603050405020304" pitchFamily="18" charset="0"/>
              </a:rPr>
            </a:b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Điện áp hoạt động: 3.3V – 5.5V DC.</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Dải đo nhiệt độ: 0°C đến 50°C</a:t>
            </a:r>
            <a:r>
              <a:rPr lang="en-US" sz="3000" dirty="0">
                <a:latin typeface="Times New Roman" panose="02020603050405020304" pitchFamily="18" charset="0"/>
                <a:cs typeface="Times New Roman" panose="02020603050405020304" pitchFamily="18" charset="0"/>
              </a:rPr>
              <a:t>.</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Dải đo độ ẩm: 20% đến 90% RH </a:t>
            </a:r>
            <a:endParaRPr lang="en-US" sz="3000" dirty="0">
              <a:latin typeface="Times New Roman" panose="02020603050405020304" pitchFamily="18" charset="0"/>
              <a:cs typeface="Times New Roman" panose="02020603050405020304" pitchFamily="18" charset="0"/>
            </a:endParaRPr>
          </a:p>
          <a:p>
            <a:pPr>
              <a:defRPr sz="1600">
                <a:solidFill>
                  <a:srgbClr val="1E2D3C"/>
                </a:solidFill>
                <a:latin typeface="Montserrat"/>
              </a:defRPr>
            </a:pPr>
            <a:r>
              <a:rPr lang="vi-VN" sz="3000" dirty="0">
                <a:latin typeface="Times New Roman" panose="02020603050405020304" pitchFamily="18" charset="0"/>
                <a:cs typeface="Times New Roman" panose="02020603050405020304" pitchFamily="18" charset="0"/>
              </a:rPr>
              <a:t>• Tần số lấy mẫu: 1 Hz (1 giây một lần đọc).</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Chuẩn giao tiếp: 1-Wire Digital (truyền tín hiệu số trên 1 chân duy nhất).</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Nguyên lý: Tích hợp cảm biến nhiệt điện trở NTC và màng polymer đo độ ẩm, có vi điều khiển 8-bit tích hợp tự động mã hóa chuỗi bit truyền về ESP32.</a:t>
            </a:r>
            <a:endParaRPr lang="vi-VN" sz="3000" b="1" dirty="0">
              <a:latin typeface="Times New Roman" panose="02020603050405020304" pitchFamily="18" charset="0"/>
              <a:cs typeface="Times New Roman" panose="02020603050405020304" pitchFamily="18" charset="0"/>
            </a:endParaRPr>
          </a:p>
        </p:txBody>
      </p:sp>
      <p:pic>
        <p:nvPicPr>
          <p:cNvPr id="2" name="Picture 1" descr="dht11_sensor.jpg">
            <a:extLst>
              <a:ext uri="{FF2B5EF4-FFF2-40B4-BE49-F238E27FC236}">
                <a16:creationId xmlns:a16="http://schemas.microsoft.com/office/drawing/2014/main" id="{E4E0DD89-945B-F826-18E7-710C9BC8003D}"/>
              </a:ext>
            </a:extLst>
          </p:cNvPr>
          <p:cNvPicPr>
            <a:picLocks noChangeAspect="1"/>
          </p:cNvPicPr>
          <p:nvPr/>
        </p:nvPicPr>
        <p:blipFill>
          <a:blip r:embed="rId2"/>
          <a:stretch>
            <a:fillRect/>
          </a:stretch>
        </p:blipFill>
        <p:spPr>
          <a:xfrm>
            <a:off x="762000" y="38100"/>
            <a:ext cx="3429000" cy="1996656"/>
          </a:xfrm>
          <a:prstGeom prst="rect">
            <a:avLst/>
          </a:prstGeom>
        </p:spPr>
      </p:pic>
    </p:spTree>
    <p:extLst>
      <p:ext uri="{BB962C8B-B14F-4D97-AF65-F5344CB8AC3E}">
        <p14:creationId xmlns:p14="http://schemas.microsoft.com/office/powerpoint/2010/main" val="1317964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59434BC1-9C4F-B601-7B69-A01034802C21}"/>
              </a:ext>
            </a:extLst>
          </p:cNvPr>
          <p:cNvSpPr txBox="1">
            <a:spLocks/>
          </p:cNvSpPr>
          <p:nvPr/>
        </p:nvSpPr>
        <p:spPr>
          <a:xfrm>
            <a:off x="0" y="647700"/>
            <a:ext cx="18288000" cy="990600"/>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vi-VN" sz="4800" b="1" dirty="0">
                <a:latin typeface="Calibri" panose="020F0502020204030204" pitchFamily="34" charset="0"/>
                <a:ea typeface="Calibri" panose="020F0502020204030204" pitchFamily="34" charset="0"/>
                <a:cs typeface="Calibri" panose="020F0502020204030204" pitchFamily="34" charset="0"/>
              </a:rPr>
              <a:t>Cảm biến </a:t>
            </a:r>
            <a:r>
              <a:rPr lang="en-US" sz="4800" b="1" dirty="0" err="1">
                <a:latin typeface="Calibri" panose="020F0502020204030204" pitchFamily="34" charset="0"/>
                <a:ea typeface="Calibri" panose="020F0502020204030204" pitchFamily="34" charset="0"/>
                <a:cs typeface="Calibri" panose="020F0502020204030204" pitchFamily="34" charset="0"/>
              </a:rPr>
              <a:t>nhiệt</a:t>
            </a:r>
            <a:r>
              <a:rPr lang="en-US" sz="4800" b="1" dirty="0">
                <a:latin typeface="Calibri" panose="020F0502020204030204" pitchFamily="34" charset="0"/>
                <a:ea typeface="Calibri" panose="020F0502020204030204" pitchFamily="34" charset="0"/>
                <a:cs typeface="Calibri" panose="020F0502020204030204" pitchFamily="34" charset="0"/>
              </a:rPr>
              <a:t> </a:t>
            </a:r>
            <a:r>
              <a:rPr lang="en-US" sz="4800" b="1" dirty="0" err="1">
                <a:latin typeface="Calibri" panose="020F0502020204030204" pitchFamily="34" charset="0"/>
                <a:ea typeface="Calibri" panose="020F0502020204030204" pitchFamily="34" charset="0"/>
                <a:cs typeface="Calibri" panose="020F0502020204030204" pitchFamily="34" charset="0"/>
              </a:rPr>
              <a:t>độ</a:t>
            </a:r>
            <a:r>
              <a:rPr lang="en-US" sz="4800" b="1" dirty="0">
                <a:latin typeface="Calibri" panose="020F0502020204030204" pitchFamily="34" charset="0"/>
                <a:ea typeface="Calibri" panose="020F0502020204030204" pitchFamily="34" charset="0"/>
                <a:cs typeface="Calibri" panose="020F0502020204030204" pitchFamily="34" charset="0"/>
              </a:rPr>
              <a:t> &amp; </a:t>
            </a:r>
            <a:r>
              <a:rPr lang="en-US" sz="4800" b="1" dirty="0" err="1">
                <a:latin typeface="Calibri" panose="020F0502020204030204" pitchFamily="34" charset="0"/>
                <a:ea typeface="Calibri" panose="020F0502020204030204" pitchFamily="34" charset="0"/>
                <a:cs typeface="Calibri" panose="020F0502020204030204" pitchFamily="34" charset="0"/>
              </a:rPr>
              <a:t>độ</a:t>
            </a:r>
            <a:r>
              <a:rPr lang="en-US" sz="4800" b="1" dirty="0">
                <a:latin typeface="Calibri" panose="020F0502020204030204" pitchFamily="34" charset="0"/>
                <a:ea typeface="Calibri" panose="020F0502020204030204" pitchFamily="34" charset="0"/>
                <a:cs typeface="Calibri" panose="020F0502020204030204" pitchFamily="34" charset="0"/>
              </a:rPr>
              <a:t> </a:t>
            </a:r>
            <a:r>
              <a:rPr lang="en-US" sz="4800" b="1" dirty="0" err="1">
                <a:latin typeface="Calibri" panose="020F0502020204030204" pitchFamily="34" charset="0"/>
                <a:ea typeface="Calibri" panose="020F0502020204030204" pitchFamily="34" charset="0"/>
                <a:cs typeface="Calibri" panose="020F0502020204030204" pitchFamily="34" charset="0"/>
              </a:rPr>
              <a:t>ẩm</a:t>
            </a:r>
            <a:endParaRPr lang="en-US" sz="4800" b="1" dirty="0">
              <a:latin typeface="Calibri" panose="020F0502020204030204" pitchFamily="34" charset="0"/>
              <a:ea typeface="Calibri" panose="020F0502020204030204" pitchFamily="34" charset="0"/>
              <a:cs typeface="Calibri" panose="020F0502020204030204" pitchFamily="34" charset="0"/>
            </a:endParaRPr>
          </a:p>
          <a:p>
            <a:pPr algn="ctr"/>
            <a:endParaRPr lang="en-US" sz="4800" b="1" dirty="0">
              <a:ln w="12700">
                <a:solidFill>
                  <a:schemeClr val="tx2">
                    <a:satMod val="155000"/>
                  </a:schemeClr>
                </a:solidFill>
                <a:prstDash val="solid"/>
              </a:ln>
              <a:solidFill>
                <a:schemeClr val="bg2">
                  <a:tint val="85000"/>
                  <a:satMod val="155000"/>
                </a:schemeClr>
              </a:solidFill>
              <a:effectLst>
                <a:outerShdw blurRad="50800" dist="38100" dir="2700000" algn="tl" rotWithShape="0">
                  <a:prstClr val="black">
                    <a:alpha val="40000"/>
                  </a:prstClr>
                </a:outerShdw>
              </a:effectLst>
            </a:endParaRPr>
          </a:p>
        </p:txBody>
      </p:sp>
      <p:sp>
        <p:nvSpPr>
          <p:cNvPr id="3" name="TextBox 2"/>
          <p:cNvSpPr txBox="1"/>
          <p:nvPr/>
        </p:nvSpPr>
        <p:spPr>
          <a:xfrm>
            <a:off x="174625" y="3543300"/>
            <a:ext cx="17960975" cy="4555093"/>
          </a:xfrm>
          <a:prstGeom prst="rect">
            <a:avLst/>
          </a:prstGeom>
          <a:noFill/>
        </p:spPr>
        <p:txBody>
          <a:bodyPr wrap="square" rtlCol="0">
            <a:spAutoFit/>
          </a:bodyPr>
          <a:lstStyle/>
          <a:p>
            <a:pPr>
              <a:defRPr sz="1600">
                <a:solidFill>
                  <a:srgbClr val="1E2D3C"/>
                </a:solidFill>
                <a:latin typeface="Montserrat"/>
              </a:defRPr>
            </a:pPr>
            <a:br>
              <a:rPr lang="vi-VN" sz="2700" dirty="0">
                <a:latin typeface="Times New Roman" panose="02020603050405020304" pitchFamily="18" charset="0"/>
                <a:cs typeface="Times New Roman" panose="02020603050405020304" pitchFamily="18" charset="0"/>
              </a:rPr>
            </a:br>
            <a:br>
              <a:rPr lang="vi-VN" sz="2700" dirty="0">
                <a:latin typeface="Times New Roman" panose="02020603050405020304" pitchFamily="18" charset="0"/>
                <a:cs typeface="Times New Roman" panose="02020603050405020304" pitchFamily="18" charset="0"/>
              </a:rPr>
            </a:br>
            <a:r>
              <a:rPr lang="vi-VN" sz="3600" b="1" dirty="0">
                <a:latin typeface="+mj-lt"/>
              </a:rPr>
              <a:t>Nguyên lý hoạt động</a:t>
            </a:r>
            <a:endParaRPr lang="en-US" sz="3600" dirty="0">
              <a:latin typeface="+mj-lt"/>
            </a:endParaRPr>
          </a:p>
          <a:p>
            <a:pPr>
              <a:defRPr sz="1600">
                <a:solidFill>
                  <a:srgbClr val="1E2D3C"/>
                </a:solidFill>
                <a:latin typeface="Montserrat"/>
              </a:defRPr>
            </a:pPr>
            <a:endParaRPr lang="en-US" sz="3000" dirty="0">
              <a:latin typeface="+mj-lt"/>
            </a:endParaRPr>
          </a:p>
          <a:p>
            <a:pPr>
              <a:defRPr sz="1600">
                <a:solidFill>
                  <a:srgbClr val="1E2D3C"/>
                </a:solidFill>
                <a:latin typeface="Montserrat"/>
              </a:defRPr>
            </a:pP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sym typeface="Symbol" panose="05050102010706020507" pitchFamily="18" charset="2"/>
              </a:rPr>
              <a:t> </a:t>
            </a:r>
            <a:r>
              <a:rPr lang="vi-VN" sz="3400" dirty="0">
                <a:latin typeface="Times New Roman" panose="02020603050405020304" pitchFamily="18" charset="0"/>
                <a:cs typeface="Times New Roman" panose="02020603050405020304" pitchFamily="18" charset="0"/>
              </a:rPr>
              <a:t>Đo nhiệt độ: Cảm biến sử dụng nhiệt điện trở để xác định nhiệt độ môi trường.</a:t>
            </a:r>
            <a:endParaRPr lang="en-US" sz="3400" dirty="0">
              <a:latin typeface="Times New Roman" panose="02020603050405020304" pitchFamily="18" charset="0"/>
              <a:cs typeface="Times New Roman" panose="02020603050405020304" pitchFamily="18" charset="0"/>
            </a:endParaRPr>
          </a:p>
          <a:p>
            <a:pPr>
              <a:defRPr sz="1600">
                <a:solidFill>
                  <a:srgbClr val="1E2D3C"/>
                </a:solidFill>
                <a:latin typeface="Montserrat"/>
              </a:defRPr>
            </a:pPr>
            <a:r>
              <a:rPr lang="en-US" sz="3400" dirty="0">
                <a:latin typeface="Times New Roman" panose="02020603050405020304" pitchFamily="18" charset="0"/>
                <a:cs typeface="Times New Roman" panose="02020603050405020304" pitchFamily="18" charset="0"/>
                <a:sym typeface="Symbol" panose="05050102010706020507" pitchFamily="18" charset="2"/>
              </a:rPr>
              <a:t> </a:t>
            </a:r>
            <a:r>
              <a:rPr lang="en-US" sz="3400" dirty="0" err="1">
                <a:latin typeface="Times New Roman" panose="02020603050405020304" pitchFamily="18" charset="0"/>
                <a:cs typeface="Times New Roman" panose="02020603050405020304" pitchFamily="18" charset="0"/>
              </a:rPr>
              <a:t>Đo</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độ</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ẩm</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Phần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tử</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cảm</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biến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độ</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ẩm</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nhận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biết</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sự</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thay</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đổi</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độ</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ẩm</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trong</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không</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khí</a:t>
            </a:r>
            <a:r>
              <a:rPr lang="en-US" sz="3400" dirty="0">
                <a:latin typeface="Times New Roman" panose="02020603050405020304" pitchFamily="18" charset="0"/>
                <a:cs typeface="Times New Roman" panose="02020603050405020304" pitchFamily="18" charset="0"/>
              </a:rPr>
              <a:t>.</a:t>
            </a:r>
          </a:p>
          <a:p>
            <a:pPr>
              <a:defRPr sz="1600">
                <a:solidFill>
                  <a:srgbClr val="1E2D3C"/>
                </a:solidFill>
                <a:latin typeface="Montserrat"/>
              </a:defRPr>
            </a:pPr>
            <a:r>
              <a:rPr lang="en-US" sz="3400" dirty="0">
                <a:latin typeface="Times New Roman" panose="02020603050405020304" pitchFamily="18" charset="0"/>
                <a:cs typeface="Times New Roman" panose="02020603050405020304" pitchFamily="18" charset="0"/>
                <a:sym typeface="Symbol" panose="05050102010706020507" pitchFamily="18" charset="2"/>
              </a:rPr>
              <a:t> </a:t>
            </a:r>
            <a:r>
              <a:rPr lang="en-US" sz="3400" dirty="0" err="1">
                <a:latin typeface="Times New Roman" panose="02020603050405020304" pitchFamily="18" charset="0"/>
                <a:cs typeface="Times New Roman" panose="02020603050405020304" pitchFamily="18" charset="0"/>
              </a:rPr>
              <a:t>Xử</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lý</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dữ</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liệu</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Mạch</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điện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tử</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bên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trong</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xử</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lý</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các</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giá</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trị</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đo</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và</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chuyển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đổi</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thành</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dữ</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liệu</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số</a:t>
            </a:r>
            <a:r>
              <a:rPr lang="en-US" sz="3400" dirty="0">
                <a:latin typeface="Times New Roman" panose="02020603050405020304" pitchFamily="18" charset="0"/>
                <a:cs typeface="Times New Roman" panose="02020603050405020304" pitchFamily="18" charset="0"/>
              </a:rPr>
              <a:t>.</a:t>
            </a:r>
          </a:p>
          <a:p>
            <a:pPr>
              <a:defRPr sz="1600">
                <a:solidFill>
                  <a:srgbClr val="1E2D3C"/>
                </a:solidFill>
                <a:latin typeface="Montserrat"/>
              </a:defRPr>
            </a:pPr>
            <a:r>
              <a:rPr lang="en-US" sz="3400" dirty="0">
                <a:latin typeface="Times New Roman" panose="02020603050405020304" pitchFamily="18" charset="0"/>
                <a:cs typeface="Times New Roman" panose="02020603050405020304" pitchFamily="18" charset="0"/>
                <a:sym typeface="Symbol" panose="05050102010706020507" pitchFamily="18" charset="2"/>
              </a:rPr>
              <a:t> </a:t>
            </a:r>
            <a:r>
              <a:rPr lang="en-US" sz="3400" dirty="0" err="1">
                <a:latin typeface="Times New Roman" panose="02020603050405020304" pitchFamily="18" charset="0"/>
                <a:cs typeface="Times New Roman" panose="02020603050405020304" pitchFamily="18" charset="0"/>
              </a:rPr>
              <a:t>Truyền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dữ</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liệu</a:t>
            </a:r>
            <a:r>
              <a:rPr lang="en-US" sz="3400" dirty="0">
                <a:latin typeface="Times New Roman" panose="02020603050405020304" pitchFamily="18" charset="0"/>
                <a:cs typeface="Times New Roman" panose="02020603050405020304" pitchFamily="18" charset="0"/>
              </a:rPr>
              <a:t>: DHT11 </a:t>
            </a:r>
            <a:r>
              <a:rPr lang="en-US" sz="3400" dirty="0" err="1">
                <a:latin typeface="Times New Roman" panose="02020603050405020304" pitchFamily="18" charset="0"/>
                <a:cs typeface="Times New Roman" panose="02020603050405020304" pitchFamily="18" charset="0"/>
              </a:rPr>
              <a:t>gửi</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dữ</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liệu</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nhiệt</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độ</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và</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độ</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ẩm</a:t>
            </a:r>
            <a:r>
              <a:rPr lang="en-US" sz="3400" dirty="0">
                <a:latin typeface="Times New Roman" panose="02020603050405020304" pitchFamily="18" charset="0"/>
                <a:cs typeface="Times New Roman" panose="02020603050405020304" pitchFamily="18" charset="0"/>
              </a:rPr>
              <a:t> qua </a:t>
            </a:r>
            <a:r>
              <a:rPr lang="en-US" sz="3400" dirty="0" err="1">
                <a:latin typeface="Times New Roman" panose="02020603050405020304" pitchFamily="18" charset="0"/>
                <a:cs typeface="Times New Roman" panose="02020603050405020304" pitchFamily="18" charset="0"/>
              </a:rPr>
              <a:t>chân</a:t>
            </a:r>
            <a:r>
              <a:rPr lang="en-US" sz="3400" dirty="0">
                <a:latin typeface="Times New Roman" panose="02020603050405020304" pitchFamily="18" charset="0"/>
                <a:cs typeface="Times New Roman" panose="02020603050405020304" pitchFamily="18" charset="0"/>
              </a:rPr>
              <a:t> DATA </a:t>
            </a:r>
            <a:r>
              <a:rPr lang="en-US" sz="3400" dirty="0" err="1">
                <a:latin typeface="Times New Roman" panose="02020603050405020304" pitchFamily="18" charset="0"/>
                <a:cs typeface="Times New Roman" panose="02020603050405020304" pitchFamily="18" charset="0"/>
              </a:rPr>
              <a:t>đến</a:t>
            </a:r>
            <a:r>
              <a:rPr lang="en-US" sz="3400" dirty="0">
                <a:latin typeface="Times New Roman" panose="02020603050405020304" pitchFamily="18" charset="0"/>
                <a:cs typeface="Times New Roman" panose="02020603050405020304" pitchFamily="18" charset="0"/>
              </a:rPr>
              <a:t> ESP32 </a:t>
            </a:r>
            <a:r>
              <a:rPr lang="en-US" sz="3400" dirty="0" err="1">
                <a:latin typeface="Times New Roman" panose="02020603050405020304" pitchFamily="18" charset="0"/>
                <a:cs typeface="Times New Roman" panose="02020603050405020304" pitchFamily="18" charset="0"/>
              </a:rPr>
              <a:t>hoặc</a:t>
            </a:r>
            <a:r>
              <a:rPr lang="en-US" sz="3400" dirty="0">
                <a:latin typeface="Times New Roman" panose="02020603050405020304" pitchFamily="18" charset="0"/>
                <a:cs typeface="Times New Roman" panose="02020603050405020304" pitchFamily="18" charset="0"/>
              </a:rPr>
              <a:t> Arduino </a:t>
            </a:r>
            <a:r>
              <a:rPr lang="en-US" sz="3400" dirty="0" err="1">
                <a:latin typeface="Times New Roman" panose="02020603050405020304" pitchFamily="18" charset="0"/>
                <a:cs typeface="Times New Roman" panose="02020603050405020304" pitchFamily="18" charset="0"/>
              </a:rPr>
              <a:t>để</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xử</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lý</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hiển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thị</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và</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điều</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khiển</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thiết</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bị</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cảnh</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báo</a:t>
            </a:r>
            <a:r>
              <a:rPr lang="en-US" sz="3400" dirty="0">
                <a:latin typeface="Times New Roman" panose="02020603050405020304" pitchFamily="18" charset="0"/>
                <a:cs typeface="Times New Roman" panose="02020603050405020304" pitchFamily="18" charset="0"/>
              </a:rPr>
              <a:t>.</a:t>
            </a:r>
            <a:endParaRPr lang="vi-VN" sz="3400" dirty="0">
              <a:latin typeface="Times New Roman" panose="02020603050405020304" pitchFamily="18" charset="0"/>
              <a:cs typeface="Times New Roman" panose="02020603050405020304" pitchFamily="18" charset="0"/>
            </a:endParaRPr>
          </a:p>
        </p:txBody>
      </p:sp>
      <p:pic>
        <p:nvPicPr>
          <p:cNvPr id="5" name="Picture 4" descr="dht11_sensor.jpg">
            <a:extLst>
              <a:ext uri="{FF2B5EF4-FFF2-40B4-BE49-F238E27FC236}">
                <a16:creationId xmlns:a16="http://schemas.microsoft.com/office/drawing/2014/main" id="{6870EA54-E1BA-1D0F-E27A-3095F64022DE}"/>
              </a:ext>
            </a:extLst>
          </p:cNvPr>
          <p:cNvPicPr>
            <a:picLocks noChangeAspect="1"/>
          </p:cNvPicPr>
          <p:nvPr/>
        </p:nvPicPr>
        <p:blipFill>
          <a:blip r:embed="rId2"/>
          <a:stretch>
            <a:fillRect/>
          </a:stretch>
        </p:blipFill>
        <p:spPr>
          <a:xfrm>
            <a:off x="314902" y="628650"/>
            <a:ext cx="4638098" cy="2590800"/>
          </a:xfrm>
          <a:prstGeom prst="rect">
            <a:avLst/>
          </a:prstGeom>
        </p:spPr>
      </p:pic>
    </p:spTree>
    <p:extLst>
      <p:ext uri="{BB962C8B-B14F-4D97-AF65-F5344CB8AC3E}">
        <p14:creationId xmlns:p14="http://schemas.microsoft.com/office/powerpoint/2010/main" val="409891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5">
            <a:extLst>
              <a:ext uri="{FF2B5EF4-FFF2-40B4-BE49-F238E27FC236}">
                <a16:creationId xmlns:a16="http://schemas.microsoft.com/office/drawing/2014/main" id="{4FBEA3D0-851E-A04A-29ED-48D2F39671C6}"/>
              </a:ext>
            </a:extLst>
          </p:cNvPr>
          <p:cNvSpPr txBox="1"/>
          <p:nvPr/>
        </p:nvSpPr>
        <p:spPr>
          <a:xfrm>
            <a:off x="28576" y="419100"/>
            <a:ext cx="18288000" cy="865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ts val="7075"/>
              </a:lnSpc>
            </a:pPr>
            <a:r>
              <a:rPr lang="en-US" sz="5400" b="1" spc="5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ea typeface="Montserrat Bold" panose="00000800000000000000"/>
                <a:cs typeface="Montserrat Bold" panose="00000800000000000000"/>
                <a:sym typeface="Montserrat Bold" panose="00000800000000000000"/>
              </a:rPr>
              <a:t>GIỚI THIỆU PHẦN CỨNG</a:t>
            </a:r>
          </a:p>
        </p:txBody>
      </p:sp>
      <p:sp>
        <p:nvSpPr>
          <p:cNvPr id="3" name="Rectangle 2"/>
          <p:cNvSpPr/>
          <p:nvPr/>
        </p:nvSpPr>
        <p:spPr>
          <a:xfrm>
            <a:off x="542201" y="2022475"/>
            <a:ext cx="3657599"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200" b="1" dirty="0" err="1">
                <a:latin typeface="Times New Roman" panose="02020603050405020304" pitchFamily="18" charset="0"/>
                <a:cs typeface="Times New Roman" panose="02020603050405020304" pitchFamily="18" charset="0"/>
              </a:rPr>
              <a:t>Cảm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biến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ngọn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lửa</a:t>
            </a:r>
            <a:endParaRPr lang="en-US" sz="32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80976" y="3555544"/>
            <a:ext cx="17983200" cy="4708981"/>
          </a:xfrm>
          <a:prstGeom prst="rect">
            <a:avLst/>
          </a:prstGeom>
          <a:noFill/>
        </p:spPr>
        <p:txBody>
          <a:bodyPr wrap="square" rtlCol="0">
            <a:spAutoFit/>
          </a:bodyPr>
          <a:lstStyle/>
          <a:p>
            <a:pPr>
              <a:defRPr sz="1600">
                <a:solidFill>
                  <a:srgbClr val="1E2D3C"/>
                </a:solidFill>
                <a:latin typeface="Montserrat"/>
              </a:defRPr>
            </a:pPr>
            <a:r>
              <a:rPr lang="vi-VN" sz="3000" dirty="0">
                <a:latin typeface="Times New Roman" panose="02020603050405020304" pitchFamily="18" charset="0"/>
                <a:cs typeface="Times New Roman" panose="02020603050405020304" pitchFamily="18" charset="0"/>
                <a:sym typeface="Symbol" panose="05050102010706020507" pitchFamily="18" charset="2"/>
              </a:rPr>
              <a:t></a:t>
            </a:r>
            <a:r>
              <a:rPr lang="en-US" sz="3000" dirty="0">
                <a:latin typeface="Times New Roman" panose="02020603050405020304" pitchFamily="18" charset="0"/>
                <a:cs typeface="Times New Roman" panose="02020603050405020304" pitchFamily="18" charset="0"/>
                <a:sym typeface="Symbol" panose="05050102010706020507" pitchFamily="18" charset="2"/>
              </a:rPr>
              <a:t> </a:t>
            </a:r>
            <a:r>
              <a:rPr lang="vi-VN" sz="3000" dirty="0">
                <a:latin typeface="Times New Roman" panose="02020603050405020304" pitchFamily="18" charset="0"/>
                <a:cs typeface="Times New Roman" panose="02020603050405020304" pitchFamily="18" charset="0"/>
              </a:rPr>
              <a:t>Cảm biến ngọn lửa phát hiện sự xuất hiện của lửa thông qua việc bắt dải quang phổ bức xạ hồng ngoại đặc trưng phát ra từ quá trình cháy hydrocacbon.</a:t>
            </a:r>
            <a:br>
              <a:rPr lang="vi-VN" sz="3000" dirty="0">
                <a:latin typeface="Times New Roman" panose="02020603050405020304" pitchFamily="18" charset="0"/>
                <a:cs typeface="Times New Roman" panose="02020603050405020304" pitchFamily="18" charset="0"/>
              </a:rPr>
            </a:b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Dải bước sóng phát hiện: 760 nm đến 1100 nm (bước sóng ánh sáng ngọn lửa).</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Góc quét phát hiện: Khoảng 60 độ, nhạy nhất với nguồn lửa trực diện.</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Điện áp hoạt động: 3.3V – 5.5V DC.</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Tín hiệu ngõ ra kép:</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 Ngõ ra Analog (AO): Trả về giá trị điện áp liên tục đo độ lớn và cự ly ngọn lửa (ADC 0-4095).</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 Ngõ ra Digital (DO): Xuất mức logic 0/1 thông qua IC so sánh LM393 có biến trở chỉnh độ nhạy.</a:t>
            </a:r>
            <a:br>
              <a:rPr lang="vi-VN" sz="3000" dirty="0">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Thời gian đáp ứng cực nhanh: &lt; 15 micro-giây, phản ứng tức thì khi xuất hiện tia lửa.</a:t>
            </a:r>
            <a:endParaRPr lang="vi-VN" sz="3000" b="1" dirty="0">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F8A29E13-7B5E-625A-9631-918CA3FCA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1477963"/>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a:extLst>
              <a:ext uri="{FF2B5EF4-FFF2-40B4-BE49-F238E27FC236}">
                <a16:creationId xmlns:a16="http://schemas.microsoft.com/office/drawing/2014/main" id="{CD2E5E2A-1CAE-0BEC-ABC5-F84692D41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460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a:extLst>
              <a:ext uri="{FF2B5EF4-FFF2-40B4-BE49-F238E27FC236}">
                <a16:creationId xmlns:a16="http://schemas.microsoft.com/office/drawing/2014/main" id="{AD3CDB41-3E9F-6AEA-BBFE-739A74817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1325563"/>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F861BC02-BBAF-6085-585F-8B6C6348C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198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8B1D6398-7878-2F90-E03C-96A3974AF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15240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a:extLst>
              <a:ext uri="{FF2B5EF4-FFF2-40B4-BE49-F238E27FC236}">
                <a16:creationId xmlns:a16="http://schemas.microsoft.com/office/drawing/2014/main" id="{4007ECE1-5C9D-D384-74DF-851C7160B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11">
            <a:extLst>
              <a:ext uri="{FF2B5EF4-FFF2-40B4-BE49-F238E27FC236}">
                <a16:creationId xmlns:a16="http://schemas.microsoft.com/office/drawing/2014/main" id="{DD1E7699-B130-0293-823C-6FDD34713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13716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89AF415A-DA16-9988-2881-00C976387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8278A897-2E8C-82FC-B3C4-4A683108C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475" y="-12192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5" name="Picture 15">
            <a:extLst>
              <a:ext uri="{FF2B5EF4-FFF2-40B4-BE49-F238E27FC236}">
                <a16:creationId xmlns:a16="http://schemas.microsoft.com/office/drawing/2014/main" id="{2C1768B1-939B-E552-8058-75D998F8D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475" y="3048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7" name="Picture 17">
            <a:extLst>
              <a:ext uri="{FF2B5EF4-FFF2-40B4-BE49-F238E27FC236}">
                <a16:creationId xmlns:a16="http://schemas.microsoft.com/office/drawing/2014/main" id="{FDBBDBB1-556D-36D8-2B37-6E828A14A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75" y="-10668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a:extLst>
              <a:ext uri="{FF2B5EF4-FFF2-40B4-BE49-F238E27FC236}">
                <a16:creationId xmlns:a16="http://schemas.microsoft.com/office/drawing/2014/main" id="{231A32CB-C4AB-2255-CB4D-71BDBBD18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75" y="4572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flame_sensor.jpg">
            <a:extLst>
              <a:ext uri="{FF2B5EF4-FFF2-40B4-BE49-F238E27FC236}">
                <a16:creationId xmlns:a16="http://schemas.microsoft.com/office/drawing/2014/main" id="{2E9CC15F-F95C-8F30-25E3-00FA5B7B48C2}"/>
              </a:ext>
            </a:extLst>
          </p:cNvPr>
          <p:cNvPicPr>
            <a:picLocks noChangeAspect="1"/>
          </p:cNvPicPr>
          <p:nvPr/>
        </p:nvPicPr>
        <p:blipFill>
          <a:blip r:embed="rId3"/>
          <a:stretch>
            <a:fillRect/>
          </a:stretch>
        </p:blipFill>
        <p:spPr>
          <a:xfrm>
            <a:off x="28576" y="392112"/>
            <a:ext cx="4684851" cy="1436688"/>
          </a:xfrm>
          <a:prstGeom prst="rect">
            <a:avLst/>
          </a:prstGeom>
        </p:spPr>
      </p:pic>
    </p:spTree>
    <p:extLst>
      <p:ext uri="{BB962C8B-B14F-4D97-AF65-F5344CB8AC3E}">
        <p14:creationId xmlns:p14="http://schemas.microsoft.com/office/powerpoint/2010/main" val="449498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59434BC1-9C4F-B601-7B69-A01034802C21}"/>
              </a:ext>
            </a:extLst>
          </p:cNvPr>
          <p:cNvSpPr txBox="1">
            <a:spLocks/>
          </p:cNvSpPr>
          <p:nvPr/>
        </p:nvSpPr>
        <p:spPr>
          <a:xfrm>
            <a:off x="34636" y="647700"/>
            <a:ext cx="18288000" cy="996137"/>
          </a:xfrm>
          <a:prstGeom prst="rect">
            <a:avLst/>
          </a:prstGeom>
          <a:noFill/>
          <a:ln>
            <a:noFill/>
          </a:ln>
          <a:effectLst>
            <a:innerShdw blurRad="114300">
              <a:prstClr val="black"/>
            </a:innerShdw>
          </a:effectLst>
        </p:spPr>
        <p:style>
          <a:lnRef idx="2">
            <a:schemeClr val="dk1"/>
          </a:lnRef>
          <a:fillRef idx="1">
            <a:schemeClr val="lt1"/>
          </a:fillRef>
          <a:effectRef idx="0">
            <a:schemeClr val="dk1"/>
          </a:effectRef>
          <a:fontRef idx="minor">
            <a:schemeClr val="dk1"/>
          </a:fontRef>
        </p:style>
        <p:txBody>
          <a:bodyPr/>
          <a:lst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en-US" sz="4800" b="1" dirty="0" err="1">
                <a:latin typeface="Times New Roman" panose="02020603050405020304" pitchFamily="18" charset="0"/>
                <a:cs typeface="Times New Roman" panose="02020603050405020304" pitchFamily="18" charset="0"/>
              </a:rPr>
              <a:t>Cảm</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biến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ngọn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lửa</a:t>
            </a:r>
            <a:endParaRPr lang="en-US" sz="4800" b="1" dirty="0">
              <a:latin typeface="Times New Roman" panose="02020603050405020304" pitchFamily="18" charset="0"/>
              <a:cs typeface="Times New Roman" panose="02020603050405020304" pitchFamily="18" charset="0"/>
            </a:endParaRPr>
          </a:p>
          <a:p>
            <a:pPr algn="ctr"/>
            <a:endParaRPr lang="en-US" sz="4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3" name="TextBox 2"/>
          <p:cNvSpPr txBox="1"/>
          <p:nvPr/>
        </p:nvSpPr>
        <p:spPr>
          <a:xfrm>
            <a:off x="5950503" y="2247900"/>
            <a:ext cx="11741753" cy="8140690"/>
          </a:xfrm>
          <a:prstGeom prst="rect">
            <a:avLst/>
          </a:prstGeom>
          <a:noFill/>
        </p:spPr>
        <p:txBody>
          <a:bodyPr wrap="square" rtlCol="0">
            <a:spAutoFit/>
          </a:bodyPr>
          <a:lstStyle/>
          <a:p>
            <a:pPr>
              <a:defRPr sz="1600">
                <a:solidFill>
                  <a:srgbClr val="1E2D3C"/>
                </a:solidFill>
                <a:latin typeface="Montserrat"/>
              </a:defRPr>
            </a:pPr>
            <a:r>
              <a:rPr lang="vi-VN" sz="3200" b="1" dirty="0">
                <a:latin typeface="Times New Roman" panose="02020603050405020304" pitchFamily="18" charset="0"/>
                <a:cs typeface="Times New Roman" panose="02020603050405020304" pitchFamily="18" charset="0"/>
              </a:rPr>
              <a:t>Nguyên lý </a:t>
            </a:r>
            <a:r>
              <a:rPr lang="en-US" sz="3200" b="1" dirty="0" err="1">
                <a:latin typeface="Times New Roman" panose="02020603050405020304" pitchFamily="18" charset="0"/>
                <a:cs typeface="Times New Roman" panose="02020603050405020304" pitchFamily="18" charset="0"/>
              </a:rPr>
              <a:t>hoạt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động</a:t>
            </a:r>
            <a:br>
              <a:rPr lang="vi-VN" sz="2700" dirty="0">
                <a:latin typeface="Times New Roman" panose="02020603050405020304" pitchFamily="18" charset="0"/>
                <a:cs typeface="Times New Roman" panose="02020603050405020304" pitchFamily="18" charset="0"/>
              </a:rPr>
            </a:br>
            <a:br>
              <a:rPr lang="vi-VN" sz="27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Trạng thái 1: Môi trường bình thường (Không có lửa)</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 Photodiode không nhận được bức xạ hồng ngoại đặc trưng trong dải 760-1100nm. Điện trở nội rất lớn.</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 Điện áp ngõ ra Analog (AO) ở mức CAO (~3.3V, giá trị ADC xấp xỉ 4000). Chân Digital (DO) xuất mức 1 (HIGH). Hệ thống an toàn.</a:t>
            </a: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Trạng thái 2: Xuất hiện ngọn lửa (Cháy nổ)</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 Tia hồng ngoại từ ngọn lửa chiếu vào photodiode làm giải phóng các hạt dẫn điện, điện trở nội giảm mạnh.</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  - Điện áp Analog (AO) sụt giảm đột ngột về mức THẤP (&lt; 1.5V, giá trị ADC &lt; 1600). Chân Digital (DO) lật sang mức 0 (LOW).</a:t>
            </a:r>
            <a:br>
              <a:rPr lang="vi-VN" sz="3200" dirty="0">
                <a:latin typeface="Times New Roman" panose="02020603050405020304" pitchFamily="18" charset="0"/>
                <a:cs typeface="Times New Roman" panose="02020603050405020304" pitchFamily="18" charset="0"/>
              </a:rPr>
            </a:br>
            <a:endParaRPr lang="en-US" sz="2700" dirty="0">
              <a:latin typeface="Times New Roman" panose="02020603050405020304" pitchFamily="18" charset="0"/>
              <a:cs typeface="Times New Roman" panose="02020603050405020304" pitchFamily="18" charset="0"/>
            </a:endParaRPr>
          </a:p>
          <a:p>
            <a:pPr>
              <a:defRPr sz="1600">
                <a:solidFill>
                  <a:srgbClr val="1E2D3C"/>
                </a:solidFill>
                <a:latin typeface="Montserrat"/>
              </a:defRPr>
            </a:pPr>
            <a:endParaRPr lang="en-US" sz="2700" dirty="0">
              <a:latin typeface="Times New Roman" panose="02020603050405020304" pitchFamily="18" charset="0"/>
              <a:cs typeface="Times New Roman" panose="02020603050405020304" pitchFamily="18" charset="0"/>
            </a:endParaRPr>
          </a:p>
          <a:p>
            <a:pPr>
              <a:defRPr sz="1600">
                <a:solidFill>
                  <a:srgbClr val="1E2D3C"/>
                </a:solidFill>
                <a:latin typeface="Montserrat"/>
              </a:defRPr>
            </a:pPr>
            <a:endParaRPr lang="en-US" sz="2700" dirty="0">
              <a:latin typeface="Times New Roman" panose="02020603050405020304" pitchFamily="18" charset="0"/>
              <a:cs typeface="Times New Roman" panose="02020603050405020304" pitchFamily="18" charset="0"/>
            </a:endParaRPr>
          </a:p>
          <a:p>
            <a:pPr>
              <a:defRPr sz="1600">
                <a:solidFill>
                  <a:srgbClr val="1E2D3C"/>
                </a:solidFill>
                <a:latin typeface="Montserrat"/>
              </a:defRPr>
            </a:pPr>
            <a:endParaRPr lang="vi-VN" sz="27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0AD242D-A66C-084D-FA6B-61FEBE1A9C0B}"/>
              </a:ext>
            </a:extLst>
          </p:cNvPr>
          <p:cNvPicPr>
            <a:picLocks noChangeAspect="1"/>
          </p:cNvPicPr>
          <p:nvPr/>
        </p:nvPicPr>
        <p:blipFill>
          <a:blip r:embed="rId2"/>
          <a:stretch>
            <a:fillRect/>
          </a:stretch>
        </p:blipFill>
        <p:spPr>
          <a:xfrm>
            <a:off x="19050" y="3009900"/>
            <a:ext cx="5931453" cy="4991100"/>
          </a:xfrm>
          <a:prstGeom prst="rect">
            <a:avLst/>
          </a:prstGeom>
        </p:spPr>
      </p:pic>
    </p:spTree>
    <p:extLst>
      <p:ext uri="{BB962C8B-B14F-4D97-AF65-F5344CB8AC3E}">
        <p14:creationId xmlns:p14="http://schemas.microsoft.com/office/powerpoint/2010/main" val="344172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798" y="422910"/>
            <a:ext cx="18288000" cy="129159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noAutofit/>
          </a:bodyPr>
          <a:lstStyle/>
          <a:p>
            <a:pPr algn="ctr">
              <a:lnSpc>
                <a:spcPts val="7075"/>
              </a:lnSpc>
            </a:pPr>
            <a:r>
              <a:rPr lang="en-US" sz="5400" b="1"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sym typeface="Montserrat Bold" panose="00000800000000000000"/>
              </a:rPr>
              <a:t>GIỚI THIỆU PHẦN MỀM</a:t>
            </a:r>
          </a:p>
        </p:txBody>
      </p:sp>
      <p:pic>
        <p:nvPicPr>
          <p:cNvPr id="4" name="Picture 3">
            <a:extLst>
              <a:ext uri="{FF2B5EF4-FFF2-40B4-BE49-F238E27FC236}">
                <a16:creationId xmlns:a16="http://schemas.microsoft.com/office/drawing/2014/main" id="{0B30E00C-FE3C-8A6B-0AC0-DEA63BD89246}"/>
              </a:ext>
            </a:extLst>
          </p:cNvPr>
          <p:cNvPicPr>
            <a:picLocks noChangeAspect="1"/>
          </p:cNvPicPr>
          <p:nvPr/>
        </p:nvPicPr>
        <p:blipFill>
          <a:blip r:embed="rId2"/>
          <a:stretch>
            <a:fillRect/>
          </a:stretch>
        </p:blipFill>
        <p:spPr>
          <a:xfrm>
            <a:off x="7454249" y="2095500"/>
            <a:ext cx="2717073" cy="3048000"/>
          </a:xfrm>
          <a:prstGeom prst="rect">
            <a:avLst/>
          </a:prstGeom>
        </p:spPr>
      </p:pic>
      <p:pic>
        <p:nvPicPr>
          <p:cNvPr id="6" name="Picture 5">
            <a:extLst>
              <a:ext uri="{FF2B5EF4-FFF2-40B4-BE49-F238E27FC236}">
                <a16:creationId xmlns:a16="http://schemas.microsoft.com/office/drawing/2014/main" id="{6447DBD9-E16C-6D1E-3733-DA1145F036AE}"/>
              </a:ext>
            </a:extLst>
          </p:cNvPr>
          <p:cNvPicPr>
            <a:picLocks noChangeAspect="1"/>
          </p:cNvPicPr>
          <p:nvPr/>
        </p:nvPicPr>
        <p:blipFill>
          <a:blip r:embed="rId3"/>
          <a:stretch>
            <a:fillRect/>
          </a:stretch>
        </p:blipFill>
        <p:spPr>
          <a:xfrm>
            <a:off x="1219200" y="2095500"/>
            <a:ext cx="3048000" cy="3048000"/>
          </a:xfrm>
          <a:prstGeom prst="rect">
            <a:avLst/>
          </a:prstGeom>
        </p:spPr>
      </p:pic>
      <p:sp>
        <p:nvSpPr>
          <p:cNvPr id="8" name="TextBox 7">
            <a:extLst>
              <a:ext uri="{FF2B5EF4-FFF2-40B4-BE49-F238E27FC236}">
                <a16:creationId xmlns:a16="http://schemas.microsoft.com/office/drawing/2014/main" id="{65E0F81C-2CE1-1B05-AA63-504C47F66852}"/>
              </a:ext>
            </a:extLst>
          </p:cNvPr>
          <p:cNvSpPr txBox="1"/>
          <p:nvPr/>
        </p:nvSpPr>
        <p:spPr>
          <a:xfrm>
            <a:off x="1505938" y="5330723"/>
            <a:ext cx="2474524" cy="646331"/>
          </a:xfrm>
          <a:prstGeom prst="rect">
            <a:avLst/>
          </a:prstGeom>
          <a:noFill/>
        </p:spPr>
        <p:txBody>
          <a:bodyPr wrap="none" rtlCol="0">
            <a:spAutoFit/>
          </a:bodyPr>
          <a:lstStyle/>
          <a:p>
            <a:r>
              <a:rPr lang="en-US" sz="3600" b="1" dirty="0"/>
              <a:t>Arduino IDE</a:t>
            </a:r>
          </a:p>
        </p:txBody>
      </p:sp>
      <p:sp>
        <p:nvSpPr>
          <p:cNvPr id="9" name="TextBox 8">
            <a:extLst>
              <a:ext uri="{FF2B5EF4-FFF2-40B4-BE49-F238E27FC236}">
                <a16:creationId xmlns:a16="http://schemas.microsoft.com/office/drawing/2014/main" id="{036000E0-A6C7-D226-18FD-F3F05E8D397E}"/>
              </a:ext>
            </a:extLst>
          </p:cNvPr>
          <p:cNvSpPr txBox="1"/>
          <p:nvPr/>
        </p:nvSpPr>
        <p:spPr>
          <a:xfrm>
            <a:off x="7149733" y="5330723"/>
            <a:ext cx="3326103" cy="646331"/>
          </a:xfrm>
          <a:prstGeom prst="rect">
            <a:avLst/>
          </a:prstGeom>
          <a:noFill/>
        </p:spPr>
        <p:txBody>
          <a:bodyPr wrap="none" rtlCol="0">
            <a:spAutoFit/>
          </a:bodyPr>
          <a:lstStyle/>
          <a:p>
            <a:r>
              <a:rPr lang="en-US" sz="3600" b="1" dirty="0" err="1"/>
              <a:t>Ngôn</a:t>
            </a:r>
            <a:r>
              <a:rPr lang="en-US" sz="3600" b="1" dirty="0"/>
              <a:t> </a:t>
            </a:r>
            <a:r>
              <a:rPr lang="en-US" sz="3600" b="1" dirty="0" err="1"/>
              <a:t>ngữ</a:t>
            </a:r>
            <a:r>
              <a:rPr lang="en-US" sz="3600" b="1" dirty="0"/>
              <a:t> C/C++</a:t>
            </a:r>
          </a:p>
        </p:txBody>
      </p:sp>
      <p:pic>
        <p:nvPicPr>
          <p:cNvPr id="10" name="Picture 9">
            <a:extLst>
              <a:ext uri="{FF2B5EF4-FFF2-40B4-BE49-F238E27FC236}">
                <a16:creationId xmlns:a16="http://schemas.microsoft.com/office/drawing/2014/main" id="{4DCA785B-F57E-2802-9007-4F70120778E0}"/>
              </a:ext>
            </a:extLst>
          </p:cNvPr>
          <p:cNvPicPr>
            <a:picLocks noChangeAspect="1"/>
          </p:cNvPicPr>
          <p:nvPr/>
        </p:nvPicPr>
        <p:blipFill>
          <a:blip r:embed="rId4"/>
          <a:stretch>
            <a:fillRect/>
          </a:stretch>
        </p:blipFill>
        <p:spPr>
          <a:xfrm>
            <a:off x="13441721" y="2095500"/>
            <a:ext cx="3237513" cy="3048000"/>
          </a:xfrm>
          <a:prstGeom prst="rect">
            <a:avLst/>
          </a:prstGeom>
        </p:spPr>
      </p:pic>
      <p:sp>
        <p:nvSpPr>
          <p:cNvPr id="11" name="TextBox 10">
            <a:extLst>
              <a:ext uri="{FF2B5EF4-FFF2-40B4-BE49-F238E27FC236}">
                <a16:creationId xmlns:a16="http://schemas.microsoft.com/office/drawing/2014/main" id="{FCCD34D7-FE10-0881-CB27-D4DEEB5A6614}"/>
              </a:ext>
            </a:extLst>
          </p:cNvPr>
          <p:cNvSpPr txBox="1"/>
          <p:nvPr/>
        </p:nvSpPr>
        <p:spPr>
          <a:xfrm>
            <a:off x="14096270" y="5330722"/>
            <a:ext cx="1928413" cy="646331"/>
          </a:xfrm>
          <a:prstGeom prst="rect">
            <a:avLst/>
          </a:prstGeom>
          <a:noFill/>
        </p:spPr>
        <p:txBody>
          <a:bodyPr wrap="none" rtlCol="0">
            <a:spAutoFit/>
          </a:bodyPr>
          <a:lstStyle/>
          <a:p>
            <a:r>
              <a:rPr lang="en-US" sz="3600" b="1" dirty="0"/>
              <a:t>Telegram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E1C42E-9E5D-514D-A78E-D14D850F22B1}"/>
              </a:ext>
            </a:extLst>
          </p:cNvPr>
          <p:cNvPicPr>
            <a:picLocks noChangeAspect="1"/>
          </p:cNvPicPr>
          <p:nvPr/>
        </p:nvPicPr>
        <p:blipFill>
          <a:blip r:embed="rId2"/>
          <a:stretch>
            <a:fillRect/>
          </a:stretch>
        </p:blipFill>
        <p:spPr>
          <a:xfrm>
            <a:off x="0" y="1"/>
            <a:ext cx="18287999" cy="10287000"/>
          </a:xfrm>
          <a:prstGeom prst="rect">
            <a:avLst/>
          </a:prstGeom>
        </p:spPr>
      </p:pic>
    </p:spTree>
    <p:extLst>
      <p:ext uri="{BB962C8B-B14F-4D97-AF65-F5344CB8AC3E}">
        <p14:creationId xmlns:p14="http://schemas.microsoft.com/office/powerpoint/2010/main" val="4284918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4731DC-86BB-CCE3-2F50-C6F442332B41}"/>
              </a:ext>
            </a:extLst>
          </p:cNvPr>
          <p:cNvPicPr>
            <a:picLocks noChangeAspect="1"/>
          </p:cNvPicPr>
          <p:nvPr/>
        </p:nvPicPr>
        <p:blipFill>
          <a:blip r:embed="rId2"/>
          <a:stretch>
            <a:fillRect/>
          </a:stretch>
        </p:blipFill>
        <p:spPr>
          <a:xfrm>
            <a:off x="228600" y="1866900"/>
            <a:ext cx="17943859" cy="7467600"/>
          </a:xfrm>
          <a:prstGeom prst="rect">
            <a:avLst/>
          </a:prstGeom>
        </p:spPr>
      </p:pic>
      <p:sp>
        <p:nvSpPr>
          <p:cNvPr id="4" name="TextBox 3">
            <a:extLst>
              <a:ext uri="{FF2B5EF4-FFF2-40B4-BE49-F238E27FC236}">
                <a16:creationId xmlns:a16="http://schemas.microsoft.com/office/drawing/2014/main" id="{01665599-78CC-2146-C9AA-E8047D3DD8C3}"/>
              </a:ext>
            </a:extLst>
          </p:cNvPr>
          <p:cNvSpPr txBox="1"/>
          <p:nvPr/>
        </p:nvSpPr>
        <p:spPr>
          <a:xfrm>
            <a:off x="-10633" y="495300"/>
            <a:ext cx="18288000" cy="1200329"/>
          </a:xfrm>
          <a:prstGeom prst="rect">
            <a:avLst/>
          </a:prstGeom>
          <a:noFill/>
        </p:spPr>
        <p:txBody>
          <a:bodyPr wrap="square" rtlCol="0">
            <a:spAutoFit/>
          </a:bodyPr>
          <a:lstStyle/>
          <a:p>
            <a:pPr algn="ctr"/>
            <a:r>
              <a:rPr lang="en-US" sz="5400" b="1" dirty="0"/>
              <a:t>HỆ THỐNG TELEGRAM BOT CẢNH BÁO THIÊN TAI</a:t>
            </a:r>
          </a:p>
          <a:p>
            <a:endParaRPr lang="en-US" dirty="0"/>
          </a:p>
        </p:txBody>
      </p:sp>
    </p:spTree>
    <p:extLst>
      <p:ext uri="{BB962C8B-B14F-4D97-AF65-F5344CB8AC3E}">
        <p14:creationId xmlns:p14="http://schemas.microsoft.com/office/powerpoint/2010/main" val="1095601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C44A5F-3B61-CE98-BF50-03D00F2AF4A4}"/>
              </a:ext>
            </a:extLst>
          </p:cNvPr>
          <p:cNvPicPr>
            <a:picLocks noChangeAspect="1"/>
          </p:cNvPicPr>
          <p:nvPr/>
        </p:nvPicPr>
        <p:blipFill>
          <a:blip r:embed="rId2"/>
          <a:stretch>
            <a:fillRect/>
          </a:stretch>
        </p:blipFill>
        <p:spPr>
          <a:xfrm>
            <a:off x="0" y="1333500"/>
            <a:ext cx="9296400" cy="8001000"/>
          </a:xfrm>
          <a:prstGeom prst="rect">
            <a:avLst/>
          </a:prstGeom>
        </p:spPr>
      </p:pic>
      <p:pic>
        <p:nvPicPr>
          <p:cNvPr id="5" name="Picture 4">
            <a:extLst>
              <a:ext uri="{FF2B5EF4-FFF2-40B4-BE49-F238E27FC236}">
                <a16:creationId xmlns:a16="http://schemas.microsoft.com/office/drawing/2014/main" id="{AF199BF7-115A-FF7B-4EFE-F2B2F4862DAB}"/>
              </a:ext>
            </a:extLst>
          </p:cNvPr>
          <p:cNvPicPr>
            <a:picLocks noChangeAspect="1"/>
          </p:cNvPicPr>
          <p:nvPr/>
        </p:nvPicPr>
        <p:blipFill>
          <a:blip r:embed="rId3"/>
          <a:stretch>
            <a:fillRect/>
          </a:stretch>
        </p:blipFill>
        <p:spPr>
          <a:xfrm>
            <a:off x="7924800" y="1333500"/>
            <a:ext cx="10363200" cy="8001000"/>
          </a:xfrm>
          <a:prstGeom prst="rect">
            <a:avLst/>
          </a:prstGeom>
        </p:spPr>
      </p:pic>
    </p:spTree>
    <p:extLst>
      <p:ext uri="{BB962C8B-B14F-4D97-AF65-F5344CB8AC3E}">
        <p14:creationId xmlns:p14="http://schemas.microsoft.com/office/powerpoint/2010/main" val="3664998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8A6B1E-55B8-7AB7-082C-3C4EE2C651B1}"/>
              </a:ext>
            </a:extLst>
          </p:cNvPr>
          <p:cNvPicPr>
            <a:picLocks noChangeAspect="1"/>
          </p:cNvPicPr>
          <p:nvPr/>
        </p:nvPicPr>
        <p:blipFill>
          <a:blip r:embed="rId2"/>
          <a:stretch>
            <a:fillRect/>
          </a:stretch>
        </p:blipFill>
        <p:spPr>
          <a:xfrm>
            <a:off x="2895600" y="419100"/>
            <a:ext cx="11734800" cy="7772400"/>
          </a:xfrm>
          <a:prstGeom prst="rect">
            <a:avLst/>
          </a:prstGeom>
        </p:spPr>
      </p:pic>
      <p:sp>
        <p:nvSpPr>
          <p:cNvPr id="2" name="TextBox 1">
            <a:extLst>
              <a:ext uri="{FF2B5EF4-FFF2-40B4-BE49-F238E27FC236}">
                <a16:creationId xmlns:a16="http://schemas.microsoft.com/office/drawing/2014/main" id="{B4EA4B23-382A-2123-1100-54C09BAD78E3}"/>
              </a:ext>
            </a:extLst>
          </p:cNvPr>
          <p:cNvSpPr txBox="1"/>
          <p:nvPr/>
        </p:nvSpPr>
        <p:spPr>
          <a:xfrm>
            <a:off x="685800" y="8877300"/>
            <a:ext cx="13263183" cy="461665"/>
          </a:xfrm>
          <a:prstGeom prst="rect">
            <a:avLst/>
          </a:prstGeom>
          <a:noFill/>
        </p:spPr>
        <p:txBody>
          <a:bodyPr wrap="none" rtlCol="0">
            <a:spAutoFit/>
          </a:bodyPr>
          <a:lstStyle/>
          <a:p>
            <a:r>
              <a:rPr lang="en-US" sz="2400" dirty="0"/>
              <a:t>https://github.com/phancongdong/CANHBAOTHIENTAI/ef5966c4b17c86348506c41bb4a1590eeaa505d5</a:t>
            </a:r>
          </a:p>
        </p:txBody>
      </p:sp>
    </p:spTree>
    <p:extLst>
      <p:ext uri="{BB962C8B-B14F-4D97-AF65-F5344CB8AC3E}">
        <p14:creationId xmlns:p14="http://schemas.microsoft.com/office/powerpoint/2010/main" val="3851370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2ACC815-5C7D-7749-07B2-4BB1C5A23933}"/>
              </a:ext>
            </a:extLst>
          </p:cNvPr>
          <p:cNvGrpSpPr/>
          <p:nvPr/>
        </p:nvGrpSpPr>
        <p:grpSpPr>
          <a:xfrm>
            <a:off x="-609600" y="141286"/>
            <a:ext cx="11049000" cy="3783014"/>
            <a:chOff x="-8339485" y="-261998"/>
            <a:chExt cx="15561687" cy="4657133"/>
          </a:xfrm>
        </p:grpSpPr>
        <p:sp>
          <p:nvSpPr>
            <p:cNvPr id="6" name="TextBox 5">
              <a:extLst>
                <a:ext uri="{FF2B5EF4-FFF2-40B4-BE49-F238E27FC236}">
                  <a16:creationId xmlns:a16="http://schemas.microsoft.com/office/drawing/2014/main" id="{2D580D3F-7286-781D-E146-296380F87C24}"/>
                </a:ext>
              </a:extLst>
            </p:cNvPr>
            <p:cNvSpPr txBox="1"/>
            <p:nvPr/>
          </p:nvSpPr>
          <p:spPr>
            <a:xfrm>
              <a:off x="80931" y="-107600"/>
              <a:ext cx="7141271" cy="4502735"/>
            </a:xfrm>
            <a:prstGeom prst="rect">
              <a:avLst/>
            </a:prstGeom>
          </p:spPr>
          <p:txBody>
            <a:bodyPr lIns="50800" tIns="50800" rIns="50800" bIns="50800" rtlCol="0" anchor="ctr"/>
            <a:lstStyle/>
            <a:p>
              <a:pPr algn="ctr">
                <a:lnSpc>
                  <a:spcPts val="2755"/>
                </a:lnSpc>
                <a:spcBef>
                  <a:spcPct val="0"/>
                </a:spcBef>
              </a:pPr>
              <a:endParaRPr/>
            </a:p>
          </p:txBody>
        </p:sp>
        <p:sp>
          <p:nvSpPr>
            <p:cNvPr id="4" name="TextBox 6">
              <a:extLst>
                <a:ext uri="{FF2B5EF4-FFF2-40B4-BE49-F238E27FC236}">
                  <a16:creationId xmlns:a16="http://schemas.microsoft.com/office/drawing/2014/main" id="{F6D1A3ED-825A-98F5-4683-85176BDBB4DB}"/>
                </a:ext>
              </a:extLst>
            </p:cNvPr>
            <p:cNvSpPr txBox="1"/>
            <p:nvPr/>
          </p:nvSpPr>
          <p:spPr>
            <a:xfrm>
              <a:off x="-8339485" y="-261998"/>
              <a:ext cx="7619861" cy="2169950"/>
            </a:xfrm>
            <a:prstGeom prst="rect">
              <a:avLst/>
            </a:prstGeom>
          </p:spPr>
          <p:txBody>
            <a:bodyPr wrap="square" lIns="0" tIns="0" rIns="0" bIns="0" rtlCol="0" anchor="t">
              <a:spAutoFit/>
            </a:bodyPr>
            <a:lstStyle/>
            <a:p>
              <a:pPr algn="ctr">
                <a:lnSpc>
                  <a:spcPts val="7075"/>
                </a:lnSpc>
              </a:pPr>
              <a:r>
                <a:rPr lang="en-US" sz="5000" b="1" spc="307" dirty="0">
                  <a:solidFill>
                    <a:srgbClr val="343432"/>
                  </a:solidFill>
                  <a:ea typeface="Montserrat Bold" panose="00000800000000000000"/>
                  <a:cs typeface="Montserrat Bold" panose="00000800000000000000"/>
                  <a:sym typeface="Montserrat Bold" panose="00000800000000000000"/>
                </a:rPr>
                <a:t>SƠ ĐỒ</a:t>
              </a:r>
            </a:p>
            <a:p>
              <a:pPr algn="ctr">
                <a:lnSpc>
                  <a:spcPts val="7075"/>
                </a:lnSpc>
              </a:pPr>
              <a:r>
                <a:rPr lang="en-US" sz="5000" b="1" spc="307" dirty="0">
                  <a:solidFill>
                    <a:srgbClr val="343432"/>
                  </a:solidFill>
                  <a:ea typeface="Montserrat Bold" panose="00000800000000000000"/>
                  <a:cs typeface="Montserrat Bold" panose="00000800000000000000"/>
                  <a:sym typeface="Montserrat Bold" panose="00000800000000000000"/>
                </a:rPr>
                <a:t>KHỐI</a:t>
              </a:r>
            </a:p>
          </p:txBody>
        </p:sp>
      </p:grpSp>
      <p:sp>
        <p:nvSpPr>
          <p:cNvPr id="8" name="AutoShape 2" descr="blob:https://www.facebook.com/06346530-88ce-4c18-90e5-24c55e015e7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AutoShape 4" descr="blob:https://www.facebook.com/06346530-88ce-4c18-90e5-24c55e015e7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6" descr="blob:https://www.facebook.com/06346530-88ce-4c18-90e5-24c55e015e7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1" name="AutoShape 8" descr="blob:https://www.facebook.com/06346530-88ce-4c18-90e5-24c55e015e7e"/>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2" name="AutoShape 10" descr="blob:https://www.facebook.com/06346530-88ce-4c18-90e5-24c55e015e7e"/>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AutoShape 12" descr="blob:https://www.facebook.com/06346530-88ce-4c18-90e5-24c55e015e7e"/>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1C290FE7-57A0-B19D-BC0B-E154C594F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922338"/>
            <a:ext cx="14105579" cy="8951645"/>
          </a:xfrm>
          <a:prstGeom prst="rect">
            <a:avLst/>
          </a:prstGeom>
        </p:spPr>
      </p:pic>
    </p:spTree>
    <p:extLst>
      <p:ext uri="{BB962C8B-B14F-4D97-AF65-F5344CB8AC3E}">
        <p14:creationId xmlns:p14="http://schemas.microsoft.com/office/powerpoint/2010/main" val="2600850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AA1A6A-1E39-5C11-1987-3BFC7C957C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5"/>
            <a:ext cx="18288000" cy="10448925"/>
          </a:xfrm>
          <a:prstGeom prst="rect">
            <a:avLst/>
          </a:prstGeom>
        </p:spPr>
      </p:pic>
      <p:grpSp>
        <p:nvGrpSpPr>
          <p:cNvPr id="2" name="Group 2">
            <a:extLst>
              <a:ext uri="{FF2B5EF4-FFF2-40B4-BE49-F238E27FC236}">
                <a16:creationId xmlns:a16="http://schemas.microsoft.com/office/drawing/2014/main" id="{B2ACC815-5C7D-7749-07B2-4BB1C5A23933}"/>
              </a:ext>
            </a:extLst>
          </p:cNvPr>
          <p:cNvGrpSpPr/>
          <p:nvPr/>
        </p:nvGrpSpPr>
        <p:grpSpPr>
          <a:xfrm>
            <a:off x="4495800" y="2324100"/>
            <a:ext cx="10515600" cy="4419600"/>
            <a:chOff x="-6278530" y="-107600"/>
            <a:chExt cx="13500732" cy="4502735"/>
          </a:xfrm>
        </p:grpSpPr>
        <p:grpSp>
          <p:nvGrpSpPr>
            <p:cNvPr id="3" name="Group 3">
              <a:extLst>
                <a:ext uri="{FF2B5EF4-FFF2-40B4-BE49-F238E27FC236}">
                  <a16:creationId xmlns:a16="http://schemas.microsoft.com/office/drawing/2014/main" id="{6F3AFC79-8DC0-FD85-8CDB-75422CE99DAF}"/>
                </a:ext>
              </a:extLst>
            </p:cNvPr>
            <p:cNvGrpSpPr/>
            <p:nvPr/>
          </p:nvGrpSpPr>
          <p:grpSpPr>
            <a:xfrm>
              <a:off x="-6197598" y="-107600"/>
              <a:ext cx="13419800" cy="4502735"/>
              <a:chOff x="-2223154" y="-38100"/>
              <a:chExt cx="4751795" cy="1594366"/>
            </a:xfrm>
          </p:grpSpPr>
          <p:sp>
            <p:nvSpPr>
              <p:cNvPr id="5" name="Freeform 4">
                <a:extLst>
                  <a:ext uri="{FF2B5EF4-FFF2-40B4-BE49-F238E27FC236}">
                    <a16:creationId xmlns:a16="http://schemas.microsoft.com/office/drawing/2014/main" id="{4A9811A3-E7CA-7D6C-BC34-2FFD07CDEE65}"/>
                  </a:ext>
                </a:extLst>
              </p:cNvPr>
              <p:cNvSpPr/>
              <p:nvPr/>
            </p:nvSpPr>
            <p:spPr>
              <a:xfrm>
                <a:off x="-2223154" y="-19051"/>
                <a:ext cx="3487474" cy="1556266"/>
              </a:xfrm>
              <a:custGeom>
                <a:avLst/>
                <a:gdLst/>
                <a:ahLst/>
                <a:cxnLst/>
                <a:rect l="l" t="t" r="r" b="b"/>
                <a:pathLst>
                  <a:path w="2528641" h="1556266">
                    <a:moveTo>
                      <a:pt x="44810" y="0"/>
                    </a:moveTo>
                    <a:lnTo>
                      <a:pt x="2483831" y="0"/>
                    </a:lnTo>
                    <a:cubicBezTo>
                      <a:pt x="2508579" y="0"/>
                      <a:pt x="2528641" y="20062"/>
                      <a:pt x="2528641" y="44810"/>
                    </a:cubicBezTo>
                    <a:lnTo>
                      <a:pt x="2528641" y="1511456"/>
                    </a:lnTo>
                    <a:cubicBezTo>
                      <a:pt x="2528641" y="1536204"/>
                      <a:pt x="2508579" y="1556266"/>
                      <a:pt x="2483831" y="1556266"/>
                    </a:cubicBezTo>
                    <a:lnTo>
                      <a:pt x="44810" y="1556266"/>
                    </a:lnTo>
                    <a:cubicBezTo>
                      <a:pt x="20062" y="1556266"/>
                      <a:pt x="0" y="1536204"/>
                      <a:pt x="0" y="1511456"/>
                    </a:cubicBezTo>
                    <a:lnTo>
                      <a:pt x="0" y="44810"/>
                    </a:lnTo>
                    <a:cubicBezTo>
                      <a:pt x="0" y="20062"/>
                      <a:pt x="20062" y="0"/>
                      <a:pt x="44810" y="0"/>
                    </a:cubicBezTo>
                    <a:close/>
                  </a:path>
                </a:pathLst>
              </a:custGeom>
              <a:solidFill>
                <a:srgbClr val="FFFFFF"/>
              </a:solidFill>
              <a:ln w="123825" cap="rnd">
                <a:solidFill>
                  <a:srgbClr val="9397D8"/>
                </a:solidFill>
                <a:prstDash val="solid"/>
                <a:round/>
              </a:ln>
            </p:spPr>
            <p:txBody>
              <a:bodyPr/>
              <a:lstStyle/>
              <a:p>
                <a:endParaRPr lang="en-US"/>
              </a:p>
            </p:txBody>
          </p:sp>
          <p:sp>
            <p:nvSpPr>
              <p:cNvPr id="6" name="TextBox 5">
                <a:extLst>
                  <a:ext uri="{FF2B5EF4-FFF2-40B4-BE49-F238E27FC236}">
                    <a16:creationId xmlns:a16="http://schemas.microsoft.com/office/drawing/2014/main" id="{2D580D3F-7286-781D-E146-296380F87C24}"/>
                  </a:ext>
                </a:extLst>
              </p:cNvPr>
              <p:cNvSpPr txBox="1"/>
              <p:nvPr/>
            </p:nvSpPr>
            <p:spPr>
              <a:xfrm>
                <a:off x="0" y="-38100"/>
                <a:ext cx="2528641" cy="1594366"/>
              </a:xfrm>
              <a:prstGeom prst="rect">
                <a:avLst/>
              </a:prstGeom>
            </p:spPr>
            <p:txBody>
              <a:bodyPr lIns="50800" tIns="50800" rIns="50800" bIns="50800" rtlCol="0" anchor="ctr"/>
              <a:lstStyle/>
              <a:p>
                <a:pPr algn="ctr">
                  <a:lnSpc>
                    <a:spcPts val="2755"/>
                  </a:lnSpc>
                  <a:spcBef>
                    <a:spcPct val="0"/>
                  </a:spcBef>
                </a:pPr>
                <a:endParaRPr/>
              </a:p>
            </p:txBody>
          </p:sp>
        </p:grpSp>
        <p:sp>
          <p:nvSpPr>
            <p:cNvPr id="4" name="TextBox 6">
              <a:extLst>
                <a:ext uri="{FF2B5EF4-FFF2-40B4-BE49-F238E27FC236}">
                  <a16:creationId xmlns:a16="http://schemas.microsoft.com/office/drawing/2014/main" id="{F6D1A3ED-825A-98F5-4683-85176BDBB4DB}"/>
                </a:ext>
              </a:extLst>
            </p:cNvPr>
            <p:cNvSpPr txBox="1"/>
            <p:nvPr/>
          </p:nvSpPr>
          <p:spPr>
            <a:xfrm>
              <a:off x="-6278530" y="940264"/>
              <a:ext cx="9100531" cy="1602423"/>
            </a:xfrm>
            <a:prstGeom prst="rect">
              <a:avLst/>
            </a:prstGeom>
          </p:spPr>
          <p:txBody>
            <a:bodyPr wrap="square" lIns="0" tIns="0" rIns="0" bIns="0" rtlCol="0" anchor="t">
              <a:spAutoFit/>
            </a:bodyPr>
            <a:lstStyle/>
            <a:p>
              <a:pPr algn="ctr">
                <a:lnSpc>
                  <a:spcPts val="7075"/>
                </a:lnSpc>
              </a:pPr>
              <a:r>
                <a:rPr lang="en-US" sz="5000" b="1" spc="307" dirty="0">
                  <a:solidFill>
                    <a:srgbClr val="343432"/>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SƠ ĐỒ</a:t>
              </a:r>
            </a:p>
            <a:p>
              <a:pPr algn="ctr">
                <a:lnSpc>
                  <a:spcPts val="7075"/>
                </a:lnSpc>
              </a:pPr>
              <a:r>
                <a:rPr lang="en-US" sz="5000" b="1" spc="307" dirty="0">
                  <a:solidFill>
                    <a:srgbClr val="343432"/>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KẾT NỐI CHÂN</a:t>
              </a:r>
            </a:p>
          </p:txBody>
        </p:sp>
      </p:grpSp>
    </p:spTree>
    <p:extLst>
      <p:ext uri="{BB962C8B-B14F-4D97-AF65-F5344CB8AC3E}">
        <p14:creationId xmlns:p14="http://schemas.microsoft.com/office/powerpoint/2010/main" val="1909212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descr="blob:https://www.facebook.com/06346530-88ce-4c18-90e5-24c55e015e7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AutoShape 4" descr="blob:https://www.facebook.com/06346530-88ce-4c18-90e5-24c55e015e7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6" descr="blob:https://www.facebook.com/06346530-88ce-4c18-90e5-24c55e015e7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1" name="AutoShape 8" descr="blob:https://www.facebook.com/06346530-88ce-4c18-90e5-24c55e015e7e"/>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2" name="AutoShape 10" descr="blob:https://www.facebook.com/06346530-88ce-4c18-90e5-24c55e015e7e"/>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AutoShape 12" descr="blob:https://www.facebook.com/06346530-88ce-4c18-90e5-24c55e015e7e"/>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D6EAAD97-978E-79A3-B724-AC2756C7AFA6}"/>
              </a:ext>
            </a:extLst>
          </p:cNvPr>
          <p:cNvPicPr>
            <a:picLocks noChangeAspect="1"/>
          </p:cNvPicPr>
          <p:nvPr/>
        </p:nvPicPr>
        <p:blipFill>
          <a:blip r:embed="rId3"/>
          <a:stretch>
            <a:fillRect/>
          </a:stretch>
        </p:blipFill>
        <p:spPr>
          <a:xfrm>
            <a:off x="0" y="7938"/>
            <a:ext cx="18345651" cy="10271126"/>
          </a:xfrm>
          <a:prstGeom prst="rect">
            <a:avLst/>
          </a:prstGeom>
        </p:spPr>
      </p:pic>
    </p:spTree>
    <p:extLst>
      <p:ext uri="{BB962C8B-B14F-4D97-AF65-F5344CB8AC3E}">
        <p14:creationId xmlns:p14="http://schemas.microsoft.com/office/powerpoint/2010/main" val="3090924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134218"/>
            <a:ext cx="10998305" cy="3509537"/>
            <a:chOff x="-7442203" y="-284248"/>
            <a:chExt cx="14664405" cy="4679383"/>
          </a:xfrm>
        </p:grpSpPr>
        <p:sp>
          <p:nvSpPr>
            <p:cNvPr id="5" name="TextBox 5"/>
            <p:cNvSpPr txBox="1"/>
            <p:nvPr/>
          </p:nvSpPr>
          <p:spPr>
            <a:xfrm>
              <a:off x="80931" y="-107600"/>
              <a:ext cx="7141271" cy="4502735"/>
            </a:xfrm>
            <a:prstGeom prst="rect">
              <a:avLst/>
            </a:prstGeom>
          </p:spPr>
          <p:txBody>
            <a:bodyPr lIns="50800" tIns="50800" rIns="50800" bIns="50800" rtlCol="0" anchor="ctr"/>
            <a:lstStyle/>
            <a:p>
              <a:pPr algn="ctr">
                <a:lnSpc>
                  <a:spcPts val="2755"/>
                </a:lnSpc>
                <a:spcBef>
                  <a:spcPct val="0"/>
                </a:spcBef>
              </a:pPr>
              <a:endParaRPr/>
            </a:p>
          </p:txBody>
        </p:sp>
        <p:sp>
          <p:nvSpPr>
            <p:cNvPr id="6" name="TextBox 6"/>
            <p:cNvSpPr txBox="1"/>
            <p:nvPr/>
          </p:nvSpPr>
          <p:spPr>
            <a:xfrm>
              <a:off x="-7442203" y="-284248"/>
              <a:ext cx="7222202" cy="2428015"/>
            </a:xfrm>
            <a:prstGeom prst="rect">
              <a:avLst/>
            </a:prstGeom>
          </p:spPr>
          <p:txBody>
            <a:bodyPr lIns="0" tIns="0" rIns="0" bIns="0" rtlCol="0" anchor="t">
              <a:spAutoFit/>
            </a:bodyPr>
            <a:lstStyle/>
            <a:p>
              <a:pPr algn="ctr">
                <a:lnSpc>
                  <a:spcPts val="7075"/>
                </a:lnSpc>
              </a:pPr>
              <a:r>
                <a:rPr lang="en-US" sz="5000" b="1" spc="307" dirty="0">
                  <a:solidFill>
                    <a:srgbClr val="343432"/>
                  </a:solidFill>
                  <a:ea typeface="Montserrat Bold" panose="00000800000000000000"/>
                  <a:cs typeface="Montserrat Bold" panose="00000800000000000000"/>
                  <a:sym typeface="Montserrat Bold" panose="00000800000000000000"/>
                </a:rPr>
                <a:t>LƯU ĐỒ THUẬT TOÁN</a:t>
              </a:r>
            </a:p>
          </p:txBody>
        </p:sp>
      </p:grpSp>
      <p:pic>
        <p:nvPicPr>
          <p:cNvPr id="19" name="Picture 18">
            <a:extLst>
              <a:ext uri="{FF2B5EF4-FFF2-40B4-BE49-F238E27FC236}">
                <a16:creationId xmlns:a16="http://schemas.microsoft.com/office/drawing/2014/main" id="{D2F017F7-A8DE-EC97-1AD9-1364DB7B0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3300" y="134218"/>
            <a:ext cx="10912099" cy="1015278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2ACC815-5C7D-7749-07B2-4BB1C5A23933}"/>
              </a:ext>
            </a:extLst>
          </p:cNvPr>
          <p:cNvGrpSpPr/>
          <p:nvPr/>
        </p:nvGrpSpPr>
        <p:grpSpPr>
          <a:xfrm>
            <a:off x="-19050" y="168275"/>
            <a:ext cx="9348425" cy="3377051"/>
            <a:chOff x="-6735081" y="-107600"/>
            <a:chExt cx="13957283" cy="4502735"/>
          </a:xfrm>
        </p:grpSpPr>
        <p:sp>
          <p:nvSpPr>
            <p:cNvPr id="6" name="TextBox 5">
              <a:extLst>
                <a:ext uri="{FF2B5EF4-FFF2-40B4-BE49-F238E27FC236}">
                  <a16:creationId xmlns:a16="http://schemas.microsoft.com/office/drawing/2014/main" id="{2D580D3F-7286-781D-E146-296380F87C24}"/>
                </a:ext>
              </a:extLst>
            </p:cNvPr>
            <p:cNvSpPr txBox="1"/>
            <p:nvPr/>
          </p:nvSpPr>
          <p:spPr>
            <a:xfrm>
              <a:off x="80931" y="-107600"/>
              <a:ext cx="7141271" cy="4502735"/>
            </a:xfrm>
            <a:prstGeom prst="rect">
              <a:avLst/>
            </a:prstGeom>
          </p:spPr>
          <p:txBody>
            <a:bodyPr lIns="50800" tIns="50800" rIns="50800" bIns="50800" rtlCol="0" anchor="ctr"/>
            <a:lstStyle/>
            <a:p>
              <a:pPr algn="ctr">
                <a:lnSpc>
                  <a:spcPts val="2755"/>
                </a:lnSpc>
                <a:spcBef>
                  <a:spcPct val="0"/>
                </a:spcBef>
              </a:pPr>
              <a:endParaRPr/>
            </a:p>
          </p:txBody>
        </p:sp>
        <p:sp>
          <p:nvSpPr>
            <p:cNvPr id="4" name="TextBox 6">
              <a:extLst>
                <a:ext uri="{FF2B5EF4-FFF2-40B4-BE49-F238E27FC236}">
                  <a16:creationId xmlns:a16="http://schemas.microsoft.com/office/drawing/2014/main" id="{F6D1A3ED-825A-98F5-4683-85176BDBB4DB}"/>
                </a:ext>
              </a:extLst>
            </p:cNvPr>
            <p:cNvSpPr txBox="1"/>
            <p:nvPr/>
          </p:nvSpPr>
          <p:spPr>
            <a:xfrm>
              <a:off x="-6735081" y="-107600"/>
              <a:ext cx="6605529" cy="2428015"/>
            </a:xfrm>
            <a:prstGeom prst="rect">
              <a:avLst/>
            </a:prstGeom>
          </p:spPr>
          <p:txBody>
            <a:bodyPr wrap="square" lIns="0" tIns="0" rIns="0" bIns="0" rtlCol="0" anchor="t">
              <a:spAutoFit/>
            </a:bodyPr>
            <a:lstStyle/>
            <a:p>
              <a:pPr algn="ctr">
                <a:lnSpc>
                  <a:spcPts val="7075"/>
                </a:lnSpc>
              </a:pPr>
              <a:r>
                <a:rPr lang="en-US" sz="5000" b="1" spc="307" dirty="0">
                  <a:solidFill>
                    <a:srgbClr val="343432"/>
                  </a:solidFill>
                  <a:ea typeface="Montserrat Bold" panose="00000800000000000000"/>
                  <a:cs typeface="Montserrat Bold" panose="00000800000000000000"/>
                  <a:sym typeface="Montserrat Bold" panose="00000800000000000000"/>
                </a:rPr>
                <a:t>SƠ ĐỒ NGUYÊN LÝ</a:t>
              </a:r>
            </a:p>
          </p:txBody>
        </p:sp>
      </p:grpSp>
      <p:sp>
        <p:nvSpPr>
          <p:cNvPr id="7" name="AutoShape 2" descr="blob:https://www.facebook.com/f4b91a38-96d1-4e8f-8372-cebc5975cc8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AutoShape 4" descr="blob:https://www.facebook.com/f4b91a38-96d1-4e8f-8372-cebc5975cc8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AutoShape 6" descr="blob:https://www.facebook.com/f4b91a38-96d1-4e8f-8372-cebc5975cc8d"/>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8" descr="blob:https://www.facebook.com/f4b91a38-96d1-4e8f-8372-cebc5975cc8d"/>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2" name="AutoShape 10" descr="blob:https://www.facebook.com/f4b91a38-96d1-4e8f-8372-cebc5975cc8d"/>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5" name="Picture 4">
            <a:extLst>
              <a:ext uri="{FF2B5EF4-FFF2-40B4-BE49-F238E27FC236}">
                <a16:creationId xmlns:a16="http://schemas.microsoft.com/office/drawing/2014/main" id="{F76A7BFF-96BB-F3AC-4D22-907B61241751}"/>
              </a:ext>
            </a:extLst>
          </p:cNvPr>
          <p:cNvPicPr>
            <a:picLocks noChangeAspect="1"/>
          </p:cNvPicPr>
          <p:nvPr/>
        </p:nvPicPr>
        <p:blipFill>
          <a:blip r:embed="rId2"/>
          <a:stretch>
            <a:fillRect/>
          </a:stretch>
        </p:blipFill>
        <p:spPr>
          <a:xfrm>
            <a:off x="4147465" y="617537"/>
            <a:ext cx="13375360" cy="8488363"/>
          </a:xfrm>
          <a:prstGeom prst="rect">
            <a:avLst/>
          </a:prstGeom>
        </p:spPr>
      </p:pic>
    </p:spTree>
    <p:extLst>
      <p:ext uri="{BB962C8B-B14F-4D97-AF65-F5344CB8AC3E}">
        <p14:creationId xmlns:p14="http://schemas.microsoft.com/office/powerpoint/2010/main" val="2569754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B4F907-EB76-9B67-6132-B0BF2953F34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8"/>
            <a:ext cx="18288000" cy="10289276"/>
          </a:xfrm>
          <a:prstGeom prst="rect">
            <a:avLst/>
          </a:prstGeom>
        </p:spPr>
      </p:pic>
      <p:sp>
        <p:nvSpPr>
          <p:cNvPr id="3" name="TextBox 3"/>
          <p:cNvSpPr txBox="1"/>
          <p:nvPr/>
        </p:nvSpPr>
        <p:spPr>
          <a:xfrm>
            <a:off x="350065" y="6559779"/>
            <a:ext cx="6972658" cy="2180084"/>
          </a:xfrm>
          <a:prstGeom prst="rect">
            <a:avLst/>
          </a:prstGeom>
        </p:spPr>
        <p:txBody>
          <a:bodyPr lIns="0" tIns="0" rIns="0" bIns="0" rtlCol="0" anchor="t">
            <a:spAutoFit/>
          </a:bodyPr>
          <a:lstStyle/>
          <a:p>
            <a:pPr algn="ctr">
              <a:lnSpc>
                <a:spcPts val="8470"/>
              </a:lnSpc>
              <a:spcBef>
                <a:spcPct val="0"/>
              </a:spcBef>
            </a:pPr>
            <a:r>
              <a:rPr lang="en-US" sz="6100" b="1" dirty="0">
                <a:solidFill>
                  <a:schemeClr val="bg1"/>
                </a:solidFill>
                <a:latin typeface="Montserrat Bold" panose="00000800000000000000"/>
                <a:ea typeface="Montserrat Bold" panose="00000800000000000000"/>
                <a:cs typeface="Montserrat Bold" panose="00000800000000000000"/>
                <a:sym typeface="Montserrat Bold" panose="00000800000000000000"/>
              </a:rPr>
              <a:t>PHẦN LẬP TRÌNH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5801" y="-80700"/>
            <a:ext cx="5953403" cy="3377051"/>
            <a:chOff x="-715668" y="-107600"/>
            <a:chExt cx="7937870" cy="4502735"/>
          </a:xfrm>
        </p:grpSpPr>
        <p:sp>
          <p:nvSpPr>
            <p:cNvPr id="5" name="TextBox 5"/>
            <p:cNvSpPr txBox="1"/>
            <p:nvPr/>
          </p:nvSpPr>
          <p:spPr>
            <a:xfrm>
              <a:off x="80931" y="-107600"/>
              <a:ext cx="7141271" cy="4502735"/>
            </a:xfrm>
            <a:prstGeom prst="rect">
              <a:avLst/>
            </a:prstGeom>
          </p:spPr>
          <p:txBody>
            <a:bodyPr lIns="50800" tIns="50800" rIns="50800" bIns="50800" rtlCol="0" anchor="ctr"/>
            <a:lstStyle/>
            <a:p>
              <a:pPr algn="ctr">
                <a:lnSpc>
                  <a:spcPts val="2755"/>
                </a:lnSpc>
                <a:spcBef>
                  <a:spcPct val="0"/>
                </a:spcBef>
              </a:pPr>
              <a:endParaRPr/>
            </a:p>
          </p:txBody>
        </p:sp>
        <p:sp>
          <p:nvSpPr>
            <p:cNvPr id="6" name="TextBox 6"/>
            <p:cNvSpPr txBox="1"/>
            <p:nvPr/>
          </p:nvSpPr>
          <p:spPr>
            <a:xfrm>
              <a:off x="-715668" y="360792"/>
              <a:ext cx="7222202" cy="2428015"/>
            </a:xfrm>
            <a:prstGeom prst="rect">
              <a:avLst/>
            </a:prstGeom>
          </p:spPr>
          <p:txBody>
            <a:bodyPr lIns="0" tIns="0" rIns="0" bIns="0" rtlCol="0" anchor="t">
              <a:spAutoFit/>
            </a:bodyPr>
            <a:lstStyle/>
            <a:p>
              <a:pPr algn="ctr">
                <a:lnSpc>
                  <a:spcPts val="7075"/>
                </a:lnSpc>
              </a:pPr>
              <a:r>
                <a:rPr lang="en-US" sz="5000" b="1" spc="307" dirty="0">
                  <a:solidFill>
                    <a:srgbClr val="343432"/>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HÌNH ẢNH</a:t>
              </a:r>
            </a:p>
            <a:p>
              <a:pPr algn="ctr">
                <a:lnSpc>
                  <a:spcPts val="7075"/>
                </a:lnSpc>
              </a:pPr>
              <a:r>
                <a:rPr lang="en-US" sz="5000" b="1" spc="307" dirty="0">
                  <a:solidFill>
                    <a:srgbClr val="343432"/>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 THỰC TẾ</a:t>
              </a:r>
            </a:p>
          </p:txBody>
        </p:sp>
      </p:grpSp>
      <p:pic>
        <p:nvPicPr>
          <p:cNvPr id="9" name="Picture 8">
            <a:extLst>
              <a:ext uri="{FF2B5EF4-FFF2-40B4-BE49-F238E27FC236}">
                <a16:creationId xmlns:a16="http://schemas.microsoft.com/office/drawing/2014/main" id="{90360EB9-BC12-C6A5-1B3C-B6CDDE90E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342900"/>
            <a:ext cx="10927743" cy="8763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363254"/>
            <a:ext cx="4586650" cy="2336997"/>
            <a:chOff x="148495" y="3947078"/>
            <a:chExt cx="4586649" cy="2336997"/>
          </a:xfrm>
        </p:grpSpPr>
        <p:sp>
          <p:nvSpPr>
            <p:cNvPr id="5" name="TextBox 5"/>
            <p:cNvSpPr txBox="1"/>
            <p:nvPr/>
          </p:nvSpPr>
          <p:spPr>
            <a:xfrm>
              <a:off x="1028700" y="3947078"/>
              <a:ext cx="3706444" cy="2336997"/>
            </a:xfrm>
            <a:prstGeom prst="rect">
              <a:avLst/>
            </a:prstGeom>
          </p:spPr>
          <p:txBody>
            <a:bodyPr lIns="35155" tIns="35155" rIns="35155" bIns="35155" rtlCol="0" anchor="ctr"/>
            <a:lstStyle/>
            <a:p>
              <a:pPr algn="ctr">
                <a:lnSpc>
                  <a:spcPts val="2755"/>
                </a:lnSpc>
                <a:spcBef>
                  <a:spcPct val="0"/>
                </a:spcBef>
              </a:pPr>
              <a:endParaRPr/>
            </a:p>
          </p:txBody>
        </p:sp>
        <p:sp>
          <p:nvSpPr>
            <p:cNvPr id="6" name="TextBox 6"/>
            <p:cNvSpPr txBox="1"/>
            <p:nvPr/>
          </p:nvSpPr>
          <p:spPr>
            <a:xfrm>
              <a:off x="148495" y="3947078"/>
              <a:ext cx="3748449" cy="1256754"/>
            </a:xfrm>
            <a:prstGeom prst="rect">
              <a:avLst/>
            </a:prstGeom>
          </p:spPr>
          <p:txBody>
            <a:bodyPr lIns="0" tIns="0" rIns="0" bIns="0" rtlCol="0" anchor="t">
              <a:spAutoFit/>
            </a:bodyPr>
            <a:lstStyle/>
            <a:p>
              <a:pPr algn="ctr">
                <a:lnSpc>
                  <a:spcPts val="4895"/>
                </a:lnSpc>
              </a:pPr>
              <a:r>
                <a:rPr lang="en-US" sz="3600" b="1" spc="212" dirty="0">
                  <a:solidFill>
                    <a:srgbClr val="343432"/>
                  </a:solidFill>
                  <a:ea typeface="Montserrat Bold" panose="00000800000000000000"/>
                  <a:cs typeface="Times New Roman" panose="02020603050405020304" pitchFamily="18" charset="0"/>
                  <a:sym typeface="Montserrat Bold" panose="00000800000000000000"/>
                </a:rPr>
                <a:t>VIDEO</a:t>
              </a:r>
            </a:p>
            <a:p>
              <a:pPr algn="ctr">
                <a:lnSpc>
                  <a:spcPts val="4895"/>
                </a:lnSpc>
              </a:pPr>
              <a:r>
                <a:rPr lang="en-US" sz="3600" b="1" spc="212" dirty="0">
                  <a:solidFill>
                    <a:srgbClr val="343432"/>
                  </a:solidFill>
                  <a:ea typeface="Montserrat Bold" panose="00000800000000000000"/>
                  <a:cs typeface="Times New Roman" panose="02020603050405020304" pitchFamily="18" charset="0"/>
                  <a:sym typeface="Montserrat Bold" panose="00000800000000000000"/>
                </a:rPr>
                <a:t>MÔ PHỎNG</a:t>
              </a:r>
              <a:r>
                <a:rPr lang="en-US" sz="3600" b="1" spc="212" dirty="0">
                  <a:solidFill>
                    <a:srgbClr val="343432"/>
                  </a:solidFill>
                  <a:ea typeface="Montserrat Bold" panose="00000800000000000000"/>
                  <a:cs typeface="Montserrat Bold" panose="00000800000000000000"/>
                  <a:sym typeface="Montserrat Bold" panose="00000800000000000000"/>
                </a:rPr>
                <a:t> </a:t>
              </a:r>
            </a:p>
          </p:txBody>
        </p:sp>
      </p:grpSp>
      <p:pic>
        <p:nvPicPr>
          <p:cNvPr id="3" name="2aOboR75pWqLoFrnVFwzxq8DuT5dmfvxJkzAaTNQ">
            <a:hlinkClick r:id="" action="ppaction://media"/>
            <a:extLst>
              <a:ext uri="{FF2B5EF4-FFF2-40B4-BE49-F238E27FC236}">
                <a16:creationId xmlns:a16="http://schemas.microsoft.com/office/drawing/2014/main" id="{0CBFEF94-A6B9-B61F-CF65-FFCB52E1398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038600" y="363254"/>
            <a:ext cx="13792200" cy="92760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26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Box 96"/>
          <p:cNvSpPr txBox="1"/>
          <p:nvPr/>
        </p:nvSpPr>
        <p:spPr>
          <a:xfrm>
            <a:off x="1218742" y="740090"/>
            <a:ext cx="6495522" cy="73282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t">
            <a:spAutoFit/>
          </a:bodyPr>
          <a:lstStyle/>
          <a:p>
            <a:pPr algn="ctr">
              <a:lnSpc>
                <a:spcPts val="6035"/>
              </a:lnSpc>
              <a:spcBef>
                <a:spcPct val="0"/>
              </a:spcBef>
            </a:pPr>
            <a:r>
              <a:rPr lang="en-US" sz="4600" b="1" dirty="0">
                <a:solidFill>
                  <a:srgbClr val="231F20"/>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ƯU ĐIỂM</a:t>
            </a:r>
          </a:p>
        </p:txBody>
      </p:sp>
      <p:sp>
        <p:nvSpPr>
          <p:cNvPr id="2" name="AutoShape 2" descr="Sinh viên thiết kế hệ thống tự động tưới khi cây 'khát' nước - Báo VnExpr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3" name="AutoShape 4" descr="Sinh viên thiết kế hệ thống tự động tưới khi cây 'khát' nước - Báo VnExpres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TextBox 3"/>
          <p:cNvSpPr txBox="1"/>
          <p:nvPr/>
        </p:nvSpPr>
        <p:spPr>
          <a:xfrm>
            <a:off x="762000" y="1806890"/>
            <a:ext cx="7409007" cy="77708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eaLnBrk="0" fontAlgn="base" hangingPunct="0">
              <a:lnSpc>
                <a:spcPct val="150000"/>
              </a:lnSpc>
              <a:spcBef>
                <a:spcPct val="0"/>
              </a:spcBef>
              <a:spcAft>
                <a:spcPct val="0"/>
              </a:spcAft>
              <a:defRPr sz="1600">
                <a:solidFill>
                  <a:srgbClr val="1E2D3C"/>
                </a:solidFill>
                <a:latin typeface="Montserrat"/>
              </a:defRPr>
            </a:pPr>
            <a:r>
              <a:rPr lang="vi-VN" sz="26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Cảnh báo thiên tai tích hợp: Nhận diện đồng thời cả nguy cơ động đất và cháy nổ trong 1 thiết bị duy nhất.</a:t>
            </a:r>
            <a:br>
              <a:rPr lang="vi-VN" sz="2800" dirty="0">
                <a:latin typeface="Times New Roman" panose="02020603050405020304" pitchFamily="18" charset="0"/>
                <a:cs typeface="Times New Roman" panose="02020603050405020304" pitchFamily="18" charset="0"/>
              </a:rPr>
            </a:br>
            <a:r>
              <a:rPr lang="vi-VN" sz="2800" dirty="0">
                <a:latin typeface="Times New Roman" panose="02020603050405020304" pitchFamily="18" charset="0"/>
                <a:cs typeface="Times New Roman" panose="02020603050405020304" pitchFamily="18" charset="0"/>
              </a:rPr>
              <a:t>• Tự chủ cục bộ 100% (Local Autonomy): Còi và đèn báo động ngay lập tức tại chỗ, không phụ thuộc mạng Wi-Fi hay Internet.</a:t>
            </a:r>
            <a:br>
              <a:rPr lang="vi-VN" sz="2800" dirty="0">
                <a:latin typeface="Times New Roman" panose="02020603050405020304" pitchFamily="18" charset="0"/>
                <a:cs typeface="Times New Roman" panose="02020603050405020304" pitchFamily="18" charset="0"/>
              </a:rPr>
            </a:br>
            <a:r>
              <a:rPr lang="vi-VN" sz="2800" dirty="0">
                <a:latin typeface="Times New Roman" panose="02020603050405020304" pitchFamily="18" charset="0"/>
                <a:cs typeface="Times New Roman" panose="02020603050405020304" pitchFamily="18" charset="0"/>
              </a:rPr>
              <a:t>• Cảnh báo từ xa tức thời qua Telegram Bot trên điện thoại với đầy đủ thông số đo đạc thực tế.</a:t>
            </a:r>
            <a:br>
              <a:rPr lang="vi-VN" sz="2800" dirty="0">
                <a:latin typeface="Times New Roman" panose="02020603050405020304" pitchFamily="18" charset="0"/>
                <a:cs typeface="Times New Roman" panose="02020603050405020304" pitchFamily="18" charset="0"/>
              </a:rPr>
            </a:br>
            <a:r>
              <a:rPr lang="vi-VN" sz="2800" dirty="0">
                <a:latin typeface="Times New Roman" panose="02020603050405020304" pitchFamily="18" charset="0"/>
                <a:cs typeface="Times New Roman" panose="02020603050405020304" pitchFamily="18" charset="0"/>
              </a:rPr>
              <a:t>• Cơ chế hàng đợi bền vững: Không bao giờ thất thoát tin cảnh báo ngay cả khi mạng chập chờn.</a:t>
            </a:r>
            <a:br>
              <a:rPr lang="vi-VN" sz="2800" dirty="0">
                <a:latin typeface="Times New Roman" panose="02020603050405020304" pitchFamily="18" charset="0"/>
                <a:cs typeface="Times New Roman" panose="02020603050405020304" pitchFamily="18" charset="0"/>
              </a:rPr>
            </a:br>
            <a:r>
              <a:rPr lang="vi-VN" sz="2800" dirty="0">
                <a:latin typeface="Times New Roman" panose="02020603050405020304" pitchFamily="18" charset="0"/>
                <a:cs typeface="Times New Roman" panose="02020603050405020304" pitchFamily="18" charset="0"/>
              </a:rPr>
              <a:t>• Chi phí chế tạo thấp, linh kiện phổ biến, dễ dàng lắp đặt.</a:t>
            </a:r>
            <a:endParaRPr lang="vi-VN" altLang="en-US" sz="2800" b="1" dirty="0">
              <a:solidFill>
                <a:schemeClr val="tx1"/>
              </a:solidFill>
              <a:latin typeface="Times New Roman" panose="02020603050405020304" pitchFamily="18" charset="0"/>
              <a:cs typeface="Times New Roman" panose="02020603050405020304" pitchFamily="18" charset="0"/>
            </a:endParaRPr>
          </a:p>
        </p:txBody>
      </p:sp>
      <p:sp>
        <p:nvSpPr>
          <p:cNvPr id="10" name="TextBox 30"/>
          <p:cNvSpPr txBox="1"/>
          <p:nvPr/>
        </p:nvSpPr>
        <p:spPr>
          <a:xfrm>
            <a:off x="9753600" y="750481"/>
            <a:ext cx="6495522" cy="73282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lIns="0" tIns="0" rIns="0" bIns="0" rtlCol="0" anchor="t">
            <a:spAutoFit/>
          </a:bodyPr>
          <a:lstStyle/>
          <a:p>
            <a:pPr algn="ctr">
              <a:lnSpc>
                <a:spcPts val="6035"/>
              </a:lnSpc>
              <a:spcBef>
                <a:spcPct val="0"/>
              </a:spcBef>
            </a:pPr>
            <a:r>
              <a:rPr lang="en-US" sz="4600" b="1" dirty="0">
                <a:solidFill>
                  <a:srgbClr val="231F20"/>
                </a:solidFill>
                <a:latin typeface="Calibri" panose="020F0502020204030204" pitchFamily="34" charset="0"/>
                <a:ea typeface="Calibri" panose="020F0502020204030204" pitchFamily="34" charset="0"/>
                <a:cs typeface="Calibri" panose="020F0502020204030204" pitchFamily="34" charset="0"/>
                <a:sym typeface="Montserrat Bold" panose="00000800000000000000"/>
              </a:rPr>
              <a:t>NHƯỢC ĐIỂM</a:t>
            </a:r>
          </a:p>
        </p:txBody>
      </p:sp>
      <p:sp>
        <p:nvSpPr>
          <p:cNvPr id="11" name="TextBox 10"/>
          <p:cNvSpPr txBox="1"/>
          <p:nvPr/>
        </p:nvSpPr>
        <p:spPr>
          <a:xfrm>
            <a:off x="9279539" y="1835806"/>
            <a:ext cx="7443643" cy="58318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defRPr sz="1600">
                <a:solidFill>
                  <a:srgbClr val="1E2D3C"/>
                </a:solidFill>
                <a:latin typeface="Montserrat"/>
              </a:defRPr>
            </a:pPr>
            <a:r>
              <a:rPr lang="vi-VN" sz="2800" dirty="0"/>
              <a:t>• </a:t>
            </a:r>
            <a:r>
              <a:rPr lang="vi-VN" sz="2800" dirty="0">
                <a:latin typeface="+mj-lt"/>
              </a:rPr>
              <a:t>Tần số lấy mẫu của cảm biến nhiệt độ DHT11 khoảng 1-2 giây, dải đo giới hạn 50°C (cần nâng cấp DHT22 cho công nghiệp).</a:t>
            </a:r>
            <a:br>
              <a:rPr lang="vi-VN" sz="2800" dirty="0">
                <a:latin typeface="+mj-lt"/>
              </a:rPr>
            </a:br>
            <a:r>
              <a:rPr lang="vi-VN" sz="2800" dirty="0">
                <a:latin typeface="+mj-lt"/>
              </a:rPr>
              <a:t>• Hệ thống phụ thuộc vào nguồn điện liên tục (cần trang bị pin sạc dự phòng khi mất điện lưới do thiên tai.</a:t>
            </a:r>
            <a:br>
              <a:rPr lang="vi-VN" sz="2800" dirty="0">
                <a:latin typeface="+mj-lt"/>
              </a:rPr>
            </a:br>
            <a:r>
              <a:rPr lang="vi-VN" sz="2800" dirty="0">
                <a:latin typeface="+mj-lt"/>
              </a:rPr>
              <a:t>• Tầm phát hiện ngọn lửa bị giới hạn theo góc mở quang học ~60 độ, cần bố trí nhiều cảm biến nếu diện tích phòng lớn.</a:t>
            </a:r>
            <a:endParaRPr lang="vi-VN" sz="2800" dirty="0">
              <a:solidFill>
                <a:schemeClr val="tx1"/>
              </a:solidFill>
              <a:latin typeface="+mj-lt"/>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307975" y="2008908"/>
            <a:ext cx="10055225" cy="6487392"/>
          </a:xfrm>
          <a:prstGeom prst="rect">
            <a:avLst/>
          </a:prstGeom>
          <a:ln/>
        </p:spPr>
        <p:style>
          <a:lnRef idx="2">
            <a:schemeClr val="dk1"/>
          </a:lnRef>
          <a:fillRef idx="1">
            <a:schemeClr val="lt1"/>
          </a:fillRef>
          <a:effectRef idx="0">
            <a:schemeClr val="dk1"/>
          </a:effectRef>
          <a:fontRef idx="minor">
            <a:schemeClr val="dk1"/>
          </a:fontRef>
        </p:style>
        <p:txBody>
          <a:bodyPr lIns="91439" tIns="45719" rIns="91439" bIns="45719">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0" fontAlgn="base" hangingPunct="0">
              <a:spcBef>
                <a:spcPct val="0"/>
              </a:spcBef>
              <a:spcAft>
                <a:spcPct val="0"/>
              </a:spcAft>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Hoàn </a:t>
            </a:r>
            <a:r>
              <a:rPr lang="en-US" altLang="en-US" sz="2800" dirty="0" err="1">
                <a:latin typeface="Times New Roman" panose="02020603050405020304" pitchFamily="18" charset="0"/>
                <a:cs typeface="Times New Roman" panose="02020603050405020304" pitchFamily="18" charset="0"/>
              </a:rPr>
              <a:t>thiện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thiết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kế</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hệ</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thống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cảnh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báo</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thiên</a:t>
            </a:r>
            <a:r>
              <a:rPr lang="en-US" altLang="en-US" sz="2800" dirty="0">
                <a:latin typeface="Times New Roman" panose="02020603050405020304" pitchFamily="18" charset="0"/>
                <a:cs typeface="Times New Roman" panose="02020603050405020304" pitchFamily="18" charset="0"/>
              </a:rPr>
              <a:t> tai </a:t>
            </a:r>
            <a:r>
              <a:rPr lang="en-US" altLang="en-US" sz="2800" dirty="0" err="1">
                <a:latin typeface="Times New Roman" panose="02020603050405020304" pitchFamily="18" charset="0"/>
                <a:cs typeface="Times New Roman" panose="02020603050405020304" pitchFamily="18" charset="0"/>
              </a:rPr>
              <a:t>đa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năng</a:t>
            </a:r>
            <a:r>
              <a:rPr lang="en-US" altLang="en-US" sz="2800" dirty="0">
                <a:latin typeface="Times New Roman" panose="02020603050405020304" pitchFamily="18" charset="0"/>
                <a:cs typeface="Times New Roman" panose="02020603050405020304" pitchFamily="18" charset="0"/>
              </a:rPr>
              <a:t>.</a:t>
            </a:r>
          </a:p>
          <a:p>
            <a:pPr eaLnBrk="0" fontAlgn="base" hangingPunct="0">
              <a:spcBef>
                <a:spcPct val="0"/>
              </a:spcBef>
              <a:spcAft>
                <a:spcPct val="0"/>
              </a:spcAft>
              <a:buFont typeface="Wingdings" panose="05000000000000000000" pitchFamily="2" charset="2"/>
              <a:buChar char="ü"/>
            </a:pPr>
            <a:endParaRPr lang="en-US" altLang="en-US" sz="28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N</a:t>
            </a:r>
            <a:r>
              <a:rPr lang="vi-VN" sz="2800" dirty="0">
                <a:latin typeface="Times New Roman" panose="02020603050405020304" pitchFamily="18" charset="0"/>
                <a:cs typeface="Times New Roman" panose="02020603050405020304" pitchFamily="18" charset="0"/>
              </a:rPr>
              <a:t>ắm vững bản chất vật lý và phương 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a:t>
            </a:r>
            <a:r>
              <a:rPr lang="en-US" altLang="en-US" sz="2800" dirty="0" err="1">
                <a:latin typeface="Times New Roman" panose="02020603050405020304" pitchFamily="18" charset="0"/>
                <a:cs typeface="Times New Roman" panose="02020603050405020304" pitchFamily="18" charset="0"/>
              </a:rPr>
              <a:t>ích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hợp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cảm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biến</a:t>
            </a:r>
            <a:r>
              <a:rPr lang="en-US" altLang="en-US" sz="2800" dirty="0">
                <a:latin typeface="Times New Roman" panose="02020603050405020304" pitchFamily="18" charset="0"/>
                <a:cs typeface="Times New Roman" panose="02020603050405020304" pitchFamily="18" charset="0"/>
              </a:rPr>
              <a:t> ADXL345, Flame Sensor </a:t>
            </a:r>
            <a:r>
              <a:rPr lang="en-US" altLang="en-US" sz="2800" dirty="0" err="1">
                <a:latin typeface="Times New Roman" panose="02020603050405020304" pitchFamily="18" charset="0"/>
                <a:cs typeface="Times New Roman" panose="02020603050405020304" pitchFamily="18" charset="0"/>
              </a:rPr>
              <a:t>và</a:t>
            </a:r>
            <a:r>
              <a:rPr lang="en-US" altLang="en-US" sz="2800" dirty="0">
                <a:latin typeface="Times New Roman" panose="02020603050405020304" pitchFamily="18" charset="0"/>
                <a:cs typeface="Times New Roman" panose="02020603050405020304" pitchFamily="18" charset="0"/>
              </a:rPr>
              <a:t> DHT11 </a:t>
            </a:r>
            <a:r>
              <a:rPr lang="en-US" altLang="en-US" sz="2800" dirty="0" err="1">
                <a:latin typeface="Times New Roman" panose="02020603050405020304" pitchFamily="18" charset="0"/>
                <a:cs typeface="Times New Roman" panose="02020603050405020304" pitchFamily="18" charset="0"/>
              </a:rPr>
              <a:t>để</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phát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hiện</a:t>
            </a:r>
            <a:r>
              <a:rPr lang="en-US" altLang="en-US" sz="2800" dirty="0">
                <a:latin typeface="Times New Roman" panose="02020603050405020304" pitchFamily="18" charset="0"/>
                <a:cs typeface="Times New Roman" panose="02020603050405020304" pitchFamily="18" charset="0"/>
              </a:rPr>
              <a:t> rung </a:t>
            </a:r>
            <a:r>
              <a:rPr lang="en-US" altLang="en-US" sz="2800" dirty="0" err="1">
                <a:latin typeface="Times New Roman" panose="02020603050405020304" pitchFamily="18" charset="0"/>
                <a:cs typeface="Times New Roman" panose="02020603050405020304" pitchFamily="18" charset="0"/>
              </a:rPr>
              <a:t>động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lửa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nhiệt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độ</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và</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độ</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ẩm</a:t>
            </a:r>
            <a:r>
              <a:rPr lang="en-US" altLang="en-US" sz="2800" dirty="0">
                <a:latin typeface="Times New Roman" panose="02020603050405020304" pitchFamily="18" charset="0"/>
                <a:cs typeface="Times New Roman" panose="02020603050405020304" pitchFamily="18" charset="0"/>
              </a:rPr>
              <a:t>.</a:t>
            </a:r>
          </a:p>
          <a:p>
            <a:pPr eaLnBrk="0" fontAlgn="base" hangingPunct="0">
              <a:spcBef>
                <a:spcPct val="0"/>
              </a:spcBef>
              <a:spcAft>
                <a:spcPct val="0"/>
              </a:spcAft>
              <a:buFont typeface="Wingdings" panose="05000000000000000000" pitchFamily="2" charset="2"/>
              <a:buChar char="ü"/>
            </a:pPr>
            <a:endParaRPr lang="en-US" altLang="en-US" sz="28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Làm chủ kỹ thuật điều khiển cơ cấu chấp hành</a:t>
            </a:r>
            <a:r>
              <a:rPr lang="en-US" altLang="en-US" sz="2800" dirty="0">
                <a:latin typeface="Times New Roman" panose="02020603050405020304" pitchFamily="18" charset="0"/>
                <a:cs typeface="Times New Roman" panose="02020603050405020304" pitchFamily="18" charset="0"/>
              </a:rPr>
              <a:t>.</a:t>
            </a:r>
          </a:p>
          <a:p>
            <a:pPr eaLnBrk="0" fontAlgn="base" hangingPunct="0">
              <a:spcBef>
                <a:spcPct val="0"/>
              </a:spcBef>
              <a:spcAft>
                <a:spcPct val="0"/>
              </a:spcAft>
              <a:buFont typeface="Wingdings" panose="05000000000000000000" pitchFamily="2" charset="2"/>
              <a:buChar char="ü"/>
            </a:pPr>
            <a:endParaRPr lang="en-US" altLang="en-US" sz="28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ü"/>
            </a:pPr>
            <a:r>
              <a:rPr lang="en-US" altLang="en-US" sz="2800" dirty="0" err="1">
                <a:latin typeface="Times New Roman" panose="02020603050405020304" pitchFamily="18" charset="0"/>
                <a:cs typeface="Times New Roman" panose="02020603050405020304" pitchFamily="18" charset="0"/>
              </a:rPr>
              <a:t>Gửi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cảnh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báo</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từ</a:t>
            </a:r>
            <a:r>
              <a:rPr lang="en-US" altLang="en-US" sz="2800" dirty="0">
                <a:latin typeface="Times New Roman" panose="02020603050405020304" pitchFamily="18" charset="0"/>
                <a:cs typeface="Times New Roman" panose="02020603050405020304" pitchFamily="18" charset="0"/>
              </a:rPr>
              <a:t> xa qua Ingest API </a:t>
            </a:r>
            <a:r>
              <a:rPr lang="en-US" altLang="en-US" sz="2800" dirty="0" err="1">
                <a:latin typeface="Times New Roman" panose="02020603050405020304" pitchFamily="18" charset="0"/>
                <a:cs typeface="Times New Roman" panose="02020603050405020304" pitchFamily="18" charset="0"/>
              </a:rPr>
              <a:t>và</a:t>
            </a:r>
            <a:r>
              <a:rPr lang="en-US" altLang="en-US" sz="2800" dirty="0">
                <a:latin typeface="Times New Roman" panose="02020603050405020304" pitchFamily="18" charset="0"/>
                <a:cs typeface="Times New Roman" panose="02020603050405020304" pitchFamily="18" charset="0"/>
              </a:rPr>
              <a:t> Telegram Bot </a:t>
            </a:r>
            <a:r>
              <a:rPr lang="en-US" altLang="en-US" sz="2800" dirty="0" err="1">
                <a:latin typeface="Times New Roman" panose="02020603050405020304" pitchFamily="18" charset="0"/>
                <a:cs typeface="Times New Roman" panose="02020603050405020304" pitchFamily="18" charset="0"/>
              </a:rPr>
              <a:t>với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độ</a:t>
            </a:r>
            <a:r>
              <a:rPr lang="en-US" altLang="en-US" sz="2800" dirty="0">
                <a:latin typeface="Times New Roman" panose="02020603050405020304" pitchFamily="18" charset="0"/>
                <a:cs typeface="Times New Roman" panose="02020603050405020304" pitchFamily="18" charset="0"/>
              </a:rPr>
              <a:t> tin </a:t>
            </a:r>
            <a:r>
              <a:rPr lang="en-US" altLang="en-US" sz="2800" dirty="0" err="1">
                <a:latin typeface="Times New Roman" panose="02020603050405020304" pitchFamily="18" charset="0"/>
                <a:cs typeface="Times New Roman" panose="02020603050405020304" pitchFamily="18" charset="0"/>
              </a:rPr>
              <a:t>cậy</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cao</a:t>
            </a:r>
            <a:r>
              <a:rPr lang="en-US" altLang="en-US" sz="2800" dirty="0">
                <a:latin typeface="Times New Roman" panose="02020603050405020304" pitchFamily="18" charset="0"/>
                <a:cs typeface="Times New Roman" panose="02020603050405020304" pitchFamily="18" charset="0"/>
              </a:rPr>
              <a:t>.</a:t>
            </a:r>
          </a:p>
          <a:p>
            <a:pPr eaLnBrk="0" fontAlgn="base" hangingPunct="0">
              <a:spcBef>
                <a:spcPct val="0"/>
              </a:spcBef>
              <a:spcAft>
                <a:spcPct val="0"/>
              </a:spcAft>
              <a:buFont typeface="Wingdings" panose="05000000000000000000" pitchFamily="2" charset="2"/>
              <a:buChar char="ü"/>
            </a:pPr>
            <a:endParaRPr lang="en-US" altLang="en-US" sz="28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ü"/>
            </a:pPr>
            <a:r>
              <a:rPr lang="en-US" altLang="en-US" sz="2800" dirty="0" err="1">
                <a:latin typeface="Times New Roman" panose="02020603050405020304" pitchFamily="18" charset="0"/>
                <a:cs typeface="Times New Roman" panose="02020603050405020304" pitchFamily="18" charset="0"/>
              </a:rPr>
              <a:t>Góp</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phần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bảo</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vệ</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tính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mạng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tài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và</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nâng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cao</a:t>
            </a:r>
            <a:r>
              <a:rPr lang="en-US" altLang="en-US" sz="2800" dirty="0">
                <a:latin typeface="Times New Roman" panose="02020603050405020304" pitchFamily="18" charset="0"/>
                <a:cs typeface="Times New Roman" panose="02020603050405020304" pitchFamily="18" charset="0"/>
              </a:rPr>
              <a:t> an </a:t>
            </a:r>
            <a:r>
              <a:rPr lang="en-US" altLang="en-US" sz="2800" dirty="0" err="1">
                <a:latin typeface="Times New Roman" panose="02020603050405020304" pitchFamily="18" charset="0"/>
                <a:cs typeface="Times New Roman" panose="02020603050405020304" pitchFamily="18" charset="0"/>
              </a:rPr>
              <a:t>toàn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cộng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đồng</a:t>
            </a:r>
            <a:r>
              <a:rPr lang="en-US" altLang="en-US" sz="2800" dirty="0">
                <a:latin typeface="Times New Roman" panose="02020603050405020304" pitchFamily="18" charset="0"/>
                <a:cs typeface="Times New Roman" panose="02020603050405020304" pitchFamily="18" charset="0"/>
              </a:rPr>
              <a:t>.</a:t>
            </a:r>
          </a:p>
          <a:p>
            <a:pPr marL="0" indent="0" algn="ctr">
              <a:lnSpc>
                <a:spcPct val="150000"/>
              </a:lnSpc>
              <a:buNone/>
            </a:pPr>
            <a:endParaRPr lang="en-US" sz="2000" dirty="0">
              <a:ln w="17780" cmpd="sng">
                <a:solidFill>
                  <a:schemeClr val="tx1"/>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latin typeface="+mj-lt"/>
              <a:cs typeface="Arial" panose="020B0604020202020204" pitchFamily="34" charset="0"/>
            </a:endParaRPr>
          </a:p>
        </p:txBody>
      </p:sp>
      <p:sp>
        <p:nvSpPr>
          <p:cNvPr id="3" name="TextBox 2">
            <a:extLst>
              <a:ext uri="{FF2B5EF4-FFF2-40B4-BE49-F238E27FC236}">
                <a16:creationId xmlns:a16="http://schemas.microsoft.com/office/drawing/2014/main" id="{439642F6-F732-34D5-A174-75224515EBDE}"/>
              </a:ext>
            </a:extLst>
          </p:cNvPr>
          <p:cNvSpPr txBox="1"/>
          <p:nvPr/>
        </p:nvSpPr>
        <p:spPr>
          <a:xfrm>
            <a:off x="0" y="774962"/>
            <a:ext cx="18288000" cy="923330"/>
          </a:xfrm>
          <a:prstGeom prst="rect">
            <a:avLst/>
          </a:prstGeom>
          <a:noFill/>
        </p:spPr>
        <p:txBody>
          <a:bodyPr wrap="square" rtlCol="0">
            <a:spAutoFit/>
          </a:bodyPr>
          <a:lstStyle/>
          <a:p>
            <a:pPr algn="ctr"/>
            <a:r>
              <a:rPr lang="en-US" sz="5400" b="1" dirty="0"/>
              <a:t>KẾT LUẬN</a:t>
            </a:r>
          </a:p>
        </p:txBody>
      </p:sp>
      <p:pic>
        <p:nvPicPr>
          <p:cNvPr id="5" name="Picture 4">
            <a:extLst>
              <a:ext uri="{FF2B5EF4-FFF2-40B4-BE49-F238E27FC236}">
                <a16:creationId xmlns:a16="http://schemas.microsoft.com/office/drawing/2014/main" id="{F986A658-1144-F966-DAD8-F1397B2152F8}"/>
              </a:ext>
            </a:extLst>
          </p:cNvPr>
          <p:cNvPicPr>
            <a:picLocks noChangeAspect="1"/>
          </p:cNvPicPr>
          <p:nvPr/>
        </p:nvPicPr>
        <p:blipFill>
          <a:blip r:embed="rId2"/>
          <a:stretch>
            <a:fillRect/>
          </a:stretch>
        </p:blipFill>
        <p:spPr>
          <a:xfrm>
            <a:off x="10515600" y="2008908"/>
            <a:ext cx="7776952" cy="534439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3"/>
          <p:cNvSpPr txBox="1"/>
          <p:nvPr/>
        </p:nvSpPr>
        <p:spPr>
          <a:xfrm>
            <a:off x="2167061" y="313030"/>
            <a:ext cx="4901210" cy="4707806"/>
          </a:xfrm>
          <a:prstGeom prst="rect">
            <a:avLst/>
          </a:prstGeom>
        </p:spPr>
        <p:txBody>
          <a:bodyPr lIns="50800" tIns="50800" rIns="50800" bIns="50800" rtlCol="0" anchor="ctr"/>
          <a:lstStyle/>
          <a:p>
            <a:pPr algn="ctr">
              <a:lnSpc>
                <a:spcPts val="2755"/>
              </a:lnSpc>
              <a:spcBef>
                <a:spcPct val="0"/>
              </a:spcBef>
            </a:pPr>
            <a:endParaRPr/>
          </a:p>
        </p:txBody>
      </p:sp>
      <p:sp>
        <p:nvSpPr>
          <p:cNvPr id="2" name="AutoShape 2" descr="Ứng dụng AI trong nông nghiệp: Xu hướng tất yếu của sản xuất hiện đạ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3" name="TextBox 2"/>
          <p:cNvSpPr txBox="1"/>
          <p:nvPr/>
        </p:nvSpPr>
        <p:spPr>
          <a:xfrm>
            <a:off x="1981200" y="5066400"/>
            <a:ext cx="4267200"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defRPr sz="2000" b="1">
                <a:solidFill>
                  <a:srgbClr val="1E3C6E"/>
                </a:solidFill>
                <a:latin typeface="Montserrat"/>
              </a:defRPr>
            </a:pPr>
            <a:r>
              <a:rPr lang="en-US" sz="3000" dirty="0">
                <a:solidFill>
                  <a:schemeClr val="tx1"/>
                </a:solidFill>
                <a:latin typeface="Times New Roman" panose="02020603050405020304" pitchFamily="18" charset="0"/>
                <a:cs typeface="Times New Roman" panose="02020603050405020304" pitchFamily="18" charset="0"/>
              </a:rPr>
              <a:t>HỆ THỐNG DASHBOARD</a:t>
            </a:r>
            <a:endParaRPr lang="en-US" sz="3000" b="1" dirty="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1104780" y="5574231"/>
            <a:ext cx="4953000"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defRPr sz="2000" b="1">
                <a:solidFill>
                  <a:srgbClr val="1E3C6E"/>
                </a:solidFill>
                <a:latin typeface="Montserrat"/>
              </a:defRPr>
            </a:pPr>
            <a:r>
              <a:rPr lang="en-US" sz="3000" dirty="0">
                <a:solidFill>
                  <a:schemeClr val="tx1"/>
                </a:solidFill>
                <a:latin typeface="Times New Roman" panose="02020603050405020304" pitchFamily="18" charset="0"/>
                <a:cs typeface="Times New Roman" panose="02020603050405020304" pitchFamily="18" charset="0"/>
              </a:rPr>
              <a:t>TÍCH HỢP AI &amp; MỞ RỘNG CẢM BIẾN</a:t>
            </a:r>
            <a:endParaRPr lang="en-US" sz="3000" b="1"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9A72867-9474-60AD-0754-368C3B22B319}"/>
              </a:ext>
            </a:extLst>
          </p:cNvPr>
          <p:cNvSpPr txBox="1"/>
          <p:nvPr/>
        </p:nvSpPr>
        <p:spPr>
          <a:xfrm>
            <a:off x="460375" y="6372412"/>
            <a:ext cx="7997825" cy="26776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sz="1500">
                <a:solidFill>
                  <a:srgbClr val="283241"/>
                </a:solidFill>
                <a:latin typeface="Montserrat"/>
              </a:defRPr>
            </a:pPr>
            <a:r>
              <a:rPr lang="vi-VN" sz="2800" dirty="0">
                <a:sym typeface="Symbol" panose="05050102010706020507" pitchFamily="18" charset="2"/>
              </a:rPr>
              <a:t></a:t>
            </a:r>
            <a:r>
              <a:rPr lang="vi-VN" sz="2800" dirty="0"/>
              <a:t> </a:t>
            </a:r>
            <a:r>
              <a:rPr lang="vi-VN" sz="2800" dirty="0">
                <a:latin typeface="Times New Roman" panose="02020603050405020304" pitchFamily="18" charset="0"/>
                <a:cs typeface="Times New Roman" panose="02020603050405020304" pitchFamily="18" charset="0"/>
              </a:rPr>
              <a:t>Giám sát trạng thái toàn bộ các trạm cảm biến thời gian thực qua Dashboard </a:t>
            </a:r>
            <a:endParaRPr lang="en-US" sz="2800" dirty="0">
              <a:latin typeface="Times New Roman" panose="02020603050405020304" pitchFamily="18" charset="0"/>
              <a:cs typeface="Times New Roman" panose="02020603050405020304" pitchFamily="18" charset="0"/>
            </a:endParaRPr>
          </a:p>
          <a:p>
            <a:pPr>
              <a:defRPr sz="1500">
                <a:solidFill>
                  <a:srgbClr val="283241"/>
                </a:solidFill>
                <a:latin typeface="Montserrat"/>
              </a:defRPr>
            </a:pPr>
            <a:r>
              <a:rPr lang="vi-VN" sz="2800" dirty="0">
                <a:sym typeface="Symbol" panose="05050102010706020507" pitchFamily="18" charset="2"/>
              </a:rPr>
              <a:t></a:t>
            </a:r>
            <a:r>
              <a:rPr lang="vi-VN" sz="2800" dirty="0">
                <a:latin typeface="Times New Roman" panose="02020603050405020304" pitchFamily="18" charset="0"/>
                <a:cs typeface="Times New Roman" panose="02020603050405020304" pitchFamily="18" charset="0"/>
              </a:rPr>
              <a:t> Cho phép tương tác 2 chiều: Truy vấn trạng thái trực tiếp</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ngắt còi từ xa sau khi xác nhận an toàn.</a:t>
            </a:r>
            <a:br>
              <a:rPr lang="vi-VN" sz="2800" dirty="0">
                <a:latin typeface="Times New Roman" panose="02020603050405020304" pitchFamily="18" charset="0"/>
                <a:cs typeface="Times New Roman" panose="02020603050405020304" pitchFamily="18" charset="0"/>
              </a:rPr>
            </a:br>
            <a:r>
              <a:rPr lang="vi-VN" sz="2800" dirty="0">
                <a:sym typeface="Symbol" panose="05050102010706020507" pitchFamily="18" charset="2"/>
              </a:rPr>
              <a:t></a:t>
            </a:r>
            <a:r>
              <a:rPr lang="vi-VN" sz="2800" dirty="0">
                <a:latin typeface="Times New Roman" panose="02020603050405020304" pitchFamily="18" charset="0"/>
                <a:cs typeface="Times New Roman" panose="02020603050405020304" pitchFamily="18" charset="0"/>
              </a:rPr>
              <a:t> Phát tin nhắn khẩn cấp đồng loạt đến toàn thể cư dân qua </a:t>
            </a: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vi-VN" sz="28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6C687C47-31DA-480E-7308-6409B132AFD7}"/>
              </a:ext>
            </a:extLst>
          </p:cNvPr>
          <p:cNvSpPr txBox="1"/>
          <p:nvPr/>
        </p:nvSpPr>
        <p:spPr>
          <a:xfrm>
            <a:off x="9695080" y="6819900"/>
            <a:ext cx="7772400" cy="26776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sz="1500">
                <a:solidFill>
                  <a:srgbClr val="283241"/>
                </a:solidFill>
                <a:latin typeface="Montserra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Ứng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dụng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mô</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hình</a:t>
            </a:r>
            <a:r>
              <a:rPr lang="en-US" sz="2800" dirty="0">
                <a:latin typeface="Times New Roman" panose="02020603050405020304" pitchFamily="18" charset="0"/>
                <a:ea typeface="Calibri" panose="020F0502020204030204" pitchFamily="34" charset="0"/>
                <a:cs typeface="Times New Roman" panose="02020603050405020304" pitchFamily="18" charset="0"/>
              </a:rPr>
              <a:t> AI </a:t>
            </a:r>
            <a:r>
              <a:rPr lang="en-US" sz="2800" dirty="0" err="1">
                <a:latin typeface="Times New Roman" panose="02020603050405020304" pitchFamily="18" charset="0"/>
                <a:ea typeface="Calibri" panose="020F0502020204030204" pitchFamily="34" charset="0"/>
                <a:cs typeface="Times New Roman" panose="02020603050405020304" pitchFamily="18" charset="0"/>
              </a:rPr>
              <a:t>phân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loại</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sóng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địa</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chấn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phân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biệt</a:t>
            </a:r>
            <a:r>
              <a:rPr lang="en-US" sz="2800" dirty="0">
                <a:latin typeface="Times New Roman" panose="02020603050405020304" pitchFamily="18" charset="0"/>
                <a:ea typeface="Calibri" panose="020F0502020204030204" pitchFamily="34" charset="0"/>
                <a:cs typeface="Times New Roman" panose="02020603050405020304" pitchFamily="18" charset="0"/>
              </a:rPr>
              <a:t> rung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chấn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xe</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tải</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nặng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với</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động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đất</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thật</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sự</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để</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triệt</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tiêu</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báo</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động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giả</a:t>
            </a:r>
            <a:r>
              <a:rPr lang="en-US" sz="2800" dirty="0">
                <a:latin typeface="Times New Roman" panose="02020603050405020304" pitchFamily="18" charset="0"/>
                <a:ea typeface="Calibri" panose="020F0502020204030204" pitchFamily="34" charset="0"/>
                <a:cs typeface="Times New Roman" panose="02020603050405020304" pitchFamily="18" charset="0"/>
              </a:rPr>
              <a:t>.</a:t>
            </a:r>
            <a:br>
              <a:rPr lang="en-US" sz="2800" dirty="0">
                <a:latin typeface="Times New Roman" panose="02020603050405020304" pitchFamily="18" charset="0"/>
                <a:ea typeface="Calibri" panose="020F0502020204030204" pitchFamily="34" charset="0"/>
                <a:cs typeface="Times New Roman" panose="02020603050405020304" pitchFamily="18" charset="0"/>
              </a:rPr>
            </a:b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Mở</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rộng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thêm</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cảm</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biến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ngập</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lụt</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và</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cảm</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biến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khí</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độc</a:t>
            </a:r>
            <a:r>
              <a:rPr lang="en-US" sz="2800" dirty="0">
                <a:latin typeface="Times New Roman" panose="02020603050405020304" pitchFamily="18" charset="0"/>
                <a:ea typeface="Calibri" panose="020F0502020204030204" pitchFamily="34" charset="0"/>
                <a:cs typeface="Times New Roman" panose="02020603050405020304" pitchFamily="18" charset="0"/>
              </a:rPr>
              <a:t> CO </a:t>
            </a:r>
            <a:r>
              <a:rPr lang="en-US" sz="2800" dirty="0" err="1">
                <a:latin typeface="Times New Roman" panose="02020603050405020304" pitchFamily="18" charset="0"/>
                <a:ea typeface="Calibri" panose="020F0502020204030204" pitchFamily="34" charset="0"/>
                <a:cs typeface="Times New Roman" panose="02020603050405020304" pitchFamily="18" charset="0"/>
              </a:rPr>
              <a:t>để</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xây</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dựng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hệ</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thống</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cảnh</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báo</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thiên</a:t>
            </a:r>
            <a:r>
              <a:rPr lang="en-US" sz="2800" dirty="0">
                <a:latin typeface="Times New Roman" panose="02020603050405020304" pitchFamily="18" charset="0"/>
                <a:ea typeface="Calibri" panose="020F0502020204030204" pitchFamily="34" charset="0"/>
                <a:cs typeface="Times New Roman" panose="02020603050405020304" pitchFamily="18" charset="0"/>
              </a:rPr>
              <a:t> tai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toàn</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diện</a:t>
            </a:r>
            <a:r>
              <a:rPr lang="en-US" sz="2800" dirty="0">
                <a:latin typeface="Times New Roman" panose="02020603050405020304" pitchFamily="18" charset="0"/>
                <a:cs typeface="Times New Roman" panose="02020603050405020304" pitchFamily="18" charset="0"/>
              </a:rPr>
              <a:t>.</a:t>
            </a:r>
            <a:endParaRPr lang="en-US" sz="4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72A8385-D394-E047-91B5-4C9C749B1251}"/>
              </a:ext>
            </a:extLst>
          </p:cNvPr>
          <p:cNvSpPr txBox="1"/>
          <p:nvPr/>
        </p:nvSpPr>
        <p:spPr>
          <a:xfrm>
            <a:off x="0" y="196371"/>
            <a:ext cx="18288000" cy="923330"/>
          </a:xfrm>
          <a:prstGeom prst="rect">
            <a:avLst/>
          </a:prstGeom>
          <a:noFill/>
        </p:spPr>
        <p:txBody>
          <a:bodyPr wrap="square" rtlCol="0">
            <a:spAutoFit/>
          </a:bodyPr>
          <a:lstStyle/>
          <a:p>
            <a:pPr algn="ctr"/>
            <a:r>
              <a:rPr lang="en-US" sz="5400" b="1" dirty="0"/>
              <a:t>HƯỚNG PHÁT TRIỂN</a:t>
            </a:r>
          </a:p>
        </p:txBody>
      </p:sp>
      <p:pic>
        <p:nvPicPr>
          <p:cNvPr id="9" name="Picture 8">
            <a:extLst>
              <a:ext uri="{FF2B5EF4-FFF2-40B4-BE49-F238E27FC236}">
                <a16:creationId xmlns:a16="http://schemas.microsoft.com/office/drawing/2014/main" id="{F3F9B088-C7CA-70EC-B5EC-6243DFC17B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4689" y="1359265"/>
            <a:ext cx="6131095" cy="3422007"/>
          </a:xfrm>
          <a:prstGeom prst="rect">
            <a:avLst/>
          </a:prstGeom>
        </p:spPr>
      </p:pic>
      <p:pic>
        <p:nvPicPr>
          <p:cNvPr id="12" name="Picture 11">
            <a:extLst>
              <a:ext uri="{FF2B5EF4-FFF2-40B4-BE49-F238E27FC236}">
                <a16:creationId xmlns:a16="http://schemas.microsoft.com/office/drawing/2014/main" id="{EB81B426-CB74-060F-79B5-3053943A23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1112" y="1299796"/>
            <a:ext cx="6942199" cy="387471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6038836" y="5057529"/>
            <a:ext cx="6210328" cy="462135"/>
          </a:xfrm>
          <a:custGeom>
            <a:avLst/>
            <a:gdLst/>
            <a:ahLst/>
            <a:cxnLst/>
            <a:rect l="l" t="t" r="r" b="b"/>
            <a:pathLst>
              <a:path w="6210327" h="462135">
                <a:moveTo>
                  <a:pt x="0" y="0"/>
                </a:moveTo>
                <a:lnTo>
                  <a:pt x="6210328" y="0"/>
                </a:lnTo>
                <a:lnTo>
                  <a:pt x="6210328" y="462134"/>
                </a:lnTo>
                <a:lnTo>
                  <a:pt x="0" y="462134"/>
                </a:lnTo>
                <a:lnTo>
                  <a:pt x="0" y="0"/>
                </a:lnTo>
                <a:close/>
              </a:path>
            </a:pathLst>
          </a:custGeom>
          <a:blipFill>
            <a:blip r:embed="rId2">
              <a:alphaModFix amt="72000"/>
            </a:blip>
            <a:stretch>
              <a:fillRect b="-286352"/>
            </a:stretch>
          </a:blipFill>
        </p:spPr>
        <p:txBody>
          <a:bodyPr/>
          <a:lstStyle/>
          <a:p>
            <a:endParaRPr lang="en-US"/>
          </a:p>
        </p:txBody>
      </p:sp>
      <p:grpSp>
        <p:nvGrpSpPr>
          <p:cNvPr id="3" name="Group 3"/>
          <p:cNvGrpSpPr/>
          <p:nvPr/>
        </p:nvGrpSpPr>
        <p:grpSpPr>
          <a:xfrm>
            <a:off x="6038836" y="4223265"/>
            <a:ext cx="6210328" cy="1840473"/>
            <a:chOff x="0" y="0"/>
            <a:chExt cx="8280436" cy="2453963"/>
          </a:xfrm>
        </p:grpSpPr>
        <p:grpSp>
          <p:nvGrpSpPr>
            <p:cNvPr id="4" name="Group 4"/>
            <p:cNvGrpSpPr/>
            <p:nvPr/>
          </p:nvGrpSpPr>
          <p:grpSpPr>
            <a:xfrm>
              <a:off x="0" y="0"/>
              <a:ext cx="8280436" cy="2453963"/>
              <a:chOff x="0" y="0"/>
              <a:chExt cx="5426266" cy="1608111"/>
            </a:xfrm>
          </p:grpSpPr>
          <p:sp>
            <p:nvSpPr>
              <p:cNvPr id="5" name="Freeform 5"/>
              <p:cNvSpPr/>
              <p:nvPr/>
            </p:nvSpPr>
            <p:spPr>
              <a:xfrm>
                <a:off x="0" y="0"/>
                <a:ext cx="5426266" cy="1608111"/>
              </a:xfrm>
              <a:custGeom>
                <a:avLst/>
                <a:gdLst/>
                <a:ahLst/>
                <a:cxnLst/>
                <a:rect l="l" t="t" r="r" b="b"/>
                <a:pathLst>
                  <a:path w="5426266" h="1608111">
                    <a:moveTo>
                      <a:pt x="18699" y="0"/>
                    </a:moveTo>
                    <a:lnTo>
                      <a:pt x="5407567" y="0"/>
                    </a:lnTo>
                    <a:cubicBezTo>
                      <a:pt x="5412526" y="0"/>
                      <a:pt x="5417283" y="1970"/>
                      <a:pt x="5420789" y="5477"/>
                    </a:cubicBezTo>
                    <a:cubicBezTo>
                      <a:pt x="5424296" y="8984"/>
                      <a:pt x="5426266" y="13740"/>
                      <a:pt x="5426266" y="18699"/>
                    </a:cubicBezTo>
                    <a:lnTo>
                      <a:pt x="5426266" y="1589412"/>
                    </a:lnTo>
                    <a:cubicBezTo>
                      <a:pt x="5426266" y="1599739"/>
                      <a:pt x="5417894" y="1608111"/>
                      <a:pt x="5407567" y="1608111"/>
                    </a:cubicBezTo>
                    <a:lnTo>
                      <a:pt x="18699" y="1608111"/>
                    </a:lnTo>
                    <a:cubicBezTo>
                      <a:pt x="8372" y="1608111"/>
                      <a:pt x="0" y="1599739"/>
                      <a:pt x="0" y="1589412"/>
                    </a:cubicBezTo>
                    <a:lnTo>
                      <a:pt x="0" y="18699"/>
                    </a:lnTo>
                    <a:cubicBezTo>
                      <a:pt x="0" y="8372"/>
                      <a:pt x="8372" y="0"/>
                      <a:pt x="18699" y="0"/>
                    </a:cubicBezTo>
                    <a:close/>
                  </a:path>
                </a:pathLst>
              </a:custGeom>
              <a:solidFill>
                <a:srgbClr val="F8D389"/>
              </a:solidFill>
            </p:spPr>
            <p:txBody>
              <a:bodyPr/>
              <a:lstStyle/>
              <a:p>
                <a:endParaRPr lang="en-US"/>
              </a:p>
            </p:txBody>
          </p:sp>
          <p:sp>
            <p:nvSpPr>
              <p:cNvPr id="6" name="TextBox 6"/>
              <p:cNvSpPr txBox="1"/>
              <p:nvPr/>
            </p:nvSpPr>
            <p:spPr>
              <a:xfrm>
                <a:off x="0" y="-38100"/>
                <a:ext cx="5426266" cy="1646211"/>
              </a:xfrm>
              <a:prstGeom prst="rect">
                <a:avLst/>
              </a:prstGeom>
            </p:spPr>
            <p:txBody>
              <a:bodyPr lIns="50800" tIns="50800" rIns="50800" bIns="50800" rtlCol="0" anchor="ctr"/>
              <a:lstStyle/>
              <a:p>
                <a:pPr algn="ctr">
                  <a:lnSpc>
                    <a:spcPts val="2755"/>
                  </a:lnSpc>
                </a:pPr>
                <a:endParaRPr/>
              </a:p>
            </p:txBody>
          </p:sp>
        </p:grpSp>
        <p:sp>
          <p:nvSpPr>
            <p:cNvPr id="7" name="TextBox 7"/>
            <p:cNvSpPr txBox="1"/>
            <p:nvPr/>
          </p:nvSpPr>
          <p:spPr>
            <a:xfrm>
              <a:off x="1658000" y="518912"/>
              <a:ext cx="4964434" cy="1321729"/>
            </a:xfrm>
            <a:prstGeom prst="rect">
              <a:avLst/>
            </a:prstGeom>
          </p:spPr>
          <p:txBody>
            <a:bodyPr lIns="0" tIns="0" rIns="0" bIns="0" rtlCol="0" anchor="t">
              <a:spAutoFit/>
            </a:bodyPr>
            <a:lstStyle/>
            <a:p>
              <a:pPr algn="ctr">
                <a:lnSpc>
                  <a:spcPts val="8400"/>
                </a:lnSpc>
                <a:spcBef>
                  <a:spcPct val="0"/>
                </a:spcBef>
              </a:pPr>
              <a:r>
                <a:rPr lang="en-US" sz="6100" b="1" spc="59" dirty="0">
                  <a:solidFill>
                    <a:srgbClr val="343432"/>
                  </a:solidFill>
                  <a:latin typeface="Times New Roman" panose="02020603050405020304" pitchFamily="18" charset="0"/>
                  <a:ea typeface="Montserrat Bold" panose="00000800000000000000"/>
                  <a:cs typeface="Times New Roman" panose="02020603050405020304" pitchFamily="18" charset="0"/>
                  <a:sym typeface="Montserrat Bold" panose="00000800000000000000"/>
                </a:rPr>
                <a:t>CÂU HỎI</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A78B2B2-7C56-82B2-1F05-C6095EC33153}"/>
              </a:ext>
            </a:extLst>
          </p:cNvPr>
          <p:cNvPicPr>
            <a:picLocks noChangeAspect="1"/>
          </p:cNvPicPr>
          <p:nvPr/>
        </p:nvPicPr>
        <p:blipFill>
          <a:blip r:embed="rId2"/>
          <a:stretch>
            <a:fillRect/>
          </a:stretch>
        </p:blipFill>
        <p:spPr>
          <a:xfrm>
            <a:off x="883471" y="6367855"/>
            <a:ext cx="3098367" cy="3919145"/>
          </a:xfrm>
          <a:prstGeom prst="rect">
            <a:avLst/>
          </a:prstGeom>
        </p:spPr>
      </p:pic>
      <p:pic>
        <p:nvPicPr>
          <p:cNvPr id="15" name="Picture 14">
            <a:extLst>
              <a:ext uri="{FF2B5EF4-FFF2-40B4-BE49-F238E27FC236}">
                <a16:creationId xmlns:a16="http://schemas.microsoft.com/office/drawing/2014/main" id="{BB41F705-11A2-8896-AD0D-AD0706F47A2C}"/>
              </a:ext>
            </a:extLst>
          </p:cNvPr>
          <p:cNvPicPr>
            <a:picLocks noChangeAspect="1"/>
          </p:cNvPicPr>
          <p:nvPr/>
        </p:nvPicPr>
        <p:blipFill>
          <a:blip r:embed="rId3"/>
          <a:stretch>
            <a:fillRect/>
          </a:stretch>
        </p:blipFill>
        <p:spPr>
          <a:xfrm>
            <a:off x="501263" y="2334527"/>
            <a:ext cx="3862782" cy="3469815"/>
          </a:xfrm>
          <a:prstGeom prst="rect">
            <a:avLst/>
          </a:prstGeom>
        </p:spPr>
      </p:pic>
      <p:pic>
        <p:nvPicPr>
          <p:cNvPr id="9" name="Picture 8">
            <a:extLst>
              <a:ext uri="{FF2B5EF4-FFF2-40B4-BE49-F238E27FC236}">
                <a16:creationId xmlns:a16="http://schemas.microsoft.com/office/drawing/2014/main" id="{82858818-A669-4628-6EF0-99D38CCA767F}"/>
              </a:ext>
            </a:extLst>
          </p:cNvPr>
          <p:cNvPicPr>
            <a:picLocks noChangeAspect="1"/>
          </p:cNvPicPr>
          <p:nvPr/>
        </p:nvPicPr>
        <p:blipFill>
          <a:blip r:embed="rId4"/>
          <a:stretch>
            <a:fillRect/>
          </a:stretch>
        </p:blipFill>
        <p:spPr>
          <a:xfrm>
            <a:off x="11887200" y="2282972"/>
            <a:ext cx="3229602" cy="2807269"/>
          </a:xfrm>
          <a:prstGeom prst="rect">
            <a:avLst/>
          </a:prstGeom>
        </p:spPr>
      </p:pic>
      <p:sp>
        <p:nvSpPr>
          <p:cNvPr id="2" name="Title 1"/>
          <p:cNvSpPr>
            <a:spLocks noGrp="1"/>
          </p:cNvSpPr>
          <p:nvPr>
            <p:ph type="ctrTitle"/>
          </p:nvPr>
        </p:nvSpPr>
        <p:spPr>
          <a:xfrm>
            <a:off x="914400" y="342900"/>
            <a:ext cx="16387445" cy="1428115"/>
          </a:xfrm>
        </p:spPr>
        <p:style>
          <a:lnRef idx="2">
            <a:schemeClr val="dk1"/>
          </a:lnRef>
          <a:fillRef idx="1">
            <a:schemeClr val="lt1"/>
          </a:fillRef>
          <a:effectRef idx="0">
            <a:schemeClr val="dk1"/>
          </a:effectRef>
          <a:fontRef idx="minor">
            <a:schemeClr val="dk1"/>
          </a:fontRef>
        </p:style>
        <p:txBody>
          <a:bodyPr>
            <a:normAutofit/>
          </a:bodyPr>
          <a:lstStyle/>
          <a:p>
            <a:pPr algn="l"/>
            <a:r>
              <a:rPr lang="en-US" dirty="0" err="1"/>
              <a:t>Câu</a:t>
            </a:r>
            <a:r>
              <a:rPr lang="en-US" dirty="0"/>
              <a:t> 1:  </a:t>
            </a:r>
            <a:r>
              <a:rPr lang="en-US" dirty="0" err="1"/>
              <a:t>Đâu</a:t>
            </a:r>
            <a:r>
              <a:rPr lang="en-US" dirty="0"/>
              <a:t> </a:t>
            </a:r>
            <a:r>
              <a:rPr lang="en-US" dirty="0" err="1"/>
              <a:t>là</a:t>
            </a:r>
            <a:r>
              <a:rPr lang="en-US" dirty="0"/>
              <a:t> ESP32 DEVKIT V1?</a:t>
            </a:r>
            <a:endParaRPr lang="vi-VN" dirty="0"/>
          </a:p>
        </p:txBody>
      </p:sp>
      <p:grpSp>
        <p:nvGrpSpPr>
          <p:cNvPr id="7" name="Group 6"/>
          <p:cNvGrpSpPr/>
          <p:nvPr/>
        </p:nvGrpSpPr>
        <p:grpSpPr>
          <a:xfrm>
            <a:off x="992617" y="2404019"/>
            <a:ext cx="14838718" cy="7502596"/>
            <a:chOff x="-546067" y="605429"/>
            <a:chExt cx="14838718" cy="7502596"/>
          </a:xfrm>
        </p:grpSpPr>
        <p:pic>
          <p:nvPicPr>
            <p:cNvPr id="4" name="Picture 2" descr="Tìm hiểu về arduin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18372" y="5186523"/>
              <a:ext cx="3974279" cy="292150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46067" y="605429"/>
              <a:ext cx="545280" cy="769441"/>
            </a:xfrm>
            <a:prstGeom prst="rect">
              <a:avLst/>
            </a:prstGeom>
            <a:noFill/>
          </p:spPr>
          <p:txBody>
            <a:bodyPr wrap="square" rtlCol="0">
              <a:spAutoFit/>
            </a:bodyPr>
            <a:lstStyle/>
            <a:p>
              <a:r>
                <a:rPr lang="en-US" sz="4400" dirty="0"/>
                <a:t>A</a:t>
              </a:r>
            </a:p>
          </p:txBody>
        </p:sp>
      </p:grpSp>
      <p:sp>
        <p:nvSpPr>
          <p:cNvPr id="10" name="TextBox 9"/>
          <p:cNvSpPr txBox="1"/>
          <p:nvPr/>
        </p:nvSpPr>
        <p:spPr>
          <a:xfrm>
            <a:off x="902521" y="6203534"/>
            <a:ext cx="545280" cy="769441"/>
          </a:xfrm>
          <a:prstGeom prst="rect">
            <a:avLst/>
          </a:prstGeom>
          <a:noFill/>
        </p:spPr>
        <p:txBody>
          <a:bodyPr wrap="square" rtlCol="0">
            <a:spAutoFit/>
          </a:bodyPr>
          <a:lstStyle/>
          <a:p>
            <a:r>
              <a:rPr lang="en-US" sz="4400" dirty="0"/>
              <a:t>C</a:t>
            </a:r>
          </a:p>
        </p:txBody>
      </p:sp>
      <p:sp>
        <p:nvSpPr>
          <p:cNvPr id="11" name="TextBox 10"/>
          <p:cNvSpPr txBox="1"/>
          <p:nvPr/>
        </p:nvSpPr>
        <p:spPr>
          <a:xfrm>
            <a:off x="12711244" y="2019299"/>
            <a:ext cx="545280" cy="769441"/>
          </a:xfrm>
          <a:prstGeom prst="rect">
            <a:avLst/>
          </a:prstGeom>
          <a:noFill/>
        </p:spPr>
        <p:txBody>
          <a:bodyPr wrap="square" rtlCol="0">
            <a:spAutoFit/>
          </a:bodyPr>
          <a:lstStyle/>
          <a:p>
            <a:r>
              <a:rPr lang="en-US" sz="4400" dirty="0"/>
              <a:t>B</a:t>
            </a:r>
          </a:p>
        </p:txBody>
      </p:sp>
      <p:sp>
        <p:nvSpPr>
          <p:cNvPr id="12" name="TextBox 11"/>
          <p:cNvSpPr txBox="1"/>
          <p:nvPr/>
        </p:nvSpPr>
        <p:spPr>
          <a:xfrm>
            <a:off x="12039600" y="6203533"/>
            <a:ext cx="545280" cy="769441"/>
          </a:xfrm>
          <a:prstGeom prst="rect">
            <a:avLst/>
          </a:prstGeom>
          <a:noFill/>
        </p:spPr>
        <p:txBody>
          <a:bodyPr wrap="square" rtlCol="0">
            <a:spAutoFit/>
          </a:bodyPr>
          <a:lstStyle/>
          <a:p>
            <a:r>
              <a:rPr lang="en-US" sz="4400" dirty="0"/>
              <a:t>D</a:t>
            </a:r>
          </a:p>
        </p:txBody>
      </p:sp>
      <p:sp>
        <p:nvSpPr>
          <p:cNvPr id="14" name="Oval 13"/>
          <p:cNvSpPr/>
          <p:nvPr/>
        </p:nvSpPr>
        <p:spPr bwMode="auto">
          <a:xfrm flipH="1">
            <a:off x="12711244" y="2130886"/>
            <a:ext cx="505690" cy="584776"/>
          </a:xfrm>
          <a:prstGeom prst="ellipse">
            <a:avLst/>
          </a:prstGeom>
          <a:noFill/>
          <a:ln w="76200">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no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8150" y="307479"/>
            <a:ext cx="17373599" cy="13234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vi-VN" sz="4000" dirty="0"/>
              <a:t>Câu 2: </a:t>
            </a:r>
            <a:r>
              <a:rPr lang="en-US" sz="4000" dirty="0" err="1"/>
              <a:t>Cảm</a:t>
            </a:r>
            <a:r>
              <a:rPr lang="en-US" sz="4000" dirty="0"/>
              <a:t> </a:t>
            </a:r>
            <a:r>
              <a:rPr lang="en-US" sz="4000" dirty="0" err="1"/>
              <a:t>biến</a:t>
            </a:r>
            <a:r>
              <a:rPr lang="en-US" sz="4000" dirty="0"/>
              <a:t> </a:t>
            </a:r>
            <a:r>
              <a:rPr lang="en-US" sz="4000" dirty="0" err="1"/>
              <a:t>ngọn</a:t>
            </a:r>
            <a:r>
              <a:rPr lang="en-US" sz="4000" dirty="0"/>
              <a:t> </a:t>
            </a:r>
            <a:r>
              <a:rPr lang="en-US" sz="4000" dirty="0" err="1"/>
              <a:t>lửa</a:t>
            </a:r>
            <a:r>
              <a:rPr lang="en-US" sz="4000" dirty="0"/>
              <a:t> (Flame Sensor YG1006) </a:t>
            </a:r>
            <a:r>
              <a:rPr lang="en-US" sz="4000" dirty="0" err="1"/>
              <a:t>phát</a:t>
            </a:r>
            <a:r>
              <a:rPr lang="en-US" sz="4000" dirty="0"/>
              <a:t> </a:t>
            </a:r>
            <a:r>
              <a:rPr lang="en-US" sz="4000" dirty="0" err="1"/>
              <a:t>hiện</a:t>
            </a:r>
            <a:r>
              <a:rPr lang="en-US" sz="4000" dirty="0"/>
              <a:t> </a:t>
            </a:r>
            <a:r>
              <a:rPr lang="en-US" sz="4000" dirty="0" err="1"/>
              <a:t>bức</a:t>
            </a:r>
            <a:r>
              <a:rPr lang="en-US" sz="4000" dirty="0"/>
              <a:t> </a:t>
            </a:r>
            <a:r>
              <a:rPr lang="en-US" sz="4000" dirty="0" err="1"/>
              <a:t>xạ</a:t>
            </a:r>
            <a:r>
              <a:rPr lang="en-US" sz="4000" dirty="0"/>
              <a:t> </a:t>
            </a:r>
            <a:r>
              <a:rPr lang="en-US" sz="4000" dirty="0" err="1"/>
              <a:t>trong</a:t>
            </a:r>
            <a:r>
              <a:rPr lang="en-US" sz="4000" dirty="0"/>
              <a:t> </a:t>
            </a:r>
            <a:r>
              <a:rPr lang="en-US" sz="4000" dirty="0" err="1"/>
              <a:t>dải</a:t>
            </a:r>
            <a:r>
              <a:rPr lang="en-US" sz="4000" dirty="0"/>
              <a:t> </a:t>
            </a:r>
            <a:r>
              <a:rPr lang="en-US" sz="4000" dirty="0" err="1"/>
              <a:t>quang</a:t>
            </a:r>
            <a:r>
              <a:rPr lang="en-US" sz="4000" dirty="0"/>
              <a:t> </a:t>
            </a:r>
            <a:r>
              <a:rPr lang="en-US" sz="4000" dirty="0" err="1"/>
              <a:t>phổ</a:t>
            </a:r>
            <a:r>
              <a:rPr lang="en-US" sz="4000" dirty="0"/>
              <a:t> </a:t>
            </a:r>
            <a:r>
              <a:rPr lang="en-US" sz="4000" dirty="0" err="1"/>
              <a:t>hồng</a:t>
            </a:r>
            <a:r>
              <a:rPr lang="en-US" sz="4000" dirty="0"/>
              <a:t> </a:t>
            </a:r>
            <a:r>
              <a:rPr lang="en-US" sz="4000" dirty="0" err="1"/>
              <a:t>ngoại</a:t>
            </a:r>
            <a:r>
              <a:rPr lang="en-US" sz="4000" dirty="0"/>
              <a:t> </a:t>
            </a:r>
            <a:r>
              <a:rPr lang="en-US" sz="4000" dirty="0" err="1"/>
              <a:t>nào</a:t>
            </a:r>
            <a:r>
              <a:rPr lang="en-US" sz="4000" dirty="0"/>
              <a:t>?</a:t>
            </a:r>
            <a:endParaRPr lang="vi-VN" sz="4000" dirty="0"/>
          </a:p>
        </p:txBody>
      </p:sp>
      <p:sp>
        <p:nvSpPr>
          <p:cNvPr id="8" name="Rectangle 7"/>
          <p:cNvSpPr/>
          <p:nvPr/>
        </p:nvSpPr>
        <p:spPr>
          <a:xfrm>
            <a:off x="609600" y="2400300"/>
            <a:ext cx="5181600"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A. 100 nm – 380 nm (Tia </a:t>
            </a:r>
            <a:r>
              <a:rPr lang="en-US" sz="3200" dirty="0" err="1"/>
              <a:t>tử</a:t>
            </a:r>
            <a:r>
              <a:rPr lang="en-US" sz="3200" dirty="0"/>
              <a:t> </a:t>
            </a:r>
            <a:r>
              <a:rPr lang="en-US" sz="3200" dirty="0" err="1"/>
              <a:t>ngoại</a:t>
            </a:r>
            <a:r>
              <a:rPr lang="en-US" sz="3200" dirty="0"/>
              <a:t> UV)</a:t>
            </a:r>
            <a:endParaRPr lang="vi-VN" sz="3200" dirty="0"/>
          </a:p>
        </p:txBody>
      </p:sp>
      <p:sp>
        <p:nvSpPr>
          <p:cNvPr id="9" name="Rectangle 8"/>
          <p:cNvSpPr/>
          <p:nvPr/>
        </p:nvSpPr>
        <p:spPr>
          <a:xfrm>
            <a:off x="7237186" y="2443890"/>
            <a:ext cx="5181600"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B. . 760 nm – 1100 nm (Tia </a:t>
            </a:r>
            <a:r>
              <a:rPr lang="en-US" sz="3200" dirty="0" err="1"/>
              <a:t>hồng</a:t>
            </a:r>
            <a:r>
              <a:rPr lang="en-US" sz="3200" dirty="0"/>
              <a:t> </a:t>
            </a:r>
            <a:r>
              <a:rPr lang="en-US" sz="3200" dirty="0" err="1"/>
              <a:t>ngoại</a:t>
            </a:r>
            <a:r>
              <a:rPr lang="en-US" sz="3200" dirty="0"/>
              <a:t> </a:t>
            </a:r>
            <a:r>
              <a:rPr lang="en-US" sz="3200" dirty="0" err="1"/>
              <a:t>ngọn</a:t>
            </a:r>
            <a:r>
              <a:rPr lang="en-US" sz="3200" dirty="0"/>
              <a:t> </a:t>
            </a:r>
            <a:r>
              <a:rPr lang="en-US" sz="3200" dirty="0" err="1"/>
              <a:t>lửa</a:t>
            </a:r>
            <a:r>
              <a:rPr lang="en-US" sz="3200" dirty="0"/>
              <a:t>)</a:t>
            </a:r>
            <a:endParaRPr lang="vi-VN" sz="3200" dirty="0"/>
          </a:p>
        </p:txBody>
      </p:sp>
      <p:sp>
        <p:nvSpPr>
          <p:cNvPr id="10" name="Rectangle 9"/>
          <p:cNvSpPr/>
          <p:nvPr/>
        </p:nvSpPr>
        <p:spPr>
          <a:xfrm>
            <a:off x="457200" y="4610100"/>
            <a:ext cx="5181600"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C. 1500 nm – 2500 nm (Hồng </a:t>
            </a:r>
            <a:r>
              <a:rPr lang="en-US" sz="3200" dirty="0" err="1"/>
              <a:t>ngoại</a:t>
            </a:r>
            <a:r>
              <a:rPr lang="en-US" sz="3200" dirty="0"/>
              <a:t> xa)</a:t>
            </a:r>
            <a:endParaRPr lang="vi-VN" sz="3200" dirty="0"/>
          </a:p>
        </p:txBody>
      </p:sp>
      <p:sp>
        <p:nvSpPr>
          <p:cNvPr id="11" name="Rectangle 10"/>
          <p:cNvSpPr/>
          <p:nvPr/>
        </p:nvSpPr>
        <p:spPr>
          <a:xfrm>
            <a:off x="7237186" y="4641272"/>
            <a:ext cx="5181600"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D. </a:t>
            </a:r>
            <a:r>
              <a:rPr lang="en-US" sz="3200" dirty="0" err="1"/>
              <a:t>Sóng</a:t>
            </a:r>
            <a:r>
              <a:rPr lang="en-US" sz="3200" dirty="0"/>
              <a:t> </a:t>
            </a:r>
            <a:r>
              <a:rPr lang="en-US" sz="3200" dirty="0" err="1"/>
              <a:t>siêu</a:t>
            </a:r>
            <a:r>
              <a:rPr lang="en-US" sz="3200" dirty="0"/>
              <a:t> </a:t>
            </a:r>
            <a:r>
              <a:rPr lang="en-US" sz="3200" dirty="0" err="1"/>
              <a:t>âm</a:t>
            </a:r>
            <a:r>
              <a:rPr lang="en-US" sz="3200" dirty="0"/>
              <a:t> </a:t>
            </a:r>
            <a:r>
              <a:rPr lang="en-US" sz="3200" dirty="0" err="1"/>
              <a:t>tần</a:t>
            </a:r>
            <a:r>
              <a:rPr lang="en-US" sz="3200" dirty="0"/>
              <a:t> </a:t>
            </a:r>
            <a:r>
              <a:rPr lang="en-US" sz="3200" dirty="0" err="1"/>
              <a:t>số</a:t>
            </a:r>
            <a:r>
              <a:rPr lang="en-US" sz="3200" dirty="0"/>
              <a:t> 40 kHz</a:t>
            </a:r>
            <a:endParaRPr lang="vi-VN" sz="3200" dirty="0"/>
          </a:p>
        </p:txBody>
      </p:sp>
      <p:sp>
        <p:nvSpPr>
          <p:cNvPr id="13" name="Oval 12"/>
          <p:cNvSpPr/>
          <p:nvPr/>
        </p:nvSpPr>
        <p:spPr bwMode="auto">
          <a:xfrm flipH="1">
            <a:off x="7237186" y="2443890"/>
            <a:ext cx="505690" cy="584776"/>
          </a:xfrm>
          <a:prstGeom prst="ellipse">
            <a:avLst/>
          </a:prstGeom>
          <a:noFill/>
          <a:ln w="76200">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noFill/>
              <a:effectLst/>
              <a:latin typeface="Arial" panose="020B0604020202020204" pitchFamily="34" charset="0"/>
              <a:ea typeface="SimSun" panose="02010600030101010101" pitchFamily="2" charset="-122"/>
            </a:endParaRPr>
          </a:p>
        </p:txBody>
      </p:sp>
      <p:pic>
        <p:nvPicPr>
          <p:cNvPr id="2" name="Picture 1" descr="flame_sensor.jpg">
            <a:extLst>
              <a:ext uri="{FF2B5EF4-FFF2-40B4-BE49-F238E27FC236}">
                <a16:creationId xmlns:a16="http://schemas.microsoft.com/office/drawing/2014/main" id="{C3011DEB-AD7C-9905-8656-6B14773BF268}"/>
              </a:ext>
            </a:extLst>
          </p:cNvPr>
          <p:cNvPicPr>
            <a:picLocks noChangeAspect="1"/>
          </p:cNvPicPr>
          <p:nvPr/>
        </p:nvPicPr>
        <p:blipFill>
          <a:blip r:embed="rId2"/>
          <a:stretch>
            <a:fillRect/>
          </a:stretch>
        </p:blipFill>
        <p:spPr>
          <a:xfrm>
            <a:off x="6629400" y="6670287"/>
            <a:ext cx="5466520" cy="1676400"/>
          </a:xfrm>
          <a:prstGeom prst="rect">
            <a:avLst/>
          </a:prstGeom>
        </p:spPr>
      </p:pic>
      <p:pic>
        <p:nvPicPr>
          <p:cNvPr id="4" name="Picture 3">
            <a:extLst>
              <a:ext uri="{FF2B5EF4-FFF2-40B4-BE49-F238E27FC236}">
                <a16:creationId xmlns:a16="http://schemas.microsoft.com/office/drawing/2014/main" id="{3D203144-5229-17A7-BF22-AA6BF47D4782}"/>
              </a:ext>
            </a:extLst>
          </p:cNvPr>
          <p:cNvPicPr>
            <a:picLocks noChangeAspect="1"/>
          </p:cNvPicPr>
          <p:nvPr/>
        </p:nvPicPr>
        <p:blipFill>
          <a:blip r:embed="rId3"/>
          <a:stretch>
            <a:fillRect/>
          </a:stretch>
        </p:blipFill>
        <p:spPr>
          <a:xfrm>
            <a:off x="1524000" y="5905500"/>
            <a:ext cx="3810000" cy="3205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9100" y="319890"/>
            <a:ext cx="17373599" cy="13234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vi-VN" sz="4000" dirty="0"/>
              <a:t>Câu </a:t>
            </a:r>
            <a:r>
              <a:rPr lang="en-US" sz="4000" dirty="0"/>
              <a:t>3. </a:t>
            </a:r>
            <a:r>
              <a:rPr lang="vi-VN" sz="4000" dirty="0"/>
              <a:t>Trong hệ thống cảnh báo khẩn cấp, cơ cấu chấp hành còi báo động tại chỗ phải tuân thủ nguyên tắc nào?</a:t>
            </a:r>
          </a:p>
        </p:txBody>
      </p:sp>
      <p:sp>
        <p:nvSpPr>
          <p:cNvPr id="4" name="Rectangle 3"/>
          <p:cNvSpPr/>
          <p:nvPr/>
        </p:nvSpPr>
        <p:spPr>
          <a:xfrm>
            <a:off x="438150" y="2324100"/>
            <a:ext cx="518160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A. </a:t>
            </a:r>
            <a:r>
              <a:rPr lang="vi-VN" sz="3200" dirty="0"/>
              <a:t>Phải đợi máy chủ Cloud/Telegram xác nhận mới được phát chuông</a:t>
            </a:r>
          </a:p>
        </p:txBody>
      </p:sp>
      <p:sp>
        <p:nvSpPr>
          <p:cNvPr id="2" name="Rectangle 1"/>
          <p:cNvSpPr/>
          <p:nvPr/>
        </p:nvSpPr>
        <p:spPr>
          <a:xfrm>
            <a:off x="10591800" y="2324100"/>
            <a:ext cx="518160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B. </a:t>
            </a:r>
            <a:r>
              <a:rPr lang="vi-VN" sz="3200" dirty="0"/>
              <a:t>Chỉ phát âm thanh khi người dùng mở ứng dụng Telegram</a:t>
            </a:r>
          </a:p>
        </p:txBody>
      </p:sp>
      <p:sp>
        <p:nvSpPr>
          <p:cNvPr id="5" name="Rectangle 4"/>
          <p:cNvSpPr/>
          <p:nvPr/>
        </p:nvSpPr>
        <p:spPr>
          <a:xfrm>
            <a:off x="266700" y="4678372"/>
            <a:ext cx="535305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C. </a:t>
            </a:r>
            <a:r>
              <a:rPr lang="en-US" sz="3200" dirty="0" err="1"/>
              <a:t>Hoạt</a:t>
            </a:r>
            <a:r>
              <a:rPr lang="en-US" sz="3200" dirty="0"/>
              <a:t> </a:t>
            </a:r>
            <a:r>
              <a:rPr lang="en-US" sz="3200" dirty="0" err="1"/>
              <a:t>động</a:t>
            </a:r>
            <a:r>
              <a:rPr lang="en-US" sz="3200" dirty="0"/>
              <a:t> </a:t>
            </a:r>
            <a:r>
              <a:rPr lang="en-US" sz="3200" dirty="0" err="1"/>
              <a:t>độc</a:t>
            </a:r>
            <a:r>
              <a:rPr lang="en-US" sz="3200" dirty="0"/>
              <a:t> </a:t>
            </a:r>
            <a:r>
              <a:rPr lang="en-US" sz="3200" dirty="0" err="1"/>
              <a:t>lập</a:t>
            </a:r>
            <a:r>
              <a:rPr lang="en-US" sz="3200" dirty="0"/>
              <a:t> </a:t>
            </a:r>
            <a:r>
              <a:rPr lang="en-US" sz="3200" dirty="0" err="1"/>
              <a:t>tại</a:t>
            </a:r>
            <a:r>
              <a:rPr lang="en-US" sz="3200" dirty="0"/>
              <a:t> </a:t>
            </a:r>
            <a:r>
              <a:rPr lang="en-US" sz="3200" dirty="0" err="1"/>
              <a:t>chỗ</a:t>
            </a:r>
            <a:r>
              <a:rPr lang="en-US" sz="3200" dirty="0"/>
              <a:t> </a:t>
            </a:r>
            <a:r>
              <a:rPr lang="en-US" sz="3200" dirty="0" err="1"/>
              <a:t>ngay</a:t>
            </a:r>
            <a:r>
              <a:rPr lang="en-US" sz="3200" dirty="0"/>
              <a:t> </a:t>
            </a:r>
            <a:r>
              <a:rPr lang="en-US" sz="3200" dirty="0" err="1"/>
              <a:t>lập</a:t>
            </a:r>
            <a:r>
              <a:rPr lang="en-US" sz="3200" dirty="0"/>
              <a:t> </a:t>
            </a:r>
            <a:r>
              <a:rPr lang="en-US" sz="3200" dirty="0" err="1"/>
              <a:t>tức</a:t>
            </a:r>
            <a:r>
              <a:rPr lang="en-US" sz="3200" dirty="0"/>
              <a:t> (Local Autonomy), </a:t>
            </a:r>
            <a:r>
              <a:rPr lang="en-US" sz="3200" dirty="0" err="1"/>
              <a:t>không</a:t>
            </a:r>
            <a:r>
              <a:rPr lang="en-US" sz="3200" dirty="0"/>
              <a:t> </a:t>
            </a:r>
            <a:r>
              <a:rPr lang="en-US" sz="3200" dirty="0" err="1"/>
              <a:t>phụ</a:t>
            </a:r>
            <a:r>
              <a:rPr lang="en-US" sz="3200" dirty="0"/>
              <a:t> </a:t>
            </a:r>
            <a:r>
              <a:rPr lang="en-US" sz="3200" dirty="0" err="1"/>
              <a:t>thuộc</a:t>
            </a:r>
            <a:r>
              <a:rPr lang="en-US" sz="3200" dirty="0"/>
              <a:t> </a:t>
            </a:r>
            <a:r>
              <a:rPr lang="en-US" sz="3200" dirty="0" err="1"/>
              <a:t>vào</a:t>
            </a:r>
            <a:r>
              <a:rPr lang="en-US" sz="3200" dirty="0"/>
              <a:t> Internet</a:t>
            </a:r>
            <a:endParaRPr lang="vi-VN" sz="3200" dirty="0"/>
          </a:p>
        </p:txBody>
      </p:sp>
      <p:sp>
        <p:nvSpPr>
          <p:cNvPr id="6" name="Rectangle 5"/>
          <p:cNvSpPr/>
          <p:nvPr/>
        </p:nvSpPr>
        <p:spPr>
          <a:xfrm>
            <a:off x="10591800" y="4970759"/>
            <a:ext cx="5181600"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3200" dirty="0"/>
              <a:t>D. </a:t>
            </a:r>
            <a:r>
              <a:rPr lang="en-US" sz="3200" dirty="0" err="1"/>
              <a:t>Tự</a:t>
            </a:r>
            <a:r>
              <a:rPr lang="en-US" sz="3200" dirty="0"/>
              <a:t> </a:t>
            </a:r>
            <a:r>
              <a:rPr lang="en-US" sz="3200" dirty="0" err="1"/>
              <a:t>động</a:t>
            </a:r>
            <a:r>
              <a:rPr lang="en-US" sz="3200" dirty="0"/>
              <a:t> </a:t>
            </a:r>
            <a:r>
              <a:rPr lang="en-US" sz="3200" dirty="0" err="1"/>
              <a:t>tắt</a:t>
            </a:r>
            <a:r>
              <a:rPr lang="en-US" sz="3200" dirty="0"/>
              <a:t> </a:t>
            </a:r>
            <a:r>
              <a:rPr lang="en-US" sz="3200" dirty="0" err="1"/>
              <a:t>còi</a:t>
            </a:r>
            <a:r>
              <a:rPr lang="en-US" sz="3200" dirty="0"/>
              <a:t> </a:t>
            </a:r>
            <a:r>
              <a:rPr lang="en-US" sz="3200" dirty="0" err="1"/>
              <a:t>ngay</a:t>
            </a:r>
            <a:r>
              <a:rPr lang="en-US" sz="3200" dirty="0"/>
              <a:t> </a:t>
            </a:r>
            <a:r>
              <a:rPr lang="en-US" sz="3200" dirty="0" err="1"/>
              <a:t>khi</a:t>
            </a:r>
            <a:r>
              <a:rPr lang="en-US" sz="3200" dirty="0"/>
              <a:t> </a:t>
            </a:r>
            <a:r>
              <a:rPr lang="en-US" sz="3200" dirty="0" err="1"/>
              <a:t>thiết</a:t>
            </a:r>
            <a:r>
              <a:rPr lang="en-US" sz="3200" dirty="0"/>
              <a:t> </a:t>
            </a:r>
            <a:r>
              <a:rPr lang="en-US" sz="3200" dirty="0" err="1"/>
              <a:t>bị</a:t>
            </a:r>
            <a:r>
              <a:rPr lang="en-US" sz="3200" dirty="0"/>
              <a:t> </a:t>
            </a:r>
            <a:r>
              <a:rPr lang="en-US" sz="3200" dirty="0" err="1"/>
              <a:t>mất</a:t>
            </a:r>
            <a:r>
              <a:rPr lang="en-US" sz="3200" dirty="0"/>
              <a:t> </a:t>
            </a:r>
            <a:r>
              <a:rPr lang="en-US" sz="3200" dirty="0" err="1"/>
              <a:t>sóng</a:t>
            </a:r>
            <a:r>
              <a:rPr lang="en-US" sz="3200" dirty="0"/>
              <a:t> Wi-Fi</a:t>
            </a:r>
            <a:endParaRPr lang="vi-VN" sz="3200" dirty="0"/>
          </a:p>
        </p:txBody>
      </p:sp>
      <p:sp>
        <p:nvSpPr>
          <p:cNvPr id="7" name="Oval 6"/>
          <p:cNvSpPr/>
          <p:nvPr/>
        </p:nvSpPr>
        <p:spPr bwMode="auto">
          <a:xfrm flipH="1">
            <a:off x="259773" y="4678371"/>
            <a:ext cx="505690" cy="584776"/>
          </a:xfrm>
          <a:prstGeom prst="ellipse">
            <a:avLst/>
          </a:prstGeom>
          <a:noFill/>
          <a:ln w="76200">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vi-VN" sz="1800" b="0" i="0" u="none" strike="noStrike" cap="none" normalizeH="0" baseline="0">
              <a:ln>
                <a:noFill/>
              </a:ln>
              <a:noFill/>
              <a:effectLst/>
              <a:latin typeface="Arial" panose="020B0604020202020204" pitchFamily="34" charset="0"/>
              <a:ea typeface="SimSun" panose="02010600030101010101" pitchFamily="2" charset="-122"/>
            </a:endParaRPr>
          </a:p>
        </p:txBody>
      </p:sp>
      <p:pic>
        <p:nvPicPr>
          <p:cNvPr id="10" name="Picture 9">
            <a:extLst>
              <a:ext uri="{FF2B5EF4-FFF2-40B4-BE49-F238E27FC236}">
                <a16:creationId xmlns:a16="http://schemas.microsoft.com/office/drawing/2014/main" id="{103B97FE-D44A-3E63-4BE3-11BAFF604F7B}"/>
              </a:ext>
            </a:extLst>
          </p:cNvPr>
          <p:cNvPicPr>
            <a:picLocks noChangeAspect="1"/>
          </p:cNvPicPr>
          <p:nvPr/>
        </p:nvPicPr>
        <p:blipFill>
          <a:blip r:embed="rId2"/>
          <a:stretch>
            <a:fillRect/>
          </a:stretch>
        </p:blipFill>
        <p:spPr>
          <a:xfrm>
            <a:off x="6934200" y="3492763"/>
            <a:ext cx="2371216" cy="2371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66886" y="952500"/>
            <a:ext cx="17498818" cy="862274"/>
          </a:xfrm>
          <a:prstGeom prst="rect">
            <a:avLst/>
          </a:prstGeom>
        </p:spPr>
        <p:txBody>
          <a:bodyPr lIns="0" tIns="0" rIns="0" bIns="0" rtlCol="0" anchor="t">
            <a:prstTxWarp prst="textArchUp">
              <a:avLst/>
            </a:prstTxWarp>
            <a:spAutoFit/>
          </a:bodyPr>
          <a:lstStyle/>
          <a:p>
            <a:pPr algn="ctr">
              <a:lnSpc>
                <a:spcPts val="7075"/>
              </a:lnSpc>
            </a:pPr>
            <a:endParaRPr lang="en-US" sz="5000" dirty="0">
              <a:ln w="0"/>
              <a:effectLst>
                <a:outerShdw blurRad="38100" dist="19050" dir="2700000" algn="tl" rotWithShape="0">
                  <a:schemeClr val="dk1">
                    <a:alpha val="40000"/>
                  </a:schemeClr>
                </a:outerShdw>
              </a:effectLst>
              <a:latin typeface="Times New Roman" panose="02020603050405020304" pitchFamily="18" charset="0"/>
              <a:ea typeface="Montserrat Bold" panose="00000800000000000000"/>
              <a:cs typeface="Times New Roman" panose="02020603050405020304" pitchFamily="18" charset="0"/>
              <a:sym typeface="Montserrat Bold" panose="00000800000000000000"/>
            </a:endParaRPr>
          </a:p>
        </p:txBody>
      </p:sp>
      <p:sp>
        <p:nvSpPr>
          <p:cNvPr id="6" name="TextBox 5">
            <a:extLst>
              <a:ext uri="{FF2B5EF4-FFF2-40B4-BE49-F238E27FC236}">
                <a16:creationId xmlns:a16="http://schemas.microsoft.com/office/drawing/2014/main" id="{C54F3FE8-B890-F05E-EC2A-662F76DB1F8D}"/>
              </a:ext>
            </a:extLst>
          </p:cNvPr>
          <p:cNvSpPr txBox="1"/>
          <p:nvPr/>
        </p:nvSpPr>
        <p:spPr>
          <a:xfrm>
            <a:off x="0" y="1409700"/>
            <a:ext cx="18288000" cy="3518912"/>
          </a:xfrm>
          <a:prstGeom prst="rect">
            <a:avLst/>
          </a:prstGeom>
          <a:noFill/>
        </p:spPr>
        <p:txBody>
          <a:bodyPr wrap="square" rtlCol="0">
            <a:spAutoFit/>
          </a:bodyPr>
          <a:lstStyle/>
          <a:p>
            <a:pPr algn="ctr">
              <a:spcAft>
                <a:spcPts val="1200"/>
              </a:spcAft>
              <a:defRPr sz="2400" b="1">
                <a:solidFill>
                  <a:srgbClr val="38BDF8"/>
                </a:solidFill>
                <a:latin typeface="Space Grotesk"/>
              </a:defRPr>
            </a:pPr>
            <a:r>
              <a:rPr lang="vi-VN" sz="9600" dirty="0"/>
              <a:t>XIN CHÂN THÀNH CẢM ƠN!</a:t>
            </a:r>
          </a:p>
          <a:p>
            <a:pPr algn="ctr">
              <a:spcAft>
                <a:spcPts val="1200"/>
              </a:spcAft>
              <a:defRPr sz="1500" b="1">
                <a:solidFill>
                  <a:srgbClr val="F8FAFC"/>
                </a:solidFill>
                <a:latin typeface="Inter"/>
              </a:defRPr>
            </a:pPr>
            <a:r>
              <a:rPr lang="vi-VN" sz="3000" dirty="0">
                <a:solidFill>
                  <a:schemeClr val="tx1">
                    <a:lumMod val="75000"/>
                    <a:lumOff val="25000"/>
                  </a:schemeClr>
                </a:solidFill>
              </a:rPr>
              <a:t>Thầy</a:t>
            </a:r>
            <a:r>
              <a:rPr lang="en-US" sz="3000" dirty="0">
                <a:solidFill>
                  <a:schemeClr val="tx1">
                    <a:lumMod val="75000"/>
                    <a:lumOff val="25000"/>
                  </a:schemeClr>
                </a:solidFill>
              </a:rPr>
              <a:t> </a:t>
            </a:r>
            <a:r>
              <a:rPr lang="en-US" sz="3000" dirty="0" err="1">
                <a:solidFill>
                  <a:schemeClr val="tx1">
                    <a:lumMod val="75000"/>
                    <a:lumOff val="25000"/>
                  </a:schemeClr>
                </a:solidFill>
              </a:rPr>
              <a:t>và</a:t>
            </a:r>
            <a:r>
              <a:rPr lang="vi-VN" sz="3000" dirty="0">
                <a:solidFill>
                  <a:schemeClr val="tx1">
                    <a:lumMod val="75000"/>
                    <a:lumOff val="25000"/>
                  </a:schemeClr>
                </a:solidFill>
              </a:rPr>
              <a:t> các bạn sinh viên đã chú ý theo dõi và lắng nghe bài báo cáo của Nhóm </a:t>
            </a:r>
            <a:r>
              <a:rPr lang="en-US" sz="3000" dirty="0">
                <a:solidFill>
                  <a:schemeClr val="tx1">
                    <a:lumMod val="75000"/>
                    <a:lumOff val="25000"/>
                  </a:schemeClr>
                </a:solidFill>
              </a:rPr>
              <a:t>2</a:t>
            </a:r>
            <a:r>
              <a:rPr lang="vi-VN" sz="3000" dirty="0">
                <a:solidFill>
                  <a:schemeClr val="tx1">
                    <a:lumMod val="75000"/>
                    <a:lumOff val="25000"/>
                  </a:schemeClr>
                </a:solidFill>
              </a:rPr>
              <a:t>!</a:t>
            </a:r>
            <a:endParaRPr lang="en-US" sz="3000" dirty="0">
              <a:solidFill>
                <a:schemeClr val="tx1">
                  <a:lumMod val="75000"/>
                  <a:lumOff val="25000"/>
                </a:schemeClr>
              </a:solidFill>
            </a:endParaRPr>
          </a:p>
          <a:p>
            <a:pPr algn="ctr">
              <a:spcAft>
                <a:spcPts val="1600"/>
              </a:spcAft>
              <a:defRPr sz="1450">
                <a:solidFill>
                  <a:srgbClr val="94A3B8"/>
                </a:solidFill>
                <a:latin typeface="Inter"/>
              </a:defRPr>
            </a:pPr>
            <a:endParaRPr lang="en-US" sz="1600" dirty="0">
              <a:solidFill>
                <a:schemeClr val="tx1">
                  <a:lumMod val="75000"/>
                  <a:lumOff val="25000"/>
                </a:schemeClr>
              </a:solidFill>
            </a:endParaRPr>
          </a:p>
          <a:p>
            <a:pPr algn="ctr">
              <a:spcAft>
                <a:spcPts val="1600"/>
              </a:spcAft>
              <a:defRPr sz="1450">
                <a:solidFill>
                  <a:srgbClr val="94A3B8"/>
                </a:solidFill>
                <a:latin typeface="Inter"/>
              </a:defRPr>
            </a:pPr>
            <a:endParaRPr lang="vi-VN" sz="1600" dirty="0">
              <a:solidFill>
                <a:schemeClr val="tx1">
                  <a:lumMod val="75000"/>
                  <a:lumOff val="25000"/>
                </a:schemeClr>
              </a:solidFill>
            </a:endParaRPr>
          </a:p>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6459200" cy="1188720"/>
          </a:xfrm>
          <a:prstGeom prst="rect">
            <a:avLst/>
          </a:prstGeom>
          <a:noFill/>
        </p:spPr>
        <p:txBody>
          <a:bodyPr wrap="square">
            <a:spAutoFit/>
          </a:bodyPr>
          <a:lstStyle/>
          <a:p>
            <a:pPr>
              <a:spcAft>
                <a:spcPts val="400"/>
              </a:spcAft>
              <a:defRPr sz="1600" b="1">
                <a:solidFill>
                  <a:srgbClr val="005691"/>
                </a:solidFill>
                <a:latin typeface="Montserrat"/>
              </a:defRPr>
            </a:pPr>
            <a:r>
              <a:t>MỞ RỘNG ĐỀ TÀI - HỆ THỐNG CẢNH BÁO THIÊN TAI IOT</a:t>
            </a:r>
          </a:p>
          <a:p>
            <a:pPr>
              <a:defRPr sz="2800" b="1">
                <a:solidFill>
                  <a:srgbClr val="1E3C6E"/>
                </a:solidFill>
                <a:latin typeface="Montserrat"/>
              </a:defRPr>
            </a:pPr>
            <a:r>
              <a:t>TỔNG QUAN KIẾN TRÚC WORKFLOW GỬI CẢNH BÁO TELEGRAM</a:t>
            </a:r>
          </a:p>
        </p:txBody>
      </p:sp>
      <p:sp>
        <p:nvSpPr>
          <p:cNvPr id="3" name="Rectangle 2"/>
          <p:cNvSpPr/>
          <p:nvPr/>
        </p:nvSpPr>
        <p:spPr>
          <a:xfrm>
            <a:off x="914400" y="1783080"/>
            <a:ext cx="16459200" cy="36576"/>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1. KIẾN TRÚC 4 TẦNG &amp; LUỒNG TÍN HIỆU ĐẦU CUỐI (E2E)</a:t>
            </a:r>
          </a:p>
          <a:p>
            <a:pPr>
              <a:spcAft>
                <a:spcPts val="1200"/>
              </a:spcAft>
            </a:pPr>
            <a:r>
              <a:rPr sz="1750" b="1">
                <a:solidFill>
                  <a:srgbClr val="1E3C6E"/>
                </a:solidFill>
                <a:latin typeface="Montserrat"/>
              </a:rPr>
              <a:t>● Tầng Thiết bị Biên (ESP32): </a:t>
            </a:r>
            <a:r>
              <a:rPr sz="1750" b="0">
                <a:solidFill>
                  <a:srgbClr val="283241"/>
                </a:solidFill>
                <a:latin typeface="Montserrat"/>
              </a:rPr>
              <a:t>Quét cảm biến MPU-6050 (rung chấn), Flame AO (quang trở lửa), DHT11 (nhiệt độ). Kích hoạt còi/LED 10Hz tại chỗ tức thì khi chạm ngưỡng.</a:t>
            </a:r>
          </a:p>
          <a:p>
            <a:pPr>
              <a:spcAft>
                <a:spcPts val="1200"/>
              </a:spcAft>
            </a:pPr>
            <a:r>
              <a:rPr sz="1750" b="1">
                <a:solidFill>
                  <a:srgbClr val="1E3C6E"/>
                </a:solidFill>
                <a:latin typeface="Montserrat"/>
              </a:rPr>
              <a:t>● Tầng Truyền dẫn Mạng: </a:t>
            </a:r>
            <a:r>
              <a:rPr sz="1750" b="0">
                <a:solidFill>
                  <a:srgbClr val="283241"/>
                </a:solidFill>
                <a:latin typeface="Montserrat"/>
              </a:rPr>
              <a:t>Đóng gói JSON kèm Bearer Token bảo mật, truyền qua Wi-Fi 2.4GHz với giao thức HTTP POST đến cổng 80 của VPS 103.178.235.184.</a:t>
            </a:r>
          </a:p>
          <a:p>
            <a:pPr>
              <a:spcAft>
                <a:spcPts val="1200"/>
              </a:spcAft>
            </a:pPr>
            <a:r>
              <a:rPr sz="1750" b="1">
                <a:solidFill>
                  <a:srgbClr val="1E3C6E"/>
                </a:solidFill>
                <a:latin typeface="Montserrat"/>
              </a:rPr>
              <a:t>● Tầng Máy chủ Đám mây (VPS): </a:t>
            </a:r>
            <a:r>
              <a:rPr sz="1750" b="0">
                <a:solidFill>
                  <a:srgbClr val="283241"/>
                </a:solidFill>
                <a:latin typeface="Montserrat"/>
              </a:rPr>
              <a:t>FastAPI tiếp nhận, xác thực Token, ghi cơ sở dữ liệu SQLite telemetry, lọc chống bão tin (Cooldown) và đẩy vào hàng đợi alert_outbox.</a:t>
            </a:r>
          </a:p>
          <a:p>
            <a:pPr>
              <a:spcAft>
                <a:spcPts val="1200"/>
              </a:spcAft>
            </a:pPr>
            <a:r>
              <a:rPr sz="1750" b="1">
                <a:solidFill>
                  <a:srgbClr val="1E3C6E"/>
                </a:solidFill>
                <a:latin typeface="Montserrat"/>
              </a:rPr>
              <a:t>● Tầng Phân phối Tin nhắn: </a:t>
            </a:r>
            <a:r>
              <a:rPr sz="1750" b="0">
                <a:solidFill>
                  <a:srgbClr val="283241"/>
                </a:solidFill>
                <a:latin typeface="Montserrat"/>
              </a:rPr>
              <a:t>Tiến trình Worker quét hàng đợi ngầm, gọi Telegram Bot API gửi thông báo đẩy (Push Notification) tức thời đến smartphone người dùng.</a:t>
            </a:r>
          </a:p>
        </p:txBody>
      </p:sp>
      <p:sp>
        <p:nvSpPr>
          <p:cNvPr id="6" name="Rounded Rectangle 5"/>
          <p:cNvSpPr/>
          <p:nvPr/>
        </p:nvSpPr>
        <p:spPr>
          <a:xfrm>
            <a:off x="932688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2. GIÁ TRỊ KỸ THUẬT &amp; ƯU THẾ VƯỢT TRỘI</a:t>
            </a:r>
          </a:p>
          <a:p>
            <a:pPr>
              <a:spcAft>
                <a:spcPts val="1200"/>
              </a:spcAft>
            </a:pPr>
            <a:r>
              <a:rPr sz="1750" b="1">
                <a:solidFill>
                  <a:srgbClr val="1E3C6E"/>
                </a:solidFill>
                <a:latin typeface="Montserrat"/>
              </a:rPr>
              <a:t>● Khắc phục giới hạn còi tại chỗ: </a:t>
            </a:r>
            <a:r>
              <a:rPr sz="1750" b="0">
                <a:solidFill>
                  <a:srgbClr val="283241"/>
                </a:solidFill>
                <a:latin typeface="Montserrat"/>
              </a:rPr>
              <a:t>Người dùng nhận cảnh báo tức thời ngay cả khi vắng nhà, đi công tác xa hoặc đang ngủ say.</a:t>
            </a:r>
          </a:p>
          <a:p>
            <a:pPr>
              <a:spcAft>
                <a:spcPts val="1200"/>
              </a:spcAft>
            </a:pPr>
            <a:r>
              <a:rPr sz="1750" b="1">
                <a:solidFill>
                  <a:srgbClr val="1E3C6E"/>
                </a:solidFill>
                <a:latin typeface="Montserrat"/>
              </a:rPr>
              <a:t>● Độ trễ toàn trình cực thấp (0.8s - 1.5s): </a:t>
            </a:r>
            <a:r>
              <a:rPr sz="1750" b="0">
                <a:solidFill>
                  <a:srgbClr val="283241"/>
                </a:solidFill>
                <a:latin typeface="Montserrat"/>
              </a:rPr>
              <a:t>Từ lúc cảm biến rung lắc/bắt lửa đến khi chuông điện thoại reo chỉ mất khoảng 1 giây.</a:t>
            </a:r>
          </a:p>
          <a:p>
            <a:pPr>
              <a:spcAft>
                <a:spcPts val="1200"/>
              </a:spcAft>
            </a:pPr>
            <a:r>
              <a:rPr sz="1750" b="1">
                <a:solidFill>
                  <a:srgbClr val="1E3C6E"/>
                </a:solidFill>
                <a:latin typeface="Montserrat"/>
              </a:rPr>
              <a:t>● Tính độc lập &amp; An toàn sinh mạng: </a:t>
            </a:r>
            <a:r>
              <a:rPr sz="1750" b="0">
                <a:solidFill>
                  <a:srgbClr val="283241"/>
                </a:solidFill>
                <a:latin typeface="Montserrat"/>
              </a:rPr>
              <a:t>Nếu mất kết nối Internet, còi và đèn tại chỗ vẫn hú 10Hz bình thường, bảo vệ an toàn 100%.</a:t>
            </a:r>
          </a:p>
          <a:p>
            <a:pPr>
              <a:spcAft>
                <a:spcPts val="1200"/>
              </a:spcAft>
            </a:pPr>
            <a:r>
              <a:rPr sz="1750" b="1">
                <a:solidFill>
                  <a:srgbClr val="1E3C6E"/>
                </a:solidFill>
                <a:latin typeface="Montserrat"/>
              </a:rPr>
              <a:t>● Đa nền tảng, không cần cài App phụ: </a:t>
            </a:r>
            <a:r>
              <a:rPr sz="1750" b="0">
                <a:solidFill>
                  <a:srgbClr val="283241"/>
                </a:solidFill>
                <a:latin typeface="Montserrat"/>
              </a:rPr>
              <a:t>Nhận thông báo trực tiếp qua ứng dụng Telegram trên iOS, Android, Windows, macOS và Smartwatch.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6459200" cy="1188720"/>
          </a:xfrm>
          <a:prstGeom prst="rect">
            <a:avLst/>
          </a:prstGeom>
          <a:noFill/>
        </p:spPr>
        <p:txBody>
          <a:bodyPr wrap="square">
            <a:spAutoFit/>
          </a:bodyPr>
          <a:lstStyle/>
          <a:p>
            <a:pPr>
              <a:spcAft>
                <a:spcPts val="400"/>
              </a:spcAft>
              <a:defRPr sz="1600" b="1">
                <a:solidFill>
                  <a:srgbClr val="005691"/>
                </a:solidFill>
                <a:latin typeface="Montserrat"/>
              </a:defRPr>
            </a:pPr>
            <a:r>
              <a:t>MỞ RỘNG ĐỀ TÀI - TẦNG PHẦN CỨNG &amp; XỬ LÝ BIÊN (EDGE LAYER)</a:t>
            </a:r>
          </a:p>
          <a:p>
            <a:pPr>
              <a:defRPr sz="2800" b="1">
                <a:solidFill>
                  <a:srgbClr val="1E3C6E"/>
                </a:solidFill>
                <a:latin typeface="Montserrat"/>
              </a:defRPr>
            </a:pPr>
            <a:r>
              <a:t>TẦNG BIÊN ESP32: CƠ CHẾ ĐA NHÂN FREERTOS &amp; BÁO ĐỘNG TỨC THÌ</a:t>
            </a:r>
          </a:p>
        </p:txBody>
      </p:sp>
      <p:sp>
        <p:nvSpPr>
          <p:cNvPr id="3" name="Rectangle 2"/>
          <p:cNvSpPr/>
          <p:nvPr/>
        </p:nvSpPr>
        <p:spPr>
          <a:xfrm>
            <a:off x="914400" y="1783080"/>
            <a:ext cx="16459200" cy="36576"/>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1. ĐỘT PHÁ ĐA NHÂN (DUAL-CORE) - LOẠI BỎ ĐỘ TRỄ MẠNG</a:t>
            </a:r>
          </a:p>
          <a:p>
            <a:pPr>
              <a:spcAft>
                <a:spcPts val="1200"/>
              </a:spcAft>
            </a:pPr>
            <a:r>
              <a:rPr sz="1750" b="1">
                <a:solidFill>
                  <a:srgbClr val="1E3C6E"/>
                </a:solidFill>
                <a:latin typeface="Montserrat"/>
              </a:rPr>
              <a:t>● Vấn đề nghẽn mạng ở thiết kế cũ: </a:t>
            </a:r>
            <a:r>
              <a:rPr sz="1750" b="0">
                <a:solidFill>
                  <a:srgbClr val="283241"/>
                </a:solidFill>
                <a:latin typeface="Montserrat"/>
              </a:rPr>
              <a:t>Hàm gửi HTTPS/SSL đến Telegram mất 2 - 4 giây chặn luồng (blocking) khiến còi bị 'câm' hoặc đơ nhịp khi có động đất.</a:t>
            </a:r>
          </a:p>
          <a:p>
            <a:pPr>
              <a:spcAft>
                <a:spcPts val="1200"/>
              </a:spcAft>
            </a:pPr>
            <a:r>
              <a:rPr sz="1750" b="1">
                <a:solidFill>
                  <a:srgbClr val="1E3C6E"/>
                </a:solidFill>
                <a:latin typeface="Montserrat"/>
              </a:rPr>
              <a:t>● Phân bổ tác vụ trên Core 1 (Real-time): </a:t>
            </a:r>
            <a:r>
              <a:rPr sz="1750" b="0">
                <a:solidFill>
                  <a:srgbClr val="283241"/>
                </a:solidFill>
                <a:latin typeface="Montserrat"/>
              </a:rPr>
              <a:t>Quét cảm biến mỗi 50ms. Khi phát hiện rung chấn &gt;0.5g hoặc lửa -&gt; Kích hoạt Còi &amp; LED 10Hz NGAY LẬP TỨC (0ms).</a:t>
            </a:r>
          </a:p>
          <a:p>
            <a:pPr>
              <a:spcAft>
                <a:spcPts val="1200"/>
              </a:spcAft>
            </a:pPr>
            <a:r>
              <a:rPr sz="1750" b="1">
                <a:solidFill>
                  <a:srgbClr val="1E3C6E"/>
                </a:solidFill>
                <a:latin typeface="Montserrat"/>
              </a:rPr>
              <a:t>● Tác vụ mạng ngầm trên Core 0 (NetWorker): </a:t>
            </a:r>
            <a:r>
              <a:rPr sz="1750" b="0">
                <a:solidFill>
                  <a:srgbClr val="283241"/>
                </a:solidFill>
                <a:latin typeface="Montserrat"/>
              </a:rPr>
              <a:t>Âm thầm xử lý SSL và đẩy dữ liệu lên Cloud -&gt; Còi tại Core 1 hú dồn dập 10Hz mượt mà, không gián đoạn.</a:t>
            </a:r>
          </a:p>
          <a:p>
            <a:pPr>
              <a:spcAft>
                <a:spcPts val="1200"/>
              </a:spcAft>
            </a:pPr>
            <a:r>
              <a:rPr sz="1750" b="1">
                <a:solidFill>
                  <a:srgbClr val="1E3C6E"/>
                </a:solidFill>
                <a:latin typeface="Montserrat"/>
              </a:rPr>
              <a:t>● Tối ưu chu kỳ đọc DHT11 (1.5s): </a:t>
            </a:r>
            <a:r>
              <a:rPr sz="1750" b="0">
                <a:solidFill>
                  <a:srgbClr val="283241"/>
                </a:solidFill>
                <a:latin typeface="Montserrat"/>
              </a:rPr>
              <a:t>Tránh lỗi tràn bộ đệm đọc I2C và cảm biến nhiệt, bảo đảm độ ổn định cho vòng lặp điều khiển.</a:t>
            </a:r>
          </a:p>
        </p:txBody>
      </p:sp>
      <p:sp>
        <p:nvSpPr>
          <p:cNvPr id="6" name="Rounded Rectangle 5"/>
          <p:cNvSpPr/>
          <p:nvPr/>
        </p:nvSpPr>
        <p:spPr>
          <a:xfrm>
            <a:off x="932688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2. PHÁT HIỆN CẢM BIẾN OFFLINE &amp; ĐÓNG GÓI GÓI TIN</a:t>
            </a:r>
          </a:p>
          <a:p>
            <a:pPr>
              <a:spcAft>
                <a:spcPts val="1200"/>
              </a:spcAft>
            </a:pPr>
            <a:r>
              <a:rPr sz="1750" b="1">
                <a:solidFill>
                  <a:srgbClr val="1E3C6E"/>
                </a:solidFill>
                <a:latin typeface="Montserrat"/>
              </a:rPr>
              <a:t>● Giám sát bus I2C thời gian thực: </a:t>
            </a:r>
            <a:r>
              <a:rPr sz="1750" b="0">
                <a:solidFill>
                  <a:srgbClr val="283241"/>
                </a:solidFill>
                <a:latin typeface="Montserrat"/>
              </a:rPr>
              <a:t>Hàm isAccelOnline() kiểm tra đường truyền SDA (21) / SCL (22) liên tục mỗi chu kỳ.</a:t>
            </a:r>
          </a:p>
          <a:p>
            <a:pPr>
              <a:spcAft>
                <a:spcPts val="1200"/>
              </a:spcAft>
            </a:pPr>
            <a:r>
              <a:rPr sz="1750" b="1">
                <a:solidFill>
                  <a:srgbClr val="1E3C6E"/>
                </a:solidFill>
                <a:latin typeface="Montserrat"/>
              </a:rPr>
              <a:t>● Báo động sự cố tuột dây tức thì: </a:t>
            </a:r>
            <a:r>
              <a:rPr sz="1750" b="0">
                <a:solidFill>
                  <a:srgbClr val="283241"/>
                </a:solidFill>
                <a:latin typeface="Montserrat"/>
              </a:rPr>
              <a:t>Nếu MPU-6050 bị lỏng dây hoặc Offline -&gt; Còi hú 10Hz khẩn cấp tại chỗ, LCD in 'LOI PHAN CUNG! CAM BIEN OFFLINE'.</a:t>
            </a:r>
          </a:p>
          <a:p>
            <a:pPr>
              <a:spcAft>
                <a:spcPts val="1200"/>
              </a:spcAft>
            </a:pPr>
            <a:r>
              <a:rPr sz="1750" b="1">
                <a:solidFill>
                  <a:srgbClr val="1E3C6E"/>
                </a:solidFill>
                <a:latin typeface="Montserrat"/>
              </a:rPr>
              <a:t>● Gói tin JSON chuẩn hóa công nghiệp: </a:t>
            </a:r>
            <a:r>
              <a:rPr sz="1750" b="0">
                <a:solidFill>
                  <a:srgbClr val="283241"/>
                </a:solidFill>
                <a:latin typeface="Montserrat"/>
              </a:rPr>
              <a:t>Đóng gói device_id, chuỗi thứ tự seq, gia tốc vibration_g, chỉ số lửa flame_raw, nhiệt độ temperature_c.</a:t>
            </a:r>
          </a:p>
          <a:p>
            <a:pPr>
              <a:spcAft>
                <a:spcPts val="1200"/>
              </a:spcAft>
            </a:pPr>
            <a:r>
              <a:rPr sz="1750" b="1">
                <a:solidFill>
                  <a:srgbClr val="1E3C6E"/>
                </a:solidFill>
                <a:latin typeface="Montserrat"/>
              </a:rPr>
              <a:t>● Xác thực Bearer Token: </a:t>
            </a:r>
            <a:r>
              <a:rPr sz="1750" b="0">
                <a:solidFill>
                  <a:srgbClr val="283241"/>
                </a:solidFill>
                <a:latin typeface="Montserrat"/>
              </a:rPr>
              <a:t>Gắn mã định danh bí mật trong HTTP Header để máy chủ VPS phân quyền và từ chối các thiết bị lạ.</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6459200" cy="1188720"/>
          </a:xfrm>
          <a:prstGeom prst="rect">
            <a:avLst/>
          </a:prstGeom>
          <a:noFill/>
        </p:spPr>
        <p:txBody>
          <a:bodyPr wrap="square">
            <a:spAutoFit/>
          </a:bodyPr>
          <a:lstStyle/>
          <a:p>
            <a:pPr>
              <a:spcAft>
                <a:spcPts val="400"/>
              </a:spcAft>
              <a:defRPr sz="1600" b="1">
                <a:solidFill>
                  <a:srgbClr val="005691"/>
                </a:solidFill>
                <a:latin typeface="Montserrat"/>
              </a:defRPr>
            </a:pPr>
            <a:r>
              <a:t>MỞ RỘNG ĐỀ TÀI - TẦNG DỊCH VỤ ĐÁM MÂY (BACKEND CLOUD)</a:t>
            </a:r>
          </a:p>
          <a:p>
            <a:pPr>
              <a:defRPr sz="2800" b="1">
                <a:solidFill>
                  <a:srgbClr val="1E3C6E"/>
                </a:solidFill>
                <a:latin typeface="Montserrat"/>
              </a:defRPr>
            </a:pPr>
            <a:r>
              <a:t>TẦNG MÁY CHỦ VPS: TIẾP NHẬN, XÁC THỰC &amp; THUẬT TOÁN COOLDOWN</a:t>
            </a:r>
          </a:p>
        </p:txBody>
      </p:sp>
      <p:sp>
        <p:nvSpPr>
          <p:cNvPr id="3" name="Rectangle 2"/>
          <p:cNvSpPr/>
          <p:nvPr/>
        </p:nvSpPr>
        <p:spPr>
          <a:xfrm>
            <a:off x="914400" y="1783080"/>
            <a:ext cx="16459200" cy="36576"/>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1. DỊCH VỤ FASTAPI BACKEND &amp; BẢO MẬT XÁC THỰC</a:t>
            </a:r>
          </a:p>
          <a:p>
            <a:pPr>
              <a:spcAft>
                <a:spcPts val="1200"/>
              </a:spcAft>
            </a:pPr>
            <a:r>
              <a:rPr sz="1750" b="1">
                <a:solidFill>
                  <a:srgbClr val="1E3C6E"/>
                </a:solidFill>
                <a:latin typeface="Montserrat"/>
              </a:rPr>
              <a:t>● Kiến trúc Microservices chạy trên VPS: </a:t>
            </a:r>
            <a:r>
              <a:rPr sz="1750" b="0">
                <a:solidFill>
                  <a:srgbClr val="283241"/>
                </a:solidFill>
                <a:latin typeface="Montserrat"/>
              </a:rPr>
              <a:t>Vận hành trên Ubuntu Server độc lập (103.178.235.184:80), quản lý dịch vụ tự phục hồi qua Linux Systemd.</a:t>
            </a:r>
          </a:p>
          <a:p>
            <a:pPr>
              <a:spcAft>
                <a:spcPts val="1200"/>
              </a:spcAft>
            </a:pPr>
            <a:r>
              <a:rPr sz="1750" b="1">
                <a:solidFill>
                  <a:srgbClr val="1E3C6E"/>
                </a:solidFill>
                <a:latin typeface="Montserrat"/>
              </a:rPr>
              <a:t>● Kiểm thực Token bảo mật (Auth Check): </a:t>
            </a:r>
            <a:r>
              <a:rPr sz="1750" b="0">
                <a:solidFill>
                  <a:srgbClr val="283241"/>
                </a:solidFill>
                <a:latin typeface="Montserrat"/>
              </a:rPr>
              <a:t>Mọi gói tin gửi lên đều được so khớp với danh bạ device_credentials.json, từ chối ngay 401 Unauthorized nếu sai lệch.</a:t>
            </a:r>
          </a:p>
          <a:p>
            <a:pPr>
              <a:spcAft>
                <a:spcPts val="1200"/>
              </a:spcAft>
            </a:pPr>
            <a:r>
              <a:rPr sz="1750" b="1">
                <a:solidFill>
                  <a:srgbClr val="1E3C6E"/>
                </a:solidFill>
                <a:latin typeface="Montserrat"/>
              </a:rPr>
              <a:t>● Lưu trữ cơ sở dữ liệu SQLite toàn vẹn: </a:t>
            </a:r>
            <a:r>
              <a:rPr sz="1750" b="0">
                <a:solidFill>
                  <a:srgbClr val="283241"/>
                </a:solidFill>
                <a:latin typeface="Montserrat"/>
              </a:rPr>
              <a:t>Lưu lịch sử chỉ số cảm biến vào bảng telemetry với tem thời gian UTC phục vụ trích xuất nhật ký và vẽ đồ thị.</a:t>
            </a:r>
          </a:p>
          <a:p>
            <a:pPr>
              <a:spcAft>
                <a:spcPts val="1200"/>
              </a:spcAft>
            </a:pPr>
            <a:r>
              <a:rPr sz="1750" b="1">
                <a:solidFill>
                  <a:srgbClr val="1E3C6E"/>
                </a:solidFill>
                <a:latin typeface="Montserrat"/>
              </a:rPr>
              <a:t>● Phản hồi siêu tốc (Non-blocking): </a:t>
            </a:r>
            <a:r>
              <a:rPr sz="1750" b="0">
                <a:solidFill>
                  <a:srgbClr val="283241"/>
                </a:solidFill>
                <a:latin typeface="Montserrat"/>
              </a:rPr>
              <a:t>FastAPI tiếp nhận và trả mã 200 OK cho ESP32 trong vòng 15ms để giải phóng tài nguyên vi điều khiển.</a:t>
            </a:r>
          </a:p>
        </p:txBody>
      </p:sp>
      <p:sp>
        <p:nvSpPr>
          <p:cNvPr id="6" name="Rounded Rectangle 5"/>
          <p:cNvSpPr/>
          <p:nvPr/>
        </p:nvSpPr>
        <p:spPr>
          <a:xfrm>
            <a:off x="932688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2. THUẬT TOÁN COOLDOWN CHỐNG BÃO TIN NHẮN (ALERT STORM)</a:t>
            </a:r>
          </a:p>
          <a:p>
            <a:pPr>
              <a:spcAft>
                <a:spcPts val="1200"/>
              </a:spcAft>
            </a:pPr>
            <a:r>
              <a:rPr sz="1750" b="1">
                <a:solidFill>
                  <a:srgbClr val="1E3C6E"/>
                </a:solidFill>
                <a:latin typeface="Montserrat"/>
              </a:rPr>
              <a:t>● Nguy cơ bão tin nhắn khi xảy ra sự cố: </a:t>
            </a:r>
            <a:r>
              <a:rPr sz="1750" b="0">
                <a:solidFill>
                  <a:srgbClr val="283241"/>
                </a:solidFill>
                <a:latin typeface="Montserrat"/>
              </a:rPr>
              <a:t>Khi rung chấn hoặc hỏa hoạn kéo dài 1-2 phút, nếu mỗi 100ms gửi 1 tin -&gt; Telegram chặn spam và người dùng hoảng loạn.</a:t>
            </a:r>
          </a:p>
          <a:p>
            <a:pPr>
              <a:spcAft>
                <a:spcPts val="1200"/>
              </a:spcAft>
            </a:pPr>
            <a:r>
              <a:rPr sz="1750" b="1">
                <a:solidFill>
                  <a:srgbClr val="1E3C6E"/>
                </a:solidFill>
                <a:latin typeface="Montserrat"/>
              </a:rPr>
              <a:t>● Cơ chế Cooldown 60 giây thông minh: </a:t>
            </a:r>
            <a:r>
              <a:rPr sz="1750" b="0">
                <a:solidFill>
                  <a:srgbClr val="283241"/>
                </a:solidFill>
                <a:latin typeface="Montserrat"/>
              </a:rPr>
              <a:t>Khi có báo động đỏ, VPS tạo 1 bản ghi PENDING gửi Telegram; các chu kỳ tiếp theo trong 60s chỉ cập nhật dữ liệu nền.</a:t>
            </a:r>
          </a:p>
          <a:p>
            <a:pPr>
              <a:spcAft>
                <a:spcPts val="1200"/>
              </a:spcAft>
            </a:pPr>
            <a:r>
              <a:rPr sz="1750" b="1">
                <a:solidFill>
                  <a:srgbClr val="1E3C6E"/>
                </a:solidFill>
                <a:latin typeface="Montserrat"/>
              </a:rPr>
              <a:t>● Cơ chế tự phục hồi (Recovery Notification): </a:t>
            </a:r>
            <a:r>
              <a:rPr sz="1750" b="0">
                <a:solidFill>
                  <a:srgbClr val="283241"/>
                </a:solidFill>
                <a:latin typeface="Montserrat"/>
              </a:rPr>
              <a:t>Khi chỉ số cảm biến hạ dưới ngưỡng nguy hiểm, hệ thống tự động gửi 1 tin báo 'Hệ thống an toàn trở lại'.</a:t>
            </a:r>
          </a:p>
          <a:p>
            <a:pPr>
              <a:spcAft>
                <a:spcPts val="1200"/>
              </a:spcAft>
            </a:pPr>
            <a:r>
              <a:rPr sz="1750" b="1">
                <a:solidFill>
                  <a:srgbClr val="1E3C6E"/>
                </a:solidFill>
                <a:latin typeface="Montserrat"/>
              </a:rPr>
              <a:t>● Phân loại đa cấp độ cảnh báo: </a:t>
            </a:r>
            <a:r>
              <a:rPr sz="1750" b="0">
                <a:solidFill>
                  <a:srgbClr val="283241"/>
                </a:solidFill>
                <a:latin typeface="Montserrat"/>
              </a:rPr>
              <a:t>Tự động phân cấp: Báo động Đỏ (10Hz), Cảnh báo sớm (1Hz), Báo lỗi cảm biến và Trạng thái an toàn.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6459200" cy="1188720"/>
          </a:xfrm>
          <a:prstGeom prst="rect">
            <a:avLst/>
          </a:prstGeom>
          <a:noFill/>
        </p:spPr>
        <p:txBody>
          <a:bodyPr wrap="square">
            <a:spAutoFit/>
          </a:bodyPr>
          <a:lstStyle/>
          <a:p>
            <a:pPr>
              <a:spcAft>
                <a:spcPts val="400"/>
              </a:spcAft>
              <a:defRPr sz="1600" b="1">
                <a:solidFill>
                  <a:srgbClr val="005691"/>
                </a:solidFill>
                <a:latin typeface="Montserrat"/>
              </a:defRPr>
            </a:pPr>
            <a:r>
              <a:t>MỞ RỘNG ĐỀ TÀI - TẦNG BẢO ĐẢM TRUYỀN THÔNG TIN CẬY</a:t>
            </a:r>
          </a:p>
          <a:p>
            <a:pPr>
              <a:defRPr sz="2800" b="1">
                <a:solidFill>
                  <a:srgbClr val="1E3C6E"/>
                </a:solidFill>
                <a:latin typeface="Montserrat"/>
              </a:defRPr>
            </a:pPr>
            <a:r>
              <a:t>MÔ HÌNH TRANSACTIONAL OUTBOX &amp; KHẢ NĂNG CHỊU LỖI WORKER</a:t>
            </a:r>
          </a:p>
        </p:txBody>
      </p:sp>
      <p:sp>
        <p:nvSpPr>
          <p:cNvPr id="3" name="Rectangle 2"/>
          <p:cNvSpPr/>
          <p:nvPr/>
        </p:nvSpPr>
        <p:spPr>
          <a:xfrm>
            <a:off x="914400" y="1783080"/>
            <a:ext cx="16459200" cy="36576"/>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1. THIẾT KẾ MÔ HÌNH TRANSACTIONAL OUTBOX PATTERN</a:t>
            </a:r>
          </a:p>
          <a:p>
            <a:pPr>
              <a:spcAft>
                <a:spcPts val="1200"/>
              </a:spcAft>
            </a:pPr>
            <a:r>
              <a:rPr sz="1750" b="1">
                <a:solidFill>
                  <a:srgbClr val="1E3C6E"/>
                </a:solidFill>
                <a:latin typeface="Montserrat"/>
              </a:rPr>
              <a:t>● Tách biệt hoàn toàn API và Gửi tin: </a:t>
            </a:r>
            <a:r>
              <a:rPr sz="1750" b="0">
                <a:solidFill>
                  <a:srgbClr val="283241"/>
                </a:solidFill>
                <a:latin typeface="Montserrat"/>
              </a:rPr>
              <a:t>Luồng nhận tin (FastAPI) không gọi trực tiếp Telegram API mà ủy quyền cho tiến trình ngầm canhbaothientai-worker.</a:t>
            </a:r>
          </a:p>
          <a:p>
            <a:pPr>
              <a:spcAft>
                <a:spcPts val="1200"/>
              </a:spcAft>
            </a:pPr>
            <a:r>
              <a:rPr sz="1750" b="1">
                <a:solidFill>
                  <a:srgbClr val="1E3C6E"/>
                </a:solidFill>
                <a:latin typeface="Montserrat"/>
              </a:rPr>
              <a:t>● Hàng đợi cơ sở dữ liệu bền vững (Outbox): </a:t>
            </a:r>
            <a:r>
              <a:rPr sz="1750" b="0">
                <a:solidFill>
                  <a:srgbClr val="283241"/>
                </a:solidFill>
                <a:latin typeface="Montserrat"/>
              </a:rPr>
              <a:t>Các cảnh báo được ghi vào bảng alert_outbox với trạng thái ban đầu PENDING.</a:t>
            </a:r>
          </a:p>
          <a:p>
            <a:pPr>
              <a:spcAft>
                <a:spcPts val="1200"/>
              </a:spcAft>
            </a:pPr>
            <a:r>
              <a:rPr sz="1750" b="1">
                <a:solidFill>
                  <a:srgbClr val="1E3C6E"/>
                </a:solidFill>
                <a:latin typeface="Montserrat"/>
              </a:rPr>
              <a:t>● Bảo đảm tính toàn vẹn (ACID Transaction): </a:t>
            </a:r>
            <a:r>
              <a:rPr sz="1750" b="0">
                <a:solidFill>
                  <a:srgbClr val="283241"/>
                </a:solidFill>
                <a:latin typeface="Montserrat"/>
              </a:rPr>
              <a:t>Không bao giờ bị mất tin báo ngay cả khi server mất điện đột ngột hoặc tiến trình bị khởi động lại.</a:t>
            </a:r>
          </a:p>
          <a:p>
            <a:pPr>
              <a:spcAft>
                <a:spcPts val="1200"/>
              </a:spcAft>
            </a:pPr>
            <a:r>
              <a:rPr sz="1750" b="1">
                <a:solidFill>
                  <a:srgbClr val="1E3C6E"/>
                </a:solidFill>
                <a:latin typeface="Montserrat"/>
              </a:rPr>
              <a:t>● Tiến trình Worker xử lý liên tục: </a:t>
            </a:r>
            <a:r>
              <a:rPr sz="1750" b="0">
                <a:solidFill>
                  <a:srgbClr val="283241"/>
                </a:solidFill>
                <a:latin typeface="Montserrat"/>
              </a:rPr>
              <a:t>Worker quét bảng hàng đợi mỗi 500ms, lấy các bản ghi PENDING để định dạng tin nhắn HTML và gọi Telegram.</a:t>
            </a:r>
          </a:p>
        </p:txBody>
      </p:sp>
      <p:sp>
        <p:nvSpPr>
          <p:cNvPr id="6" name="Rounded Rectangle 5"/>
          <p:cNvSpPr/>
          <p:nvPr/>
        </p:nvSpPr>
        <p:spPr>
          <a:xfrm>
            <a:off x="932688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2. CƠ CHẾ CHỊU LỖI &amp; THỬ LẠI TỰ ĐỘNG (EXPONENTIAL BACKOFF)</a:t>
            </a:r>
          </a:p>
          <a:p>
            <a:pPr>
              <a:spcAft>
                <a:spcPts val="1200"/>
              </a:spcAft>
            </a:pPr>
            <a:r>
              <a:rPr sz="1750" b="1">
                <a:solidFill>
                  <a:srgbClr val="1E3C6E"/>
                </a:solidFill>
                <a:latin typeface="Montserrat"/>
              </a:rPr>
              <a:t>● Ứng phó sự cố đứt cáp hoặc Telegram nghẽn: </a:t>
            </a:r>
            <a:r>
              <a:rPr sz="1750" b="0">
                <a:solidFill>
                  <a:srgbClr val="283241"/>
                </a:solidFill>
                <a:latin typeface="Montserrat"/>
              </a:rPr>
              <a:t>Nếu kết nối đến api.telegram.org gặp sự cố (Timeout, HTTP 429, 502/503), tin nhắn không bị hủy.</a:t>
            </a:r>
          </a:p>
          <a:p>
            <a:pPr>
              <a:spcAft>
                <a:spcPts val="1200"/>
              </a:spcAft>
            </a:pPr>
            <a:r>
              <a:rPr sz="1750" b="1">
                <a:solidFill>
                  <a:srgbClr val="1E3C6E"/>
                </a:solidFill>
                <a:latin typeface="Montserrat"/>
              </a:rPr>
              <a:t>● Thuật toán thử lại theo hàm mũ: </a:t>
            </a:r>
            <a:r>
              <a:rPr sz="1750" b="0">
                <a:solidFill>
                  <a:srgbClr val="283241"/>
                </a:solidFill>
                <a:latin typeface="Montserrat"/>
              </a:rPr>
              <a:t>Tăng dần retry_count và giãn cách thời gian thử lại (2s, 4s, 8s, 16s...) bảo đảm hệ thống không bị quá tải.</a:t>
            </a:r>
          </a:p>
          <a:p>
            <a:pPr>
              <a:spcAft>
                <a:spcPts val="1200"/>
              </a:spcAft>
            </a:pPr>
            <a:r>
              <a:rPr sz="1750" b="1">
                <a:solidFill>
                  <a:srgbClr val="1E3C6E"/>
                </a:solidFill>
                <a:latin typeface="Montserrat"/>
              </a:rPr>
              <a:t>● Cam kết chuyển phát (At-Least-Once Delivery): </a:t>
            </a:r>
            <a:r>
              <a:rPr sz="1750" b="0">
                <a:solidFill>
                  <a:srgbClr val="283241"/>
                </a:solidFill>
                <a:latin typeface="Montserrat"/>
              </a:rPr>
              <a:t>Cảnh báo chỉ được đánh dấu SENT khi máy chủ Telegram chính thức trả về mã HTTP 200 OK.</a:t>
            </a:r>
          </a:p>
          <a:p>
            <a:pPr>
              <a:spcAft>
                <a:spcPts val="1200"/>
              </a:spcAft>
            </a:pPr>
            <a:r>
              <a:rPr sz="1750" b="1">
                <a:solidFill>
                  <a:srgbClr val="1E3C6E"/>
                </a:solidFill>
                <a:latin typeface="Montserrat"/>
              </a:rPr>
              <a:t>● Lưu vết kiểm toán (Audit Trail): </a:t>
            </a:r>
            <a:r>
              <a:rPr sz="1750" b="0">
                <a:solidFill>
                  <a:srgbClr val="283241"/>
                </a:solidFill>
                <a:latin typeface="Montserrat"/>
              </a:rPr>
              <a:t>Ghi nhận chính xác mốc thời gian sent_at và retry_count phục vụ hậu kiểm và chẩn đoán đường truyền.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6459200" cy="1188720"/>
          </a:xfrm>
          <a:prstGeom prst="rect">
            <a:avLst/>
          </a:prstGeom>
          <a:noFill/>
        </p:spPr>
        <p:txBody>
          <a:bodyPr wrap="square">
            <a:spAutoFit/>
          </a:bodyPr>
          <a:lstStyle/>
          <a:p>
            <a:pPr>
              <a:spcAft>
                <a:spcPts val="400"/>
              </a:spcAft>
              <a:defRPr sz="1600" b="1">
                <a:solidFill>
                  <a:srgbClr val="005691"/>
                </a:solidFill>
                <a:latin typeface="Montserrat"/>
              </a:defRPr>
            </a:pPr>
            <a:r>
              <a:t>MỞ RỘNG ĐỀ TÀI - GIAO DIỆN NGƯỜI DÙNG &amp; ĐÁNH GIÁ THỰC NGHIỆM</a:t>
            </a:r>
          </a:p>
          <a:p>
            <a:pPr>
              <a:defRPr sz="2800" b="1">
                <a:solidFill>
                  <a:srgbClr val="1E3C6E"/>
                </a:solidFill>
                <a:latin typeface="Montserrat"/>
              </a:defRPr>
            </a:pPr>
            <a:r>
              <a:t>TRỰC QUAN HÓA THÔNG BÁO TELEGRAM &amp; ĐÁNH GIÁ HIỆU NĂNG</a:t>
            </a:r>
          </a:p>
        </p:txBody>
      </p:sp>
      <p:sp>
        <p:nvSpPr>
          <p:cNvPr id="3" name="Rectangle 2"/>
          <p:cNvSpPr/>
          <p:nvPr/>
        </p:nvSpPr>
        <p:spPr>
          <a:xfrm>
            <a:off x="914400" y="1783080"/>
            <a:ext cx="16459200" cy="36576"/>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1. ĐỊNH DẠNG BẢN TIN TRỰC QUAN &amp; THẨM MỸ CAO</a:t>
            </a:r>
          </a:p>
          <a:p>
            <a:pPr>
              <a:spcAft>
                <a:spcPts val="1200"/>
              </a:spcAft>
            </a:pPr>
            <a:r>
              <a:rPr sz="1750" b="1">
                <a:solidFill>
                  <a:srgbClr val="1E3C6E"/>
                </a:solidFill>
                <a:latin typeface="Montserrat"/>
              </a:rPr>
              <a:t>● Phân biệt khẩn cấp bằng Icon trực quan: </a:t>
            </a:r>
            <a:r>
              <a:rPr sz="1750" b="0">
                <a:solidFill>
                  <a:srgbClr val="283241"/>
                </a:solidFill>
                <a:latin typeface="Montserrat"/>
              </a:rPr>
              <a:t>🚨🚨 Động Đất Nguy Hiểm (&gt;0.5g) | 🔥🚨 Báo Cháy Khẩn Cấp (Lửa ADC &lt; 2800) | ⚠️ Cảnh Báo Sớm | 🛠 Lỗi Cảm Biến.</a:t>
            </a:r>
          </a:p>
          <a:p>
            <a:pPr>
              <a:spcAft>
                <a:spcPts val="1200"/>
              </a:spcAft>
            </a:pPr>
            <a:r>
              <a:rPr sz="1750" b="1">
                <a:solidFill>
                  <a:srgbClr val="1E3C6E"/>
                </a:solidFill>
                <a:latin typeface="Montserrat"/>
              </a:rPr>
              <a:t>● Dữ liệu đo đạc chi tiết từng thông số: </a:t>
            </a:r>
            <a:r>
              <a:rPr sz="1750" b="0">
                <a:solidFill>
                  <a:srgbClr val="283241"/>
                </a:solidFill>
                <a:latin typeface="Montserrat"/>
              </a:rPr>
              <a:t>Thể hiện rõ tên trạm đo kitchen-01, gia tốc rung (g), chỉ số quang trở lửa, nhiệt độ môi trường (°C).</a:t>
            </a:r>
          </a:p>
          <a:p>
            <a:pPr>
              <a:spcAft>
                <a:spcPts val="1200"/>
              </a:spcAft>
            </a:pPr>
            <a:r>
              <a:rPr sz="1750" b="1">
                <a:solidFill>
                  <a:srgbClr val="1E3C6E"/>
                </a:solidFill>
                <a:latin typeface="Montserrat"/>
              </a:rPr>
              <a:t>● Tem thời gian chuẩn xác đến từng giây: </a:t>
            </a:r>
            <a:r>
              <a:rPr sz="1750" b="0">
                <a:solidFill>
                  <a:srgbClr val="283241"/>
                </a:solidFill>
                <a:latin typeface="Montserrat"/>
              </a:rPr>
              <a:t>Cung cấp mốc thời gian thực phát hiện sự cố để lực lượng cứu hộ dễ dàng đối chiếu camera an ninh.</a:t>
            </a:r>
          </a:p>
          <a:p>
            <a:pPr>
              <a:spcAft>
                <a:spcPts val="1200"/>
              </a:spcAft>
            </a:pPr>
            <a:r>
              <a:rPr sz="1750" b="1">
                <a:solidFill>
                  <a:srgbClr val="1E3C6E"/>
                </a:solidFill>
                <a:latin typeface="Montserrat"/>
              </a:rPr>
              <a:t>● Khuyến cáo sơ tán khẩn cấp: </a:t>
            </a:r>
            <a:r>
              <a:rPr sz="1750" b="0">
                <a:solidFill>
                  <a:srgbClr val="283241"/>
                </a:solidFill>
                <a:latin typeface="Montserrat"/>
              </a:rPr>
              <a:t>Đính kèm chỉ dẫn an toàn ngay cuối tin nhắn ('Tìm nơi trú ẩn ngay!' hoặc 'Kiểm tra hiện trường chữa cháy!').</a:t>
            </a:r>
          </a:p>
        </p:txBody>
      </p:sp>
      <p:sp>
        <p:nvSpPr>
          <p:cNvPr id="6" name="Rounded Rectangle 5"/>
          <p:cNvSpPr/>
          <p:nvPr/>
        </p:nvSpPr>
        <p:spPr>
          <a:xfrm>
            <a:off x="9326880" y="2011680"/>
            <a:ext cx="8046720" cy="768096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240280"/>
            <a:ext cx="7498079" cy="7223760"/>
          </a:xfrm>
          <a:prstGeom prst="rect">
            <a:avLst/>
          </a:prstGeom>
          <a:noFill/>
        </p:spPr>
        <p:txBody>
          <a:bodyPr wrap="square">
            <a:spAutoFit/>
          </a:bodyPr>
          <a:lstStyle/>
          <a:p>
            <a:pPr>
              <a:spcAft>
                <a:spcPts val="1400"/>
              </a:spcAft>
              <a:defRPr sz="2100" b="1">
                <a:solidFill>
                  <a:srgbClr val="1E3C6E"/>
                </a:solidFill>
                <a:latin typeface="Montserrat"/>
              </a:defRPr>
            </a:pPr>
            <a:r>
              <a:t>2. ĐÁNH GIÁ HIỆU NĂNG THỰC NGHIỆM ĐO ĐẠC</a:t>
            </a:r>
          </a:p>
          <a:p>
            <a:pPr>
              <a:spcAft>
                <a:spcPts val="1200"/>
              </a:spcAft>
            </a:pPr>
            <a:r>
              <a:rPr sz="1750" b="1">
                <a:solidFill>
                  <a:srgbClr val="1E3C6E"/>
                </a:solidFill>
                <a:latin typeface="Montserrat"/>
              </a:rPr>
              <a:t>● Độ trễ kích hoạt còi tại chỗ: </a:t>
            </a:r>
            <a:r>
              <a:rPr sz="1750" b="0">
                <a:solidFill>
                  <a:srgbClr val="283241"/>
                </a:solidFill>
                <a:latin typeface="Montserrat"/>
              </a:rPr>
              <a:t>≈ 0ms (Còi và đèn hú tức thì ngay khi cảm biến chạm ngưỡng nguy hiểm, không bị trễ mạng).</a:t>
            </a:r>
          </a:p>
          <a:p>
            <a:pPr>
              <a:spcAft>
                <a:spcPts val="1200"/>
              </a:spcAft>
            </a:pPr>
            <a:r>
              <a:rPr sz="1750" b="1">
                <a:solidFill>
                  <a:srgbClr val="1E3C6E"/>
                </a:solidFill>
                <a:latin typeface="Montserrat"/>
              </a:rPr>
              <a:t>● Thời gian nhận tin trên điện thoại: </a:t>
            </a:r>
            <a:r>
              <a:rPr sz="1750" b="0">
                <a:solidFill>
                  <a:srgbClr val="283241"/>
                </a:solidFill>
                <a:latin typeface="Montserrat"/>
              </a:rPr>
              <a:t>≈ 0.8s - 1.2s (Đã tính thời gian đóng gói JSON, gửi lên VPS, xếp hàng và đẩy qua Telegram).</a:t>
            </a:r>
          </a:p>
          <a:p>
            <a:pPr>
              <a:spcAft>
                <a:spcPts val="1200"/>
              </a:spcAft>
            </a:pPr>
            <a:r>
              <a:rPr sz="1750" b="1">
                <a:solidFill>
                  <a:srgbClr val="1E3C6E"/>
                </a:solidFill>
                <a:latin typeface="Montserrat"/>
              </a:rPr>
              <a:t>● Tỷ lệ chuyển phát thành công: </a:t>
            </a:r>
            <a:r>
              <a:rPr sz="1750" b="0">
                <a:solidFill>
                  <a:srgbClr val="283241"/>
                </a:solidFill>
                <a:latin typeface="Montserrat"/>
              </a:rPr>
              <a:t>Đạt 100% trong 50 lượt thử nghiệm thực tế (bao gồm cả thử nghiệm ngắt kết nối mạng tạm thời).</a:t>
            </a:r>
          </a:p>
          <a:p>
            <a:pPr>
              <a:spcAft>
                <a:spcPts val="1200"/>
              </a:spcAft>
            </a:pPr>
            <a:r>
              <a:rPr sz="1750" b="1">
                <a:solidFill>
                  <a:srgbClr val="1E3C6E"/>
                </a:solidFill>
                <a:latin typeface="Montserrat"/>
              </a:rPr>
              <a:t>● Khả năng nhân rộng quy mô (Scalability): </a:t>
            </a:r>
            <a:r>
              <a:rPr sz="1750" b="0">
                <a:solidFill>
                  <a:srgbClr val="283241"/>
                </a:solidFill>
                <a:latin typeface="Montserrat"/>
              </a:rPr>
              <a:t>Một máy chủ VPS có thể quản lý hàng trăm nút cảm biến ESP32 tại nhiều khu vực khác nhau.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76*620"/>
  <p:tag name="TABLE_ENDDRAG_RECT" val="217*134*976*6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2135</TotalTime>
  <Words>2678</Words>
  <Application>Microsoft Office PowerPoint</Application>
  <PresentationFormat>Custom</PresentationFormat>
  <Paragraphs>198</Paragraphs>
  <Slides>42</Slides>
  <Notes>6</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Montserrat Bold</vt:lpstr>
      <vt:lpstr>Google Sans Text</vt:lpstr>
      <vt:lpstr>Montserrat</vt:lpstr>
      <vt:lpstr>Calibri Light</vt:lpstr>
      <vt:lpstr>Aptos</vt:lpstr>
      <vt:lpstr>Wingdings</vt:lpstr>
      <vt:lpstr>Times New Roman</vt:lpstr>
      <vt:lpstr>Symbol</vt:lpstr>
      <vt:lpstr>Calibri</vt:lpstr>
      <vt:lpstr>Arial</vt:lpstr>
      <vt:lpstr>Office Theme</vt:lpstr>
      <vt:lpstr>PowerPoint Presentation</vt:lpstr>
      <vt:lpstr>PowerPoint Presentation</vt:lpstr>
      <vt:lpstr>PowerPoint Presentation</vt:lpstr>
      <vt:lpstr>PowerPoint Presentation</vt:lpstr>
      <vt:lpstr>TỔNG QUAN VỀ CẢM BIẾN VÀ CƠ CẤU CHẤP HÀNH</vt:lpstr>
      <vt:lpstr>PowerPoint Presentation</vt:lpstr>
      <vt:lpstr>PowerPoint Presentation</vt:lpstr>
      <vt:lpstr>PowerPoint Presentation</vt:lpstr>
      <vt:lpstr>Tính cấp thiết cao: Ứng phó với mối đe dọa bất ngờ từ động đất và hỏa hoạn.  Thời gian vàng cứu nạn: Cảnh báo sớm giúp con người kịp thời sơ tán và an toàn.  Giám sát tự động: Hệ thống hoạt động liên tục, không phụ thuộc vào con người.  Cảnh báo đa kênh: Báo động trực tiếp tại chỗ và gửi tin nhắn từ xa qua điện thoại.  Tính khả thi cao: Chi phí lắp đặt rẻ, sử dụng linh kiện phổ biến và dễ nhân rộng. </vt:lpstr>
      <vt:lpstr> Hệ thống ứng dụng vi điều khiển ESP32 và các cảm biến chuyên dụng để liên tục giám sát môi trường sống theo thời gian thực: • Cảm biến gia tốc rung động ADXL345: Phát hiện sóng rung chấn ban đầu của động đất. • Cảm biến ngọn lửa Flame Sensor: Bắt tia bức xạ hồng ngoại từ đám cháy. • Cảm biến nhiệt độ DHT11: Giám sát nhiệt độ môi trường. Cơ chế cảnh báo 2 lớp: 1. Báo động tức thì tại chỗ: Kích hoạt còi hú và đèn nháy, tự chủ 100% không cần mạng. 2. Cảnh báo cứu hộ từ xa: Gửi bản tin khẩn cấp đến Telegram Bot trên điện thoại.  </vt:lpstr>
      <vt:lpstr>NGUYÊN LÝ HOẠT ĐỘNG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Câu 1:  Đâu là ESP32 DEVKIT V1?</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Trạm thu phí tự động</dc:title>
  <dc:creator>TUONG VI</dc:creator>
  <cp:lastModifiedBy>Doanh Võ Trần Công</cp:lastModifiedBy>
  <cp:revision>135</cp:revision>
  <dcterms:created xsi:type="dcterms:W3CDTF">2006-08-16T00:00:00Z</dcterms:created>
  <dcterms:modified xsi:type="dcterms:W3CDTF">2026-10-22T00:54:43Z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2014B4EC056B42D58504DDF85B41D61C_13</vt:lpwstr>
  </property>
  <property fmtid="{D5CDD505-2E9C-101B-9397-08002B2CF9AE}" pid="3" name="KSOProductBuildVer">
    <vt:lpwstr>1033-12.2.0.18911</vt:lpwstr>
  </property>
</Properties>
</file>